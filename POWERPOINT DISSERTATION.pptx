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8"/>
  </p:notesMasterIdLst>
  <p:sldIdLst>
    <p:sldId id="285" r:id="rId2"/>
    <p:sldId id="273" r:id="rId3"/>
    <p:sldId id="257" r:id="rId4"/>
    <p:sldId id="258" r:id="rId5"/>
    <p:sldId id="458" r:id="rId6"/>
    <p:sldId id="457" r:id="rId7"/>
    <p:sldId id="459" r:id="rId8"/>
    <p:sldId id="317" r:id="rId9"/>
    <p:sldId id="404" r:id="rId10"/>
    <p:sldId id="406" r:id="rId11"/>
    <p:sldId id="407" r:id="rId12"/>
    <p:sldId id="408" r:id="rId13"/>
    <p:sldId id="409" r:id="rId14"/>
    <p:sldId id="410" r:id="rId15"/>
    <p:sldId id="411" r:id="rId16"/>
    <p:sldId id="412" r:id="rId17"/>
    <p:sldId id="413" r:id="rId18"/>
    <p:sldId id="419" r:id="rId19"/>
    <p:sldId id="416" r:id="rId20"/>
    <p:sldId id="418" r:id="rId21"/>
    <p:sldId id="334" r:id="rId22"/>
    <p:sldId id="415" r:id="rId23"/>
    <p:sldId id="420" r:id="rId24"/>
    <p:sldId id="421" r:id="rId25"/>
    <p:sldId id="422" r:id="rId26"/>
    <p:sldId id="425" r:id="rId27"/>
    <p:sldId id="424" r:id="rId28"/>
    <p:sldId id="426" r:id="rId29"/>
    <p:sldId id="427" r:id="rId30"/>
    <p:sldId id="428" r:id="rId31"/>
    <p:sldId id="431" r:id="rId32"/>
    <p:sldId id="429" r:id="rId33"/>
    <p:sldId id="432" r:id="rId34"/>
    <p:sldId id="435" r:id="rId35"/>
    <p:sldId id="434" r:id="rId36"/>
    <p:sldId id="436" r:id="rId37"/>
    <p:sldId id="437" r:id="rId38"/>
    <p:sldId id="438" r:id="rId39"/>
    <p:sldId id="439" r:id="rId40"/>
    <p:sldId id="440" r:id="rId41"/>
    <p:sldId id="441" r:id="rId42"/>
    <p:sldId id="443" r:id="rId43"/>
    <p:sldId id="444" r:id="rId44"/>
    <p:sldId id="445" r:id="rId45"/>
    <p:sldId id="446" r:id="rId46"/>
    <p:sldId id="447" r:id="rId47"/>
    <p:sldId id="450" r:id="rId48"/>
    <p:sldId id="451" r:id="rId49"/>
    <p:sldId id="452" r:id="rId50"/>
    <p:sldId id="269" r:id="rId51"/>
    <p:sldId id="292" r:id="rId52"/>
    <p:sldId id="453" r:id="rId53"/>
    <p:sldId id="456" r:id="rId54"/>
    <p:sldId id="294" r:id="rId55"/>
    <p:sldId id="268" r:id="rId56"/>
    <p:sldId id="399" r:id="rId57"/>
    <p:sldId id="454" r:id="rId58"/>
    <p:sldId id="455" r:id="rId59"/>
    <p:sldId id="386" r:id="rId60"/>
    <p:sldId id="387" r:id="rId61"/>
    <p:sldId id="388" r:id="rId62"/>
    <p:sldId id="394" r:id="rId63"/>
    <p:sldId id="395" r:id="rId64"/>
    <p:sldId id="396" r:id="rId65"/>
    <p:sldId id="397" r:id="rId66"/>
    <p:sldId id="398" r:id="rId67"/>
    <p:sldId id="400" r:id="rId68"/>
    <p:sldId id="401" r:id="rId69"/>
    <p:sldId id="402" r:id="rId70"/>
    <p:sldId id="403" r:id="rId71"/>
    <p:sldId id="300" r:id="rId72"/>
    <p:sldId id="465" r:id="rId73"/>
    <p:sldId id="307" r:id="rId74"/>
    <p:sldId id="308" r:id="rId75"/>
    <p:sldId id="309" r:id="rId76"/>
    <p:sldId id="310" r:id="rId77"/>
    <p:sldId id="311" r:id="rId78"/>
    <p:sldId id="312" r:id="rId79"/>
    <p:sldId id="313" r:id="rId80"/>
    <p:sldId id="335" r:id="rId81"/>
    <p:sldId id="314" r:id="rId82"/>
    <p:sldId id="354" r:id="rId83"/>
    <p:sldId id="355" r:id="rId84"/>
    <p:sldId id="316" r:id="rId85"/>
    <p:sldId id="336" r:id="rId86"/>
    <p:sldId id="338" r:id="rId87"/>
    <p:sldId id="337" r:id="rId88"/>
    <p:sldId id="461" r:id="rId89"/>
    <p:sldId id="462" r:id="rId90"/>
    <p:sldId id="463" r:id="rId91"/>
    <p:sldId id="339" r:id="rId92"/>
    <p:sldId id="340" r:id="rId93"/>
    <p:sldId id="341" r:id="rId94"/>
    <p:sldId id="342" r:id="rId95"/>
    <p:sldId id="356" r:id="rId96"/>
    <p:sldId id="343" r:id="rId97"/>
    <p:sldId id="344" r:id="rId98"/>
    <p:sldId id="357" r:id="rId99"/>
    <p:sldId id="358" r:id="rId100"/>
    <p:sldId id="359" r:id="rId101"/>
    <p:sldId id="360" r:id="rId102"/>
    <p:sldId id="362" r:id="rId103"/>
    <p:sldId id="361" r:id="rId104"/>
    <p:sldId id="366" r:id="rId105"/>
    <p:sldId id="367" r:id="rId106"/>
    <p:sldId id="368" r:id="rId107"/>
    <p:sldId id="345" r:id="rId108"/>
    <p:sldId id="346" r:id="rId109"/>
    <p:sldId id="369" r:id="rId110"/>
    <p:sldId id="370" r:id="rId111"/>
    <p:sldId id="371" r:id="rId112"/>
    <p:sldId id="382" r:id="rId113"/>
    <p:sldId id="350" r:id="rId114"/>
    <p:sldId id="383" r:id="rId115"/>
    <p:sldId id="372" r:id="rId116"/>
    <p:sldId id="374" r:id="rId117"/>
    <p:sldId id="375" r:id="rId118"/>
    <p:sldId id="380" r:id="rId119"/>
    <p:sldId id="376" r:id="rId120"/>
    <p:sldId id="381" r:id="rId121"/>
    <p:sldId id="377" r:id="rId122"/>
    <p:sldId id="378" r:id="rId123"/>
    <p:sldId id="384" r:id="rId124"/>
    <p:sldId id="464" r:id="rId125"/>
    <p:sldId id="286" r:id="rId126"/>
    <p:sldId id="277" r:id="rId12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A379B2-57C7-4B8A-BF0B-1922F3ED340C}" v="19" dt="2025-02-15T11:56:56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microsoft.com/office/2015/10/relationships/revisionInfo" Target="revisionInfo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Bonatti" userId="eb7d5939a7cf9b59" providerId="LiveId" clId="{77A379B2-57C7-4B8A-BF0B-1922F3ED340C}"/>
    <pc:docChg chg="undo custSel addSld delSld modSld sldOrd">
      <pc:chgData name="Lorenzo Bonatti" userId="eb7d5939a7cf9b59" providerId="LiveId" clId="{77A379B2-57C7-4B8A-BF0B-1922F3ED340C}" dt="2025-02-15T12:01:44.077" v="304" actId="1076"/>
      <pc:docMkLst>
        <pc:docMk/>
      </pc:docMkLst>
      <pc:sldChg chg="del">
        <pc:chgData name="Lorenzo Bonatti" userId="eb7d5939a7cf9b59" providerId="LiveId" clId="{77A379B2-57C7-4B8A-BF0B-1922F3ED340C}" dt="2025-02-13T22:52:32.065" v="4" actId="2696"/>
        <pc:sldMkLst>
          <pc:docMk/>
          <pc:sldMk cId="4001957920" sldId="260"/>
        </pc:sldMkLst>
      </pc:sldChg>
      <pc:sldChg chg="del">
        <pc:chgData name="Lorenzo Bonatti" userId="eb7d5939a7cf9b59" providerId="LiveId" clId="{77A379B2-57C7-4B8A-BF0B-1922F3ED340C}" dt="2025-02-13T23:08:14.505" v="130" actId="2696"/>
        <pc:sldMkLst>
          <pc:docMk/>
          <pc:sldMk cId="797832743" sldId="262"/>
        </pc:sldMkLst>
      </pc:sldChg>
      <pc:sldChg chg="del">
        <pc:chgData name="Lorenzo Bonatti" userId="eb7d5939a7cf9b59" providerId="LiveId" clId="{77A379B2-57C7-4B8A-BF0B-1922F3ED340C}" dt="2025-02-13T23:08:16.736" v="131" actId="2696"/>
        <pc:sldMkLst>
          <pc:docMk/>
          <pc:sldMk cId="1131974306" sldId="267"/>
        </pc:sldMkLst>
      </pc:sldChg>
      <pc:sldChg chg="del">
        <pc:chgData name="Lorenzo Bonatti" userId="eb7d5939a7cf9b59" providerId="LiveId" clId="{77A379B2-57C7-4B8A-BF0B-1922F3ED340C}" dt="2025-02-13T23:07:50.407" v="124" actId="2696"/>
        <pc:sldMkLst>
          <pc:docMk/>
          <pc:sldMk cId="1902130100" sldId="271"/>
        </pc:sldMkLst>
      </pc:sldChg>
      <pc:sldChg chg="addSp delSp modSp mod">
        <pc:chgData name="Lorenzo Bonatti" userId="eb7d5939a7cf9b59" providerId="LiveId" clId="{77A379B2-57C7-4B8A-BF0B-1922F3ED340C}" dt="2025-02-13T22:58:23.240" v="47" actId="1076"/>
        <pc:sldMkLst>
          <pc:docMk/>
          <pc:sldMk cId="1060059035" sldId="273"/>
        </pc:sldMkLst>
        <pc:spChg chg="del">
          <ac:chgData name="Lorenzo Bonatti" userId="eb7d5939a7cf9b59" providerId="LiveId" clId="{77A379B2-57C7-4B8A-BF0B-1922F3ED340C}" dt="2025-02-13T22:54:17.955" v="22" actId="21"/>
          <ac:spMkLst>
            <pc:docMk/>
            <pc:sldMk cId="1060059035" sldId="273"/>
            <ac:spMk id="3" creationId="{9933BCEF-5BCA-8C47-5307-DEFC7E68C1A6}"/>
          </ac:spMkLst>
        </pc:spChg>
        <pc:spChg chg="mod">
          <ac:chgData name="Lorenzo Bonatti" userId="eb7d5939a7cf9b59" providerId="LiveId" clId="{77A379B2-57C7-4B8A-BF0B-1922F3ED340C}" dt="2025-02-13T22:55:43.032" v="32" actId="20577"/>
          <ac:spMkLst>
            <pc:docMk/>
            <pc:sldMk cId="1060059035" sldId="273"/>
            <ac:spMk id="8" creationId="{1C206893-560E-DE48-897D-7D929C79875E}"/>
          </ac:spMkLst>
        </pc:spChg>
        <pc:spChg chg="del">
          <ac:chgData name="Lorenzo Bonatti" userId="eb7d5939a7cf9b59" providerId="LiveId" clId="{77A379B2-57C7-4B8A-BF0B-1922F3ED340C}" dt="2025-02-13T22:54:22.181" v="23" actId="21"/>
          <ac:spMkLst>
            <pc:docMk/>
            <pc:sldMk cId="1060059035" sldId="273"/>
            <ac:spMk id="17" creationId="{531D002A-7587-E847-D097-55F17C8532BC}"/>
          </ac:spMkLst>
        </pc:spChg>
        <pc:spChg chg="add mod">
          <ac:chgData name="Lorenzo Bonatti" userId="eb7d5939a7cf9b59" providerId="LiveId" clId="{77A379B2-57C7-4B8A-BF0B-1922F3ED340C}" dt="2025-02-13T22:58:05.613" v="45" actId="1076"/>
          <ac:spMkLst>
            <pc:docMk/>
            <pc:sldMk cId="1060059035" sldId="273"/>
            <ac:spMk id="21" creationId="{69ADEB9A-7B77-4E73-D313-CE77241A4D3B}"/>
          </ac:spMkLst>
        </pc:spChg>
        <pc:spChg chg="add mod">
          <ac:chgData name="Lorenzo Bonatti" userId="eb7d5939a7cf9b59" providerId="LiveId" clId="{77A379B2-57C7-4B8A-BF0B-1922F3ED340C}" dt="2025-02-13T22:58:23.240" v="47" actId="1076"/>
          <ac:spMkLst>
            <pc:docMk/>
            <pc:sldMk cId="1060059035" sldId="273"/>
            <ac:spMk id="22" creationId="{51F4F44D-929E-74F9-B3B1-D5A39EF20139}"/>
          </ac:spMkLst>
        </pc:spChg>
      </pc:sldChg>
      <pc:sldChg chg="del">
        <pc:chgData name="Lorenzo Bonatti" userId="eb7d5939a7cf9b59" providerId="LiveId" clId="{77A379B2-57C7-4B8A-BF0B-1922F3ED340C}" dt="2025-02-13T23:07:52.876" v="125" actId="2696"/>
        <pc:sldMkLst>
          <pc:docMk/>
          <pc:sldMk cId="3039288724" sldId="274"/>
        </pc:sldMkLst>
      </pc:sldChg>
      <pc:sldChg chg="del">
        <pc:chgData name="Lorenzo Bonatti" userId="eb7d5939a7cf9b59" providerId="LiveId" clId="{77A379B2-57C7-4B8A-BF0B-1922F3ED340C}" dt="2025-02-13T23:08:22.329" v="133" actId="2696"/>
        <pc:sldMkLst>
          <pc:docMk/>
          <pc:sldMk cId="97825627" sldId="275"/>
        </pc:sldMkLst>
      </pc:sldChg>
      <pc:sldChg chg="del">
        <pc:chgData name="Lorenzo Bonatti" userId="eb7d5939a7cf9b59" providerId="LiveId" clId="{77A379B2-57C7-4B8A-BF0B-1922F3ED340C}" dt="2025-02-13T23:07:58.496" v="126" actId="2696"/>
        <pc:sldMkLst>
          <pc:docMk/>
          <pc:sldMk cId="1981316898" sldId="276"/>
        </pc:sldMkLst>
      </pc:sldChg>
      <pc:sldChg chg="ord">
        <pc:chgData name="Lorenzo Bonatti" userId="eb7d5939a7cf9b59" providerId="LiveId" clId="{77A379B2-57C7-4B8A-BF0B-1922F3ED340C}" dt="2025-02-13T23:08:59.938" v="140"/>
        <pc:sldMkLst>
          <pc:docMk/>
          <pc:sldMk cId="44699909" sldId="277"/>
        </pc:sldMkLst>
      </pc:sldChg>
      <pc:sldChg chg="del">
        <pc:chgData name="Lorenzo Bonatti" userId="eb7d5939a7cf9b59" providerId="LiveId" clId="{77A379B2-57C7-4B8A-BF0B-1922F3ED340C}" dt="2025-02-13T23:08:08.258" v="128" actId="2696"/>
        <pc:sldMkLst>
          <pc:docMk/>
          <pc:sldMk cId="4154930645" sldId="279"/>
        </pc:sldMkLst>
      </pc:sldChg>
      <pc:sldChg chg="del">
        <pc:chgData name="Lorenzo Bonatti" userId="eb7d5939a7cf9b59" providerId="LiveId" clId="{77A379B2-57C7-4B8A-BF0B-1922F3ED340C}" dt="2025-02-13T23:08:12.047" v="129" actId="2696"/>
        <pc:sldMkLst>
          <pc:docMk/>
          <pc:sldMk cId="2850026488" sldId="280"/>
        </pc:sldMkLst>
      </pc:sldChg>
      <pc:sldChg chg="del">
        <pc:chgData name="Lorenzo Bonatti" userId="eb7d5939a7cf9b59" providerId="LiveId" clId="{77A379B2-57C7-4B8A-BF0B-1922F3ED340C}" dt="2025-02-13T23:08:19.522" v="132" actId="2696"/>
        <pc:sldMkLst>
          <pc:docMk/>
          <pc:sldMk cId="3302060498" sldId="281"/>
        </pc:sldMkLst>
      </pc:sldChg>
      <pc:sldChg chg="del">
        <pc:chgData name="Lorenzo Bonatti" userId="eb7d5939a7cf9b59" providerId="LiveId" clId="{77A379B2-57C7-4B8A-BF0B-1922F3ED340C}" dt="2025-02-13T23:08:26.180" v="134" actId="2696"/>
        <pc:sldMkLst>
          <pc:docMk/>
          <pc:sldMk cId="2276044977" sldId="282"/>
        </pc:sldMkLst>
      </pc:sldChg>
      <pc:sldChg chg="del">
        <pc:chgData name="Lorenzo Bonatti" userId="eb7d5939a7cf9b59" providerId="LiveId" clId="{77A379B2-57C7-4B8A-BF0B-1922F3ED340C}" dt="2025-02-13T23:08:38.528" v="136" actId="2696"/>
        <pc:sldMkLst>
          <pc:docMk/>
          <pc:sldMk cId="2516929365" sldId="283"/>
        </pc:sldMkLst>
      </pc:sldChg>
      <pc:sldChg chg="del">
        <pc:chgData name="Lorenzo Bonatti" userId="eb7d5939a7cf9b59" providerId="LiveId" clId="{77A379B2-57C7-4B8A-BF0B-1922F3ED340C}" dt="2025-02-13T23:08:29.785" v="135" actId="2696"/>
        <pc:sldMkLst>
          <pc:docMk/>
          <pc:sldMk cId="226888269" sldId="284"/>
        </pc:sldMkLst>
      </pc:sldChg>
      <pc:sldChg chg="addSp delSp modSp mod">
        <pc:chgData name="Lorenzo Bonatti" userId="eb7d5939a7cf9b59" providerId="LiveId" clId="{77A379B2-57C7-4B8A-BF0B-1922F3ED340C}" dt="2025-02-15T11:55:33.799" v="176" actId="20577"/>
        <pc:sldMkLst>
          <pc:docMk/>
          <pc:sldMk cId="3255883890" sldId="285"/>
        </pc:sldMkLst>
        <pc:spChg chg="add mod">
          <ac:chgData name="Lorenzo Bonatti" userId="eb7d5939a7cf9b59" providerId="LiveId" clId="{77A379B2-57C7-4B8A-BF0B-1922F3ED340C}" dt="2025-02-13T22:55:02.938" v="27" actId="1076"/>
          <ac:spMkLst>
            <pc:docMk/>
            <pc:sldMk cId="3255883890" sldId="285"/>
            <ac:spMk id="3" creationId="{081AE45D-3801-DB32-E26F-A202BD5B6C42}"/>
          </ac:spMkLst>
        </pc:spChg>
        <pc:spChg chg="mod">
          <ac:chgData name="Lorenzo Bonatti" userId="eb7d5939a7cf9b59" providerId="LiveId" clId="{77A379B2-57C7-4B8A-BF0B-1922F3ED340C}" dt="2025-02-15T11:55:33.799" v="176" actId="20577"/>
          <ac:spMkLst>
            <pc:docMk/>
            <pc:sldMk cId="3255883890" sldId="285"/>
            <ac:spMk id="4" creationId="{8C3CA561-344C-CE11-87A8-05FC52B1DBED}"/>
          </ac:spMkLst>
        </pc:spChg>
        <pc:spChg chg="mod">
          <ac:chgData name="Lorenzo Bonatti" userId="eb7d5939a7cf9b59" providerId="LiveId" clId="{77A379B2-57C7-4B8A-BF0B-1922F3ED340C}" dt="2025-02-13T22:53:52.389" v="21" actId="1076"/>
          <ac:spMkLst>
            <pc:docMk/>
            <pc:sldMk cId="3255883890" sldId="285"/>
            <ac:spMk id="5" creationId="{FD029137-DA90-EF69-997D-C274C64B0827}"/>
          </ac:spMkLst>
        </pc:spChg>
        <pc:spChg chg="add mod">
          <ac:chgData name="Lorenzo Bonatti" userId="eb7d5939a7cf9b59" providerId="LiveId" clId="{77A379B2-57C7-4B8A-BF0B-1922F3ED340C}" dt="2025-02-13T22:55:33.655" v="30" actId="1076"/>
          <ac:spMkLst>
            <pc:docMk/>
            <pc:sldMk cId="3255883890" sldId="285"/>
            <ac:spMk id="9" creationId="{8A069D85-6B4C-B9C1-EABA-AEFC56365A77}"/>
          </ac:spMkLst>
        </pc:spChg>
        <pc:spChg chg="del">
          <ac:chgData name="Lorenzo Bonatti" userId="eb7d5939a7cf9b59" providerId="LiveId" clId="{77A379B2-57C7-4B8A-BF0B-1922F3ED340C}" dt="2025-02-13T22:54:55.542" v="26" actId="21"/>
          <ac:spMkLst>
            <pc:docMk/>
            <pc:sldMk cId="3255883890" sldId="285"/>
            <ac:spMk id="12" creationId="{3EBB5D1E-ACED-F640-CFC9-1322D6A86AF5}"/>
          </ac:spMkLst>
        </pc:spChg>
        <pc:spChg chg="del">
          <ac:chgData name="Lorenzo Bonatti" userId="eb7d5939a7cf9b59" providerId="LiveId" clId="{77A379B2-57C7-4B8A-BF0B-1922F3ED340C}" dt="2025-02-13T22:55:23.746" v="29" actId="21"/>
          <ac:spMkLst>
            <pc:docMk/>
            <pc:sldMk cId="3255883890" sldId="285"/>
            <ac:spMk id="13" creationId="{CFD3CA34-AADC-7ED7-3BDF-E18399351A00}"/>
          </ac:spMkLst>
        </pc:spChg>
        <pc:spChg chg="del">
          <ac:chgData name="Lorenzo Bonatti" userId="eb7d5939a7cf9b59" providerId="LiveId" clId="{77A379B2-57C7-4B8A-BF0B-1922F3ED340C}" dt="2025-02-13T22:55:56.222" v="34" actId="21"/>
          <ac:spMkLst>
            <pc:docMk/>
            <pc:sldMk cId="3255883890" sldId="285"/>
            <ac:spMk id="14" creationId="{9E2ECC0F-05BC-0B51-03BE-60C527752E08}"/>
          </ac:spMkLst>
        </pc:spChg>
        <pc:spChg chg="add mod">
          <ac:chgData name="Lorenzo Bonatti" userId="eb7d5939a7cf9b59" providerId="LiveId" clId="{77A379B2-57C7-4B8A-BF0B-1922F3ED340C}" dt="2025-02-13T22:57:38.533" v="42" actId="1076"/>
          <ac:spMkLst>
            <pc:docMk/>
            <pc:sldMk cId="3255883890" sldId="285"/>
            <ac:spMk id="19" creationId="{B2728F72-9B49-C09B-1AEA-8CEA4225EFD0}"/>
          </ac:spMkLst>
        </pc:spChg>
        <pc:spChg chg="add mod">
          <ac:chgData name="Lorenzo Bonatti" userId="eb7d5939a7cf9b59" providerId="LiveId" clId="{77A379B2-57C7-4B8A-BF0B-1922F3ED340C}" dt="2025-02-13T22:56:48.342" v="38" actId="1076"/>
          <ac:spMkLst>
            <pc:docMk/>
            <pc:sldMk cId="3255883890" sldId="285"/>
            <ac:spMk id="20" creationId="{D36561A1-40C2-2617-421F-2B4041832628}"/>
          </ac:spMkLst>
        </pc:spChg>
        <pc:spChg chg="add mod">
          <ac:chgData name="Lorenzo Bonatti" userId="eb7d5939a7cf9b59" providerId="LiveId" clId="{77A379B2-57C7-4B8A-BF0B-1922F3ED340C}" dt="2025-02-13T22:57:16.174" v="40" actId="1076"/>
          <ac:spMkLst>
            <pc:docMk/>
            <pc:sldMk cId="3255883890" sldId="285"/>
            <ac:spMk id="21" creationId="{913883E8-5E6C-9FEF-92D2-6D25764C0B8F}"/>
          </ac:spMkLst>
        </pc:spChg>
        <pc:spChg chg="add mod">
          <ac:chgData name="Lorenzo Bonatti" userId="eb7d5939a7cf9b59" providerId="LiveId" clId="{77A379B2-57C7-4B8A-BF0B-1922F3ED340C}" dt="2025-02-13T22:57:46.554" v="43" actId="1076"/>
          <ac:spMkLst>
            <pc:docMk/>
            <pc:sldMk cId="3255883890" sldId="285"/>
            <ac:spMk id="22" creationId="{D5664146-C8A8-C1EB-8068-7C18495FA8A0}"/>
          </ac:spMkLst>
        </pc:spChg>
      </pc:sldChg>
      <pc:sldChg chg="del">
        <pc:chgData name="Lorenzo Bonatti" userId="eb7d5939a7cf9b59" providerId="LiveId" clId="{77A379B2-57C7-4B8A-BF0B-1922F3ED340C}" dt="2025-02-13T22:52:56.165" v="15" actId="2696"/>
        <pc:sldMkLst>
          <pc:docMk/>
          <pc:sldMk cId="2100978005" sldId="291"/>
        </pc:sldMkLst>
      </pc:sldChg>
      <pc:sldChg chg="del">
        <pc:chgData name="Lorenzo Bonatti" userId="eb7d5939a7cf9b59" providerId="LiveId" clId="{77A379B2-57C7-4B8A-BF0B-1922F3ED340C}" dt="2025-02-13T23:07:08.064" v="120" actId="2696"/>
        <pc:sldMkLst>
          <pc:docMk/>
          <pc:sldMk cId="3989946400" sldId="302"/>
        </pc:sldMkLst>
      </pc:sldChg>
      <pc:sldChg chg="del">
        <pc:chgData name="Lorenzo Bonatti" userId="eb7d5939a7cf9b59" providerId="LiveId" clId="{77A379B2-57C7-4B8A-BF0B-1922F3ED340C}" dt="2025-02-13T23:07:12.483" v="121" actId="2696"/>
        <pc:sldMkLst>
          <pc:docMk/>
          <pc:sldMk cId="1513244377" sldId="303"/>
        </pc:sldMkLst>
      </pc:sldChg>
      <pc:sldChg chg="del">
        <pc:chgData name="Lorenzo Bonatti" userId="eb7d5939a7cf9b59" providerId="LiveId" clId="{77A379B2-57C7-4B8A-BF0B-1922F3ED340C}" dt="2025-02-13T23:07:15.963" v="122" actId="2696"/>
        <pc:sldMkLst>
          <pc:docMk/>
          <pc:sldMk cId="3918218604" sldId="304"/>
        </pc:sldMkLst>
      </pc:sldChg>
      <pc:sldChg chg="del">
        <pc:chgData name="Lorenzo Bonatti" userId="eb7d5939a7cf9b59" providerId="LiveId" clId="{77A379B2-57C7-4B8A-BF0B-1922F3ED340C}" dt="2025-02-13T23:07:18.946" v="123" actId="2696"/>
        <pc:sldMkLst>
          <pc:docMk/>
          <pc:sldMk cId="2847115857" sldId="305"/>
        </pc:sldMkLst>
      </pc:sldChg>
      <pc:sldChg chg="del">
        <pc:chgData name="Lorenzo Bonatti" userId="eb7d5939a7cf9b59" providerId="LiveId" clId="{77A379B2-57C7-4B8A-BF0B-1922F3ED340C}" dt="2025-02-14T09:27:05.318" v="175" actId="2696"/>
        <pc:sldMkLst>
          <pc:docMk/>
          <pc:sldMk cId="3671286753" sldId="306"/>
        </pc:sldMkLst>
      </pc:sldChg>
      <pc:sldChg chg="del">
        <pc:chgData name="Lorenzo Bonatti" userId="eb7d5939a7cf9b59" providerId="LiveId" clId="{77A379B2-57C7-4B8A-BF0B-1922F3ED340C}" dt="2025-02-13T22:52:45.290" v="10" actId="2696"/>
        <pc:sldMkLst>
          <pc:docMk/>
          <pc:sldMk cId="3854898356" sldId="318"/>
        </pc:sldMkLst>
      </pc:sldChg>
      <pc:sldChg chg="del">
        <pc:chgData name="Lorenzo Bonatti" userId="eb7d5939a7cf9b59" providerId="LiveId" clId="{77A379B2-57C7-4B8A-BF0B-1922F3ED340C}" dt="2025-02-13T22:52:25.733" v="1" actId="2696"/>
        <pc:sldMkLst>
          <pc:docMk/>
          <pc:sldMk cId="2041266868" sldId="319"/>
        </pc:sldMkLst>
      </pc:sldChg>
      <pc:sldChg chg="del">
        <pc:chgData name="Lorenzo Bonatti" userId="eb7d5939a7cf9b59" providerId="LiveId" clId="{77A379B2-57C7-4B8A-BF0B-1922F3ED340C}" dt="2025-02-13T22:52:23.051" v="0" actId="2696"/>
        <pc:sldMkLst>
          <pc:docMk/>
          <pc:sldMk cId="2041722320" sldId="320"/>
        </pc:sldMkLst>
      </pc:sldChg>
      <pc:sldChg chg="del">
        <pc:chgData name="Lorenzo Bonatti" userId="eb7d5939a7cf9b59" providerId="LiveId" clId="{77A379B2-57C7-4B8A-BF0B-1922F3ED340C}" dt="2025-02-13T22:53:06.275" v="19" actId="2696"/>
        <pc:sldMkLst>
          <pc:docMk/>
          <pc:sldMk cId="2370897445" sldId="321"/>
        </pc:sldMkLst>
      </pc:sldChg>
      <pc:sldChg chg="del">
        <pc:chgData name="Lorenzo Bonatti" userId="eb7d5939a7cf9b59" providerId="LiveId" clId="{77A379B2-57C7-4B8A-BF0B-1922F3ED340C}" dt="2025-02-13T22:52:34.098" v="5" actId="2696"/>
        <pc:sldMkLst>
          <pc:docMk/>
          <pc:sldMk cId="3406395487" sldId="322"/>
        </pc:sldMkLst>
      </pc:sldChg>
      <pc:sldChg chg="del">
        <pc:chgData name="Lorenzo Bonatti" userId="eb7d5939a7cf9b59" providerId="LiveId" clId="{77A379B2-57C7-4B8A-BF0B-1922F3ED340C}" dt="2025-02-13T22:52:53.837" v="14" actId="2696"/>
        <pc:sldMkLst>
          <pc:docMk/>
          <pc:sldMk cId="3627066387" sldId="323"/>
        </pc:sldMkLst>
      </pc:sldChg>
      <pc:sldChg chg="del">
        <pc:chgData name="Lorenzo Bonatti" userId="eb7d5939a7cf9b59" providerId="LiveId" clId="{77A379B2-57C7-4B8A-BF0B-1922F3ED340C}" dt="2025-02-13T22:52:27.856" v="2" actId="2696"/>
        <pc:sldMkLst>
          <pc:docMk/>
          <pc:sldMk cId="3159043928" sldId="324"/>
        </pc:sldMkLst>
      </pc:sldChg>
      <pc:sldChg chg="del">
        <pc:chgData name="Lorenzo Bonatti" userId="eb7d5939a7cf9b59" providerId="LiveId" clId="{77A379B2-57C7-4B8A-BF0B-1922F3ED340C}" dt="2025-02-13T22:52:47.353" v="11" actId="2696"/>
        <pc:sldMkLst>
          <pc:docMk/>
          <pc:sldMk cId="851064967" sldId="325"/>
        </pc:sldMkLst>
      </pc:sldChg>
      <pc:sldChg chg="del">
        <pc:chgData name="Lorenzo Bonatti" userId="eb7d5939a7cf9b59" providerId="LiveId" clId="{77A379B2-57C7-4B8A-BF0B-1922F3ED340C}" dt="2025-02-13T22:52:58.603" v="16" actId="2696"/>
        <pc:sldMkLst>
          <pc:docMk/>
          <pc:sldMk cId="2174874045" sldId="326"/>
        </pc:sldMkLst>
      </pc:sldChg>
      <pc:sldChg chg="del">
        <pc:chgData name="Lorenzo Bonatti" userId="eb7d5939a7cf9b59" providerId="LiveId" clId="{77A379B2-57C7-4B8A-BF0B-1922F3ED340C}" dt="2025-02-13T22:52:43.070" v="9" actId="2696"/>
        <pc:sldMkLst>
          <pc:docMk/>
          <pc:sldMk cId="1530726719" sldId="327"/>
        </pc:sldMkLst>
      </pc:sldChg>
      <pc:sldChg chg="del">
        <pc:chgData name="Lorenzo Bonatti" userId="eb7d5939a7cf9b59" providerId="LiveId" clId="{77A379B2-57C7-4B8A-BF0B-1922F3ED340C}" dt="2025-02-13T22:52:29.943" v="3" actId="2696"/>
        <pc:sldMkLst>
          <pc:docMk/>
          <pc:sldMk cId="2038211302" sldId="328"/>
        </pc:sldMkLst>
      </pc:sldChg>
      <pc:sldChg chg="del">
        <pc:chgData name="Lorenzo Bonatti" userId="eb7d5939a7cf9b59" providerId="LiveId" clId="{77A379B2-57C7-4B8A-BF0B-1922F3ED340C}" dt="2025-02-13T22:52:41.274" v="8" actId="2696"/>
        <pc:sldMkLst>
          <pc:docMk/>
          <pc:sldMk cId="2519427821" sldId="329"/>
        </pc:sldMkLst>
      </pc:sldChg>
      <pc:sldChg chg="del">
        <pc:chgData name="Lorenzo Bonatti" userId="eb7d5939a7cf9b59" providerId="LiveId" clId="{77A379B2-57C7-4B8A-BF0B-1922F3ED340C}" dt="2025-02-13T22:52:50.056" v="12" actId="2696"/>
        <pc:sldMkLst>
          <pc:docMk/>
          <pc:sldMk cId="3969080552" sldId="330"/>
        </pc:sldMkLst>
      </pc:sldChg>
      <pc:sldChg chg="del">
        <pc:chgData name="Lorenzo Bonatti" userId="eb7d5939a7cf9b59" providerId="LiveId" clId="{77A379B2-57C7-4B8A-BF0B-1922F3ED340C}" dt="2025-02-13T22:53:04.196" v="18" actId="2696"/>
        <pc:sldMkLst>
          <pc:docMk/>
          <pc:sldMk cId="1060213245" sldId="331"/>
        </pc:sldMkLst>
      </pc:sldChg>
      <pc:sldChg chg="del">
        <pc:chgData name="Lorenzo Bonatti" userId="eb7d5939a7cf9b59" providerId="LiveId" clId="{77A379B2-57C7-4B8A-BF0B-1922F3ED340C}" dt="2025-02-13T22:52:36.961" v="6" actId="2696"/>
        <pc:sldMkLst>
          <pc:docMk/>
          <pc:sldMk cId="3584367225" sldId="332"/>
        </pc:sldMkLst>
      </pc:sldChg>
      <pc:sldChg chg="del">
        <pc:chgData name="Lorenzo Bonatti" userId="eb7d5939a7cf9b59" providerId="LiveId" clId="{77A379B2-57C7-4B8A-BF0B-1922F3ED340C}" dt="2025-02-13T22:52:51.931" v="13" actId="2696"/>
        <pc:sldMkLst>
          <pc:docMk/>
          <pc:sldMk cId="2048783811" sldId="333"/>
        </pc:sldMkLst>
      </pc:sldChg>
      <pc:sldChg chg="del">
        <pc:chgData name="Lorenzo Bonatti" userId="eb7d5939a7cf9b59" providerId="LiveId" clId="{77A379B2-57C7-4B8A-BF0B-1922F3ED340C}" dt="2025-02-13T23:13:31.862" v="173" actId="2696"/>
        <pc:sldMkLst>
          <pc:docMk/>
          <pc:sldMk cId="2977425483" sldId="353"/>
        </pc:sldMkLst>
      </pc:sldChg>
      <pc:sldChg chg="delSp modSp mod">
        <pc:chgData name="Lorenzo Bonatti" userId="eb7d5939a7cf9b59" providerId="LiveId" clId="{77A379B2-57C7-4B8A-BF0B-1922F3ED340C}" dt="2025-02-13T23:12:08.189" v="161" actId="1076"/>
        <pc:sldMkLst>
          <pc:docMk/>
          <pc:sldMk cId="3947811504" sldId="377"/>
        </pc:sldMkLst>
        <pc:spChg chg="mod">
          <ac:chgData name="Lorenzo Bonatti" userId="eb7d5939a7cf9b59" providerId="LiveId" clId="{77A379B2-57C7-4B8A-BF0B-1922F3ED340C}" dt="2025-02-13T23:12:03.850" v="160" actId="1076"/>
          <ac:spMkLst>
            <pc:docMk/>
            <pc:sldMk cId="3947811504" sldId="377"/>
            <ac:spMk id="8" creationId="{C0D346A0-AF94-D111-5ABD-568E57E05D36}"/>
          </ac:spMkLst>
        </pc:spChg>
        <pc:spChg chg="del">
          <ac:chgData name="Lorenzo Bonatti" userId="eb7d5939a7cf9b59" providerId="LiveId" clId="{77A379B2-57C7-4B8A-BF0B-1922F3ED340C}" dt="2025-02-13T23:09:49.853" v="146" actId="21"/>
          <ac:spMkLst>
            <pc:docMk/>
            <pc:sldMk cId="3947811504" sldId="377"/>
            <ac:spMk id="11" creationId="{8527C57F-7A85-31E9-34C9-60FCBE13B76E}"/>
          </ac:spMkLst>
        </pc:spChg>
        <pc:spChg chg="del">
          <ac:chgData name="Lorenzo Bonatti" userId="eb7d5939a7cf9b59" providerId="LiveId" clId="{77A379B2-57C7-4B8A-BF0B-1922F3ED340C}" dt="2025-02-13T23:09:39.838" v="144" actId="21"/>
          <ac:spMkLst>
            <pc:docMk/>
            <pc:sldMk cId="3947811504" sldId="377"/>
            <ac:spMk id="13" creationId="{ADF42883-A61C-FB06-02BA-F2CC94D39DF8}"/>
          </ac:spMkLst>
        </pc:spChg>
        <pc:spChg chg="del">
          <ac:chgData name="Lorenzo Bonatti" userId="eb7d5939a7cf9b59" providerId="LiveId" clId="{77A379B2-57C7-4B8A-BF0B-1922F3ED340C}" dt="2025-02-13T23:09:44.713" v="145" actId="21"/>
          <ac:spMkLst>
            <pc:docMk/>
            <pc:sldMk cId="3947811504" sldId="377"/>
            <ac:spMk id="16" creationId="{62B2C4A2-BAB2-2594-228C-8E400505DC00}"/>
          </ac:spMkLst>
        </pc:spChg>
        <pc:picChg chg="mod">
          <ac:chgData name="Lorenzo Bonatti" userId="eb7d5939a7cf9b59" providerId="LiveId" clId="{77A379B2-57C7-4B8A-BF0B-1922F3ED340C}" dt="2025-02-13T23:12:08.189" v="161" actId="1076"/>
          <ac:picMkLst>
            <pc:docMk/>
            <pc:sldMk cId="3947811504" sldId="377"/>
            <ac:picMk id="22" creationId="{F90C966A-5A85-EDE8-B1E3-50B90FA19144}"/>
          </ac:picMkLst>
        </pc:picChg>
        <pc:cxnChg chg="mod">
          <ac:chgData name="Lorenzo Bonatti" userId="eb7d5939a7cf9b59" providerId="LiveId" clId="{77A379B2-57C7-4B8A-BF0B-1922F3ED340C}" dt="2025-02-13T23:11:58.710" v="159" actId="1076"/>
          <ac:cxnSpMkLst>
            <pc:docMk/>
            <pc:sldMk cId="3947811504" sldId="377"/>
            <ac:cxnSpMk id="3" creationId="{61DC8434-D485-6390-9B0F-DF252B432097}"/>
          </ac:cxnSpMkLst>
        </pc:cxnChg>
      </pc:sldChg>
      <pc:sldChg chg="addSp delSp modSp mod">
        <pc:chgData name="Lorenzo Bonatti" userId="eb7d5939a7cf9b59" providerId="LiveId" clId="{77A379B2-57C7-4B8A-BF0B-1922F3ED340C}" dt="2025-02-13T23:13:07.063" v="172" actId="1076"/>
        <pc:sldMkLst>
          <pc:docMk/>
          <pc:sldMk cId="1817200559" sldId="378"/>
        </pc:sldMkLst>
        <pc:spChg chg="mod">
          <ac:chgData name="Lorenzo Bonatti" userId="eb7d5939a7cf9b59" providerId="LiveId" clId="{77A379B2-57C7-4B8A-BF0B-1922F3ED340C}" dt="2025-02-13T23:13:07.063" v="172" actId="1076"/>
          <ac:spMkLst>
            <pc:docMk/>
            <pc:sldMk cId="1817200559" sldId="378"/>
            <ac:spMk id="8" creationId="{C0D346A0-AF94-D111-5ABD-568E57E05D36}"/>
          </ac:spMkLst>
        </pc:spChg>
        <pc:spChg chg="del">
          <ac:chgData name="Lorenzo Bonatti" userId="eb7d5939a7cf9b59" providerId="LiveId" clId="{77A379B2-57C7-4B8A-BF0B-1922F3ED340C}" dt="2025-02-13T23:09:30.979" v="143" actId="21"/>
          <ac:spMkLst>
            <pc:docMk/>
            <pc:sldMk cId="1817200559" sldId="378"/>
            <ac:spMk id="11" creationId="{8527C57F-7A85-31E9-34C9-60FCBE13B76E}"/>
          </ac:spMkLst>
        </pc:spChg>
        <pc:spChg chg="del">
          <ac:chgData name="Lorenzo Bonatti" userId="eb7d5939a7cf9b59" providerId="LiveId" clId="{77A379B2-57C7-4B8A-BF0B-1922F3ED340C}" dt="2025-02-13T23:09:21.565" v="141" actId="21"/>
          <ac:spMkLst>
            <pc:docMk/>
            <pc:sldMk cId="1817200559" sldId="378"/>
            <ac:spMk id="13" creationId="{ADF42883-A61C-FB06-02BA-F2CC94D39DF8}"/>
          </ac:spMkLst>
        </pc:spChg>
        <pc:spChg chg="del">
          <ac:chgData name="Lorenzo Bonatti" userId="eb7d5939a7cf9b59" providerId="LiveId" clId="{77A379B2-57C7-4B8A-BF0B-1922F3ED340C}" dt="2025-02-13T23:09:27.083" v="142" actId="21"/>
          <ac:spMkLst>
            <pc:docMk/>
            <pc:sldMk cId="1817200559" sldId="378"/>
            <ac:spMk id="16" creationId="{62B2C4A2-BAB2-2594-228C-8E400505DC00}"/>
          </ac:spMkLst>
        </pc:spChg>
        <pc:cxnChg chg="add del mod">
          <ac:chgData name="Lorenzo Bonatti" userId="eb7d5939a7cf9b59" providerId="LiveId" clId="{77A379B2-57C7-4B8A-BF0B-1922F3ED340C}" dt="2025-02-13T23:13:00.425" v="171" actId="1076"/>
          <ac:cxnSpMkLst>
            <pc:docMk/>
            <pc:sldMk cId="1817200559" sldId="378"/>
            <ac:cxnSpMk id="3" creationId="{61DC8434-D485-6390-9B0F-DF252B432097}"/>
          </ac:cxnSpMkLst>
        </pc:cxnChg>
        <pc:cxnChg chg="mod">
          <ac:chgData name="Lorenzo Bonatti" userId="eb7d5939a7cf9b59" providerId="LiveId" clId="{77A379B2-57C7-4B8A-BF0B-1922F3ED340C}" dt="2025-02-13T23:13:07.063" v="172" actId="1076"/>
          <ac:cxnSpMkLst>
            <pc:docMk/>
            <pc:sldMk cId="1817200559" sldId="378"/>
            <ac:cxnSpMk id="19" creationId="{18592506-5636-2708-7D2B-6C3AC7053315}"/>
          </ac:cxnSpMkLst>
        </pc:cxnChg>
      </pc:sldChg>
      <pc:sldChg chg="addSp delSp modSp mod">
        <pc:chgData name="Lorenzo Bonatti" userId="eb7d5939a7cf9b59" providerId="LiveId" clId="{77A379B2-57C7-4B8A-BF0B-1922F3ED340C}" dt="2025-02-13T23:11:48.848" v="158" actId="1076"/>
        <pc:sldMkLst>
          <pc:docMk/>
          <pc:sldMk cId="3303983988" sldId="381"/>
        </pc:sldMkLst>
        <pc:spChg chg="add mod">
          <ac:chgData name="Lorenzo Bonatti" userId="eb7d5939a7cf9b59" providerId="LiveId" clId="{77A379B2-57C7-4B8A-BF0B-1922F3ED340C}" dt="2025-02-13T23:10:45.024" v="148" actId="1076"/>
          <ac:spMkLst>
            <pc:docMk/>
            <pc:sldMk cId="3303983988" sldId="381"/>
            <ac:spMk id="2" creationId="{F2107F7C-A3AA-EC84-63A8-FD285698A569}"/>
          </ac:spMkLst>
        </pc:spChg>
        <pc:spChg chg="add del mod">
          <ac:chgData name="Lorenzo Bonatti" userId="eb7d5939a7cf9b59" providerId="LiveId" clId="{77A379B2-57C7-4B8A-BF0B-1922F3ED340C}" dt="2025-02-13T23:10:54.807" v="150"/>
          <ac:spMkLst>
            <pc:docMk/>
            <pc:sldMk cId="3303983988" sldId="381"/>
            <ac:spMk id="3" creationId="{EAD2A715-106D-37AC-979D-0A02605DCACB}"/>
          </ac:spMkLst>
        </pc:spChg>
        <pc:spChg chg="add del mod">
          <ac:chgData name="Lorenzo Bonatti" userId="eb7d5939a7cf9b59" providerId="LiveId" clId="{77A379B2-57C7-4B8A-BF0B-1922F3ED340C}" dt="2025-02-13T23:11:03.261" v="152"/>
          <ac:spMkLst>
            <pc:docMk/>
            <pc:sldMk cId="3303983988" sldId="381"/>
            <ac:spMk id="5" creationId="{8726816C-E7AE-2400-F237-6D3074EDD6EB}"/>
          </ac:spMkLst>
        </pc:spChg>
        <pc:picChg chg="add mod">
          <ac:chgData name="Lorenzo Bonatti" userId="eb7d5939a7cf9b59" providerId="LiveId" clId="{77A379B2-57C7-4B8A-BF0B-1922F3ED340C}" dt="2025-02-13T23:11:48.848" v="158" actId="1076"/>
          <ac:picMkLst>
            <pc:docMk/>
            <pc:sldMk cId="3303983988" sldId="381"/>
            <ac:picMk id="11" creationId="{2C297F2A-01EC-BF92-75A2-AD8D8BF0785A}"/>
          </ac:picMkLst>
        </pc:picChg>
        <pc:cxnChg chg="add mod">
          <ac:chgData name="Lorenzo Bonatti" userId="eb7d5939a7cf9b59" providerId="LiveId" clId="{77A379B2-57C7-4B8A-BF0B-1922F3ED340C}" dt="2025-02-13T23:11:16.440" v="155" actId="1076"/>
          <ac:cxnSpMkLst>
            <pc:docMk/>
            <pc:sldMk cId="3303983988" sldId="381"/>
            <ac:cxnSpMk id="8" creationId="{957D5267-5157-9931-706D-905A405D2179}"/>
          </ac:cxnSpMkLst>
        </pc:cxnChg>
      </pc:sldChg>
      <pc:sldChg chg="del">
        <pc:chgData name="Lorenzo Bonatti" userId="eb7d5939a7cf9b59" providerId="LiveId" clId="{77A379B2-57C7-4B8A-BF0B-1922F3ED340C}" dt="2025-02-13T23:08:05.925" v="127" actId="2696"/>
        <pc:sldMkLst>
          <pc:docMk/>
          <pc:sldMk cId="3593503736" sldId="385"/>
        </pc:sldMkLst>
      </pc:sldChg>
      <pc:sldChg chg="modSp mod">
        <pc:chgData name="Lorenzo Bonatti" userId="eb7d5939a7cf9b59" providerId="LiveId" clId="{77A379B2-57C7-4B8A-BF0B-1922F3ED340C}" dt="2025-02-13T23:00:12.532" v="48" actId="1076"/>
        <pc:sldMkLst>
          <pc:docMk/>
          <pc:sldMk cId="3710806939" sldId="409"/>
        </pc:sldMkLst>
        <pc:picChg chg="mod">
          <ac:chgData name="Lorenzo Bonatti" userId="eb7d5939a7cf9b59" providerId="LiveId" clId="{77A379B2-57C7-4B8A-BF0B-1922F3ED340C}" dt="2025-02-13T23:00:12.532" v="48" actId="1076"/>
          <ac:picMkLst>
            <pc:docMk/>
            <pc:sldMk cId="3710806939" sldId="409"/>
            <ac:picMk id="2" creationId="{67EFC184-9763-FBD1-66CA-EE01F10073DF}"/>
          </ac:picMkLst>
        </pc:picChg>
      </pc:sldChg>
      <pc:sldChg chg="modSp mod">
        <pc:chgData name="Lorenzo Bonatti" userId="eb7d5939a7cf9b59" providerId="LiveId" clId="{77A379B2-57C7-4B8A-BF0B-1922F3ED340C}" dt="2025-02-13T23:01:45.358" v="49" actId="1076"/>
        <pc:sldMkLst>
          <pc:docMk/>
          <pc:sldMk cId="2157832962" sldId="420"/>
        </pc:sldMkLst>
        <pc:spChg chg="mod">
          <ac:chgData name="Lorenzo Bonatti" userId="eb7d5939a7cf9b59" providerId="LiveId" clId="{77A379B2-57C7-4B8A-BF0B-1922F3ED340C}" dt="2025-02-13T23:01:45.358" v="49" actId="1076"/>
          <ac:spMkLst>
            <pc:docMk/>
            <pc:sldMk cId="2157832962" sldId="420"/>
            <ac:spMk id="15" creationId="{8A3D47B3-6211-D503-06D3-C5BDE73C85ED}"/>
          </ac:spMkLst>
        </pc:spChg>
      </pc:sldChg>
      <pc:sldChg chg="modSp mod">
        <pc:chgData name="Lorenzo Bonatti" userId="eb7d5939a7cf9b59" providerId="LiveId" clId="{77A379B2-57C7-4B8A-BF0B-1922F3ED340C}" dt="2025-02-13T23:02:23.076" v="50" actId="1076"/>
        <pc:sldMkLst>
          <pc:docMk/>
          <pc:sldMk cId="3300045544" sldId="424"/>
        </pc:sldMkLst>
        <pc:picChg chg="mod">
          <ac:chgData name="Lorenzo Bonatti" userId="eb7d5939a7cf9b59" providerId="LiveId" clId="{77A379B2-57C7-4B8A-BF0B-1922F3ED340C}" dt="2025-02-13T23:02:23.076" v="50" actId="1076"/>
          <ac:picMkLst>
            <pc:docMk/>
            <pc:sldMk cId="3300045544" sldId="424"/>
            <ac:picMk id="21" creationId="{AF1237DC-CFC1-CEA0-2141-944205D9A17D}"/>
          </ac:picMkLst>
        </pc:picChg>
      </pc:sldChg>
      <pc:sldChg chg="del">
        <pc:chgData name="Lorenzo Bonatti" userId="eb7d5939a7cf9b59" providerId="LiveId" clId="{77A379B2-57C7-4B8A-BF0B-1922F3ED340C}" dt="2025-02-13T22:52:39.633" v="7" actId="2696"/>
        <pc:sldMkLst>
          <pc:docMk/>
          <pc:sldMk cId="2844734169" sldId="448"/>
        </pc:sldMkLst>
      </pc:sldChg>
      <pc:sldChg chg="addSp modSp mod">
        <pc:chgData name="Lorenzo Bonatti" userId="eb7d5939a7cf9b59" providerId="LiveId" clId="{77A379B2-57C7-4B8A-BF0B-1922F3ED340C}" dt="2025-02-15T12:01:44.077" v="304" actId="1076"/>
        <pc:sldMkLst>
          <pc:docMk/>
          <pc:sldMk cId="1742869002" sldId="456"/>
        </pc:sldMkLst>
        <pc:spChg chg="add mod">
          <ac:chgData name="Lorenzo Bonatti" userId="eb7d5939a7cf9b59" providerId="LiveId" clId="{77A379B2-57C7-4B8A-BF0B-1922F3ED340C}" dt="2025-02-15T11:57:46.636" v="194" actId="20577"/>
          <ac:spMkLst>
            <pc:docMk/>
            <pc:sldMk cId="1742869002" sldId="456"/>
            <ac:spMk id="2" creationId="{CB312D3D-A107-FC6C-CA44-7C3FFF86671A}"/>
          </ac:spMkLst>
        </pc:spChg>
        <pc:spChg chg="mod">
          <ac:chgData name="Lorenzo Bonatti" userId="eb7d5939a7cf9b59" providerId="LiveId" clId="{77A379B2-57C7-4B8A-BF0B-1922F3ED340C}" dt="2025-02-15T12:00:15.034" v="277" actId="20577"/>
          <ac:spMkLst>
            <pc:docMk/>
            <pc:sldMk cId="1742869002" sldId="456"/>
            <ac:spMk id="75" creationId="{0A91E298-9CC4-31E8-DE8E-EAD5383A646B}"/>
          </ac:spMkLst>
        </pc:spChg>
        <pc:spChg chg="mod">
          <ac:chgData name="Lorenzo Bonatti" userId="eb7d5939a7cf9b59" providerId="LiveId" clId="{77A379B2-57C7-4B8A-BF0B-1922F3ED340C}" dt="2025-02-15T12:00:20.938" v="283" actId="20577"/>
          <ac:spMkLst>
            <pc:docMk/>
            <pc:sldMk cId="1742869002" sldId="456"/>
            <ac:spMk id="76" creationId="{90C811F7-8382-4F90-7DAC-1C710089487A}"/>
          </ac:spMkLst>
        </pc:spChg>
        <pc:spChg chg="mod">
          <ac:chgData name="Lorenzo Bonatti" userId="eb7d5939a7cf9b59" providerId="LiveId" clId="{77A379B2-57C7-4B8A-BF0B-1922F3ED340C}" dt="2025-02-15T12:00:27.741" v="289" actId="20577"/>
          <ac:spMkLst>
            <pc:docMk/>
            <pc:sldMk cId="1742869002" sldId="456"/>
            <ac:spMk id="77" creationId="{91C1A086-4C2C-BEA7-C804-25B1C8903FF0}"/>
          </ac:spMkLst>
        </pc:spChg>
        <pc:spChg chg="mod">
          <ac:chgData name="Lorenzo Bonatti" userId="eb7d5939a7cf9b59" providerId="LiveId" clId="{77A379B2-57C7-4B8A-BF0B-1922F3ED340C}" dt="2025-02-15T12:00:40.212" v="295" actId="20577"/>
          <ac:spMkLst>
            <pc:docMk/>
            <pc:sldMk cId="1742869002" sldId="456"/>
            <ac:spMk id="78" creationId="{C660E775-7A1A-B791-4C55-182893AD19A3}"/>
          </ac:spMkLst>
        </pc:spChg>
        <pc:spChg chg="mod">
          <ac:chgData name="Lorenzo Bonatti" userId="eb7d5939a7cf9b59" providerId="LiveId" clId="{77A379B2-57C7-4B8A-BF0B-1922F3ED340C}" dt="2025-02-15T12:00:36.129" v="291" actId="20577"/>
          <ac:spMkLst>
            <pc:docMk/>
            <pc:sldMk cId="1742869002" sldId="456"/>
            <ac:spMk id="79" creationId="{3E6BC242-2D9D-45E3-35B5-47534C51D3D7}"/>
          </ac:spMkLst>
        </pc:spChg>
        <pc:spChg chg="mod">
          <ac:chgData name="Lorenzo Bonatti" userId="eb7d5939a7cf9b59" providerId="LiveId" clId="{77A379B2-57C7-4B8A-BF0B-1922F3ED340C}" dt="2025-02-15T12:00:42.882" v="297" actId="20577"/>
          <ac:spMkLst>
            <pc:docMk/>
            <pc:sldMk cId="1742869002" sldId="456"/>
            <ac:spMk id="80" creationId="{24F387E6-FEA0-65D0-6ADD-565B98A11ECB}"/>
          </ac:spMkLst>
        </pc:spChg>
        <pc:spChg chg="mod">
          <ac:chgData name="Lorenzo Bonatti" userId="eb7d5939a7cf9b59" providerId="LiveId" clId="{77A379B2-57C7-4B8A-BF0B-1922F3ED340C}" dt="2025-02-15T11:57:55.922" v="197" actId="20577"/>
          <ac:spMkLst>
            <pc:docMk/>
            <pc:sldMk cId="1742869002" sldId="456"/>
            <ac:spMk id="81" creationId="{B508C9AF-3FC8-43EC-4303-41C9C36196FF}"/>
          </ac:spMkLst>
        </pc:spChg>
        <pc:spChg chg="mod">
          <ac:chgData name="Lorenzo Bonatti" userId="eb7d5939a7cf9b59" providerId="LiveId" clId="{77A379B2-57C7-4B8A-BF0B-1922F3ED340C}" dt="2025-02-15T11:58:15.559" v="226" actId="20577"/>
          <ac:spMkLst>
            <pc:docMk/>
            <pc:sldMk cId="1742869002" sldId="456"/>
            <ac:spMk id="82" creationId="{896E60BD-7099-DB24-4316-AF98FE61A9CA}"/>
          </ac:spMkLst>
        </pc:spChg>
        <pc:spChg chg="mod">
          <ac:chgData name="Lorenzo Bonatti" userId="eb7d5939a7cf9b59" providerId="LiveId" clId="{77A379B2-57C7-4B8A-BF0B-1922F3ED340C}" dt="2025-02-15T11:58:36.758" v="233" actId="20577"/>
          <ac:spMkLst>
            <pc:docMk/>
            <pc:sldMk cId="1742869002" sldId="456"/>
            <ac:spMk id="123" creationId="{EFFD5CF7-9B7F-3457-5596-0CB374D1AE30}"/>
          </ac:spMkLst>
        </pc:spChg>
        <pc:spChg chg="mod">
          <ac:chgData name="Lorenzo Bonatti" userId="eb7d5939a7cf9b59" providerId="LiveId" clId="{77A379B2-57C7-4B8A-BF0B-1922F3ED340C}" dt="2025-02-15T11:58:43.316" v="236" actId="20577"/>
          <ac:spMkLst>
            <pc:docMk/>
            <pc:sldMk cId="1742869002" sldId="456"/>
            <ac:spMk id="124" creationId="{4F23D406-1672-2F57-3BF6-187B7C2FC40D}"/>
          </ac:spMkLst>
        </pc:spChg>
        <pc:spChg chg="mod">
          <ac:chgData name="Lorenzo Bonatti" userId="eb7d5939a7cf9b59" providerId="LiveId" clId="{77A379B2-57C7-4B8A-BF0B-1922F3ED340C}" dt="2025-02-15T11:58:49.395" v="239" actId="20577"/>
          <ac:spMkLst>
            <pc:docMk/>
            <pc:sldMk cId="1742869002" sldId="456"/>
            <ac:spMk id="125" creationId="{87474C26-4869-B6B1-680C-954A3FD79CFC}"/>
          </ac:spMkLst>
        </pc:spChg>
        <pc:spChg chg="mod">
          <ac:chgData name="Lorenzo Bonatti" userId="eb7d5939a7cf9b59" providerId="LiveId" clId="{77A379B2-57C7-4B8A-BF0B-1922F3ED340C}" dt="2025-02-15T11:59:07.500" v="245" actId="20577"/>
          <ac:spMkLst>
            <pc:docMk/>
            <pc:sldMk cId="1742869002" sldId="456"/>
            <ac:spMk id="131" creationId="{0315AAA3-A2D8-97EE-EAED-E845C0AAC0D5}"/>
          </ac:spMkLst>
        </pc:spChg>
        <pc:spChg chg="mod">
          <ac:chgData name="Lorenzo Bonatti" userId="eb7d5939a7cf9b59" providerId="LiveId" clId="{77A379B2-57C7-4B8A-BF0B-1922F3ED340C}" dt="2025-02-15T11:59:15.439" v="249" actId="20577"/>
          <ac:spMkLst>
            <pc:docMk/>
            <pc:sldMk cId="1742869002" sldId="456"/>
            <ac:spMk id="132" creationId="{F4124C0C-3844-A742-D864-81B1521E5154}"/>
          </ac:spMkLst>
        </pc:spChg>
        <pc:spChg chg="mod">
          <ac:chgData name="Lorenzo Bonatti" userId="eb7d5939a7cf9b59" providerId="LiveId" clId="{77A379B2-57C7-4B8A-BF0B-1922F3ED340C}" dt="2025-02-15T11:59:38.810" v="260" actId="20577"/>
          <ac:spMkLst>
            <pc:docMk/>
            <pc:sldMk cId="1742869002" sldId="456"/>
            <ac:spMk id="134" creationId="{E3E8DE39-81F5-6B87-7C88-232A6D28A67E}"/>
          </ac:spMkLst>
        </pc:spChg>
        <pc:spChg chg="mod">
          <ac:chgData name="Lorenzo Bonatti" userId="eb7d5939a7cf9b59" providerId="LiveId" clId="{77A379B2-57C7-4B8A-BF0B-1922F3ED340C}" dt="2025-02-15T11:59:47.641" v="267" actId="20577"/>
          <ac:spMkLst>
            <pc:docMk/>
            <pc:sldMk cId="1742869002" sldId="456"/>
            <ac:spMk id="135" creationId="{7281B292-F5C9-CA57-BC88-87BB5B0E5C16}"/>
          </ac:spMkLst>
        </pc:spChg>
        <pc:spChg chg="mod">
          <ac:chgData name="Lorenzo Bonatti" userId="eb7d5939a7cf9b59" providerId="LiveId" clId="{77A379B2-57C7-4B8A-BF0B-1922F3ED340C}" dt="2025-02-15T12:00:01.890" v="271" actId="1076"/>
          <ac:spMkLst>
            <pc:docMk/>
            <pc:sldMk cId="1742869002" sldId="456"/>
            <ac:spMk id="136" creationId="{1F8C3C61-3771-3E85-9799-10D139E942E7}"/>
          </ac:spMkLst>
        </pc:spChg>
        <pc:spChg chg="mod">
          <ac:chgData name="Lorenzo Bonatti" userId="eb7d5939a7cf9b59" providerId="LiveId" clId="{77A379B2-57C7-4B8A-BF0B-1922F3ED340C}" dt="2025-02-15T11:59:27.531" v="257" actId="20577"/>
          <ac:spMkLst>
            <pc:docMk/>
            <pc:sldMk cId="1742869002" sldId="456"/>
            <ac:spMk id="138" creationId="{2BB07A0F-2ADB-F03F-4410-742DE18246CA}"/>
          </ac:spMkLst>
        </pc:spChg>
        <pc:spChg chg="mod">
          <ac:chgData name="Lorenzo Bonatti" userId="eb7d5939a7cf9b59" providerId="LiveId" clId="{77A379B2-57C7-4B8A-BF0B-1922F3ED340C}" dt="2025-02-15T11:58:24.962" v="230" actId="20577"/>
          <ac:spMkLst>
            <pc:docMk/>
            <pc:sldMk cId="1742869002" sldId="456"/>
            <ac:spMk id="142" creationId="{E78A1686-4EEC-2D89-61CF-6C05401CDF25}"/>
          </ac:spMkLst>
        </pc:spChg>
        <pc:spChg chg="mod">
          <ac:chgData name="Lorenzo Bonatti" userId="eb7d5939a7cf9b59" providerId="LiveId" clId="{77A379B2-57C7-4B8A-BF0B-1922F3ED340C}" dt="2025-02-15T12:00:46.799" v="299" actId="20577"/>
          <ac:spMkLst>
            <pc:docMk/>
            <pc:sldMk cId="1742869002" sldId="456"/>
            <ac:spMk id="145" creationId="{E9538EF8-88BC-1F52-D97C-953FFD80DC35}"/>
          </ac:spMkLst>
        </pc:spChg>
        <pc:spChg chg="mod">
          <ac:chgData name="Lorenzo Bonatti" userId="eb7d5939a7cf9b59" providerId="LiveId" clId="{77A379B2-57C7-4B8A-BF0B-1922F3ED340C}" dt="2025-02-15T11:58:53.862" v="242" actId="20577"/>
          <ac:spMkLst>
            <pc:docMk/>
            <pc:sldMk cId="1742869002" sldId="456"/>
            <ac:spMk id="146" creationId="{D008CD88-06F0-0E70-FFD2-096D2A6D3068}"/>
          </ac:spMkLst>
        </pc:spChg>
        <pc:cxnChg chg="mod">
          <ac:chgData name="Lorenzo Bonatti" userId="eb7d5939a7cf9b59" providerId="LiveId" clId="{77A379B2-57C7-4B8A-BF0B-1922F3ED340C}" dt="2025-02-15T12:01:44.077" v="304" actId="1076"/>
          <ac:cxnSpMkLst>
            <pc:docMk/>
            <pc:sldMk cId="1742869002" sldId="456"/>
            <ac:cxnSpMk id="111" creationId="{3CC4D0BE-94A7-5D9A-2B6A-9C140FA9AECC}"/>
          </ac:cxnSpMkLst>
        </pc:cxnChg>
      </pc:sldChg>
      <pc:sldChg chg="del">
        <pc:chgData name="Lorenzo Bonatti" userId="eb7d5939a7cf9b59" providerId="LiveId" clId="{77A379B2-57C7-4B8A-BF0B-1922F3ED340C}" dt="2025-02-13T22:53:02.165" v="17" actId="2696"/>
        <pc:sldMkLst>
          <pc:docMk/>
          <pc:sldMk cId="2058664596" sldId="460"/>
        </pc:sldMkLst>
      </pc:sldChg>
      <pc:sldChg chg="addSp modSp mod modTransition">
        <pc:chgData name="Lorenzo Bonatti" userId="eb7d5939a7cf9b59" providerId="LiveId" clId="{77A379B2-57C7-4B8A-BF0B-1922F3ED340C}" dt="2025-02-13T23:13:52.906" v="174"/>
        <pc:sldMkLst>
          <pc:docMk/>
          <pc:sldMk cId="1535664640" sldId="464"/>
        </pc:sldMkLst>
        <pc:spChg chg="add mod">
          <ac:chgData name="Lorenzo Bonatti" userId="eb7d5939a7cf9b59" providerId="LiveId" clId="{77A379B2-57C7-4B8A-BF0B-1922F3ED340C}" dt="2025-02-13T23:08:55.765" v="138" actId="1076"/>
          <ac:spMkLst>
            <pc:docMk/>
            <pc:sldMk cId="1535664640" sldId="464"/>
            <ac:spMk id="5" creationId="{631DB1FF-BBE8-16AD-C7F1-AD182D99BB98}"/>
          </ac:spMkLst>
        </pc:spChg>
      </pc:sldChg>
      <pc:sldChg chg="addSp delSp modSp add mod">
        <pc:chgData name="Lorenzo Bonatti" userId="eb7d5939a7cf9b59" providerId="LiveId" clId="{77A379B2-57C7-4B8A-BF0B-1922F3ED340C}" dt="2025-02-13T23:06:41.106" v="119" actId="14100"/>
        <pc:sldMkLst>
          <pc:docMk/>
          <pc:sldMk cId="976888323" sldId="465"/>
        </pc:sldMkLst>
        <pc:spChg chg="del mod">
          <ac:chgData name="Lorenzo Bonatti" userId="eb7d5939a7cf9b59" providerId="LiveId" clId="{77A379B2-57C7-4B8A-BF0B-1922F3ED340C}" dt="2025-02-13T23:05:34.806" v="104" actId="478"/>
          <ac:spMkLst>
            <pc:docMk/>
            <pc:sldMk cId="976888323" sldId="465"/>
            <ac:spMk id="6" creationId="{2E365F9E-C31D-1A54-38EF-49CC7DF01227}"/>
          </ac:spMkLst>
        </pc:spChg>
        <pc:spChg chg="mod">
          <ac:chgData name="Lorenzo Bonatti" userId="eb7d5939a7cf9b59" providerId="LiveId" clId="{77A379B2-57C7-4B8A-BF0B-1922F3ED340C}" dt="2025-02-13T23:04:44.588" v="65" actId="1076"/>
          <ac:spMkLst>
            <pc:docMk/>
            <pc:sldMk cId="976888323" sldId="465"/>
            <ac:spMk id="11" creationId="{BAD447C6-25D9-1539-E414-DEE889C909B1}"/>
          </ac:spMkLst>
        </pc:spChg>
        <pc:spChg chg="mod">
          <ac:chgData name="Lorenzo Bonatti" userId="eb7d5939a7cf9b59" providerId="LiveId" clId="{77A379B2-57C7-4B8A-BF0B-1922F3ED340C}" dt="2025-02-13T23:06:17.646" v="118" actId="1076"/>
          <ac:spMkLst>
            <pc:docMk/>
            <pc:sldMk cId="976888323" sldId="465"/>
            <ac:spMk id="13" creationId="{E0DA2063-4B39-D8AC-C420-F2BDBFB85666}"/>
          </ac:spMkLst>
        </pc:spChg>
        <pc:picChg chg="add mod">
          <ac:chgData name="Lorenzo Bonatti" userId="eb7d5939a7cf9b59" providerId="LiveId" clId="{77A379B2-57C7-4B8A-BF0B-1922F3ED340C}" dt="2025-02-13T23:05:29.845" v="103" actId="14100"/>
          <ac:picMkLst>
            <pc:docMk/>
            <pc:sldMk cId="976888323" sldId="465"/>
            <ac:picMk id="3" creationId="{18382BC6-CBCE-42AF-F7FE-36262C422EFA}"/>
          </ac:picMkLst>
        </pc:picChg>
        <pc:picChg chg="del">
          <ac:chgData name="Lorenzo Bonatti" userId="eb7d5939a7cf9b59" providerId="LiveId" clId="{77A379B2-57C7-4B8A-BF0B-1922F3ED340C}" dt="2025-02-13T23:03:15.222" v="52" actId="21"/>
          <ac:picMkLst>
            <pc:docMk/>
            <pc:sldMk cId="976888323" sldId="465"/>
            <ac:picMk id="9" creationId="{29EC4227-4155-014E-ADDF-546E98BFD078}"/>
          </ac:picMkLst>
        </pc:picChg>
        <pc:picChg chg="mod">
          <ac:chgData name="Lorenzo Bonatti" userId="eb7d5939a7cf9b59" providerId="LiveId" clId="{77A379B2-57C7-4B8A-BF0B-1922F3ED340C}" dt="2025-02-13T23:04:40.539" v="64" actId="1076"/>
          <ac:picMkLst>
            <pc:docMk/>
            <pc:sldMk cId="976888323" sldId="465"/>
            <ac:picMk id="16" creationId="{3BF21F9E-95B7-51DF-25D7-E5647625E464}"/>
          </ac:picMkLst>
        </pc:picChg>
        <pc:cxnChg chg="mod">
          <ac:chgData name="Lorenzo Bonatti" userId="eb7d5939a7cf9b59" providerId="LiveId" clId="{77A379B2-57C7-4B8A-BF0B-1922F3ED340C}" dt="2025-02-13T23:06:41.106" v="119" actId="14100"/>
          <ac:cxnSpMkLst>
            <pc:docMk/>
            <pc:sldMk cId="976888323" sldId="465"/>
            <ac:cxnSpMk id="8" creationId="{30E355B7-EDD5-7167-C2BC-F73FABEAEDE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DA2DF9-DB06-41D1-96E2-1D3468E169C4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AEBEF-AB92-45B4-82AA-CCDF67A62CF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52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4992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4498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8812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3979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2041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6435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28423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845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6819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3180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705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2985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4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804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1471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2443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2859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4106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42131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0822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038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6914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26189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5047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43901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8596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4443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31226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95866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4431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64440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56199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16839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33566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98728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85756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41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24408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42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1847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9820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01666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45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10896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AEBEF-AB92-45B4-82AA-CCDF67A62CF0}" type="slidenum">
              <a:rPr lang="it-IT" smtClean="0"/>
              <a:t>51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155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5BFF-319E-FF2D-BDED-09EA840DB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AD8F6-8645-FB14-0986-D5C03C2EC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F7666-1C68-1322-408B-22FC2DC4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1BFA2-FC5F-B6D2-ED76-92A25541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CC23C-5934-21DB-2438-8048C0F5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434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EF3F-C76B-D478-4986-3CE2146B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9FF16-939E-7E72-774C-DA34B592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8E85-D58F-525F-120A-14D1120A3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70285-76A3-CD6F-8519-351BABEF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3629C-43DE-FD4A-8444-C962D313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584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4AF83-F062-C440-4847-376C51E67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DEC72-2FC9-67AE-0A69-496AE25AF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F746D-6983-A130-6427-2D482F08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6FF3D-6BCE-5729-EA32-A640F6E0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9D148-047D-8475-6A51-CB264081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915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8A53A-A7FB-B613-EC47-1817A40D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5F241-0D40-36BD-05C0-E2988FA05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4BBA0-8C82-3422-3B2C-6F6478FF7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2BF6B-1277-E2A0-45B0-4B2A16B11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A844D-C31F-B17F-99D8-173A751F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60BF6-CABA-E25E-D6BE-CC0C8330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468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4132-F805-219A-E56B-170511D7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30A6D-35F3-B602-8B7B-F575D2DE7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4F36-AE3B-C16D-19B9-BEDA7C4F8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86C88-B211-B1E0-6B83-799E62F48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B8F5F1-CEB6-1280-4078-6CF51E3DA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2C5B08-9A72-1F34-989A-7B90C0D3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DD99D5-967B-E38B-7CE8-663CB4E2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248F6-7D57-246D-B16F-5669B8D27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347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966BC-66F9-0BB6-F61F-6A59AE5D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611FA-46D8-F04E-5C61-BC8C2BEF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AE42E-720F-4277-573E-EE5974DE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211945-7EB1-F6B4-59DA-A170C581C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2348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AD4C22-3084-E9DD-E722-B5C313E5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18BD3-F164-0973-37AB-BC8DB56E7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0E8C5-66A1-1386-7042-0B068AC02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073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C0BD3-6CAB-EACB-A8A0-BCC1874B3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1339F-901B-338F-723C-4EC74648C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3E7F9-89E6-46AD-13BC-E95A369D5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36CE6-3F68-06C7-9C71-DB684792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C25BC-C2E9-E162-A4D0-6974829E5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C9DB1-B4FC-A39C-006E-0567A4C7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00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778E-9E07-E351-BE96-B7428258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B0EE8-B43E-464A-EB6D-B8DF68732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E592D-4D35-3DFC-32FE-C1931148DF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1F581-A23A-DE18-069F-7889CF4BD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86C9C-3A12-3CF7-5558-45B2E0E3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895C7-A00D-283B-C2C5-BAFDBDD8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0823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4243-DCBF-16C9-2BD3-C3F78400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30E6A-244F-5B76-1490-621618B4A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2CA91-AD2A-3BF8-CA07-26240FF0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E89CD-C49B-B27D-A9EA-AF732CDE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807CE-13BB-2E32-099E-B0340DAC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1421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AB4D2-3438-D84B-5D5D-054A882C48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70C98-70E0-DF1C-DD85-7E5CFC9B8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BE57F-3C73-533A-127B-94598C6EF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057A8-6AC3-759A-901B-B73F49A1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D2816-1E76-77D6-602B-A1FBAEED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722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B90B-821D-A708-D307-AA5FDEB0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B287D-C88D-C082-9F6F-032F594B7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B6F4B-A7FD-B5A9-4069-133CFBBA4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EF3E9-10B7-48FD-93C8-4B36ACE7ABA6}" type="datetimeFigureOut">
              <a:rPr lang="it-IT" smtClean="0"/>
              <a:t>14/02/2025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646FB-F7DE-2135-BBF6-2F6EE5E0A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1820E-2658-C504-6F28-39B72ACF6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662D5-54C2-4E9A-AB35-33AA3BA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51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4.sv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1.png"/><Relationship Id="rId17" Type="http://schemas.openxmlformats.org/officeDocument/2006/relationships/image" Target="../media/image46.png"/><Relationship Id="rId2" Type="http://schemas.openxmlformats.org/officeDocument/2006/relationships/image" Target="../media/image32.png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3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1.png"/><Relationship Id="rId17" Type="http://schemas.openxmlformats.org/officeDocument/2006/relationships/image" Target="../media/image46.png"/><Relationship Id="rId2" Type="http://schemas.openxmlformats.org/officeDocument/2006/relationships/image" Target="../media/image32.png"/><Relationship Id="rId16" Type="http://schemas.openxmlformats.org/officeDocument/2006/relationships/image" Target="../media/image45.svg"/><Relationship Id="rId20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19" Type="http://schemas.openxmlformats.org/officeDocument/2006/relationships/image" Target="../media/image11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3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1.png"/><Relationship Id="rId17" Type="http://schemas.openxmlformats.org/officeDocument/2006/relationships/image" Target="../media/image46.png"/><Relationship Id="rId2" Type="http://schemas.openxmlformats.org/officeDocument/2006/relationships/image" Target="../media/image32.png"/><Relationship Id="rId16" Type="http://schemas.openxmlformats.org/officeDocument/2006/relationships/image" Target="../media/image45.svg"/><Relationship Id="rId20" Type="http://schemas.openxmlformats.org/officeDocument/2006/relationships/image" Target="../media/image1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4.png"/><Relationship Id="rId10" Type="http://schemas.openxmlformats.org/officeDocument/2006/relationships/image" Target="../media/image40.png"/><Relationship Id="rId19" Type="http://schemas.openxmlformats.org/officeDocument/2006/relationships/image" Target="../media/image11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3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29.svg"/><Relationship Id="rId5" Type="http://schemas.openxmlformats.org/officeDocument/2006/relationships/image" Target="../media/image43.svg"/><Relationship Id="rId10" Type="http://schemas.openxmlformats.org/officeDocument/2006/relationships/image" Target="../media/image28.png"/><Relationship Id="rId4" Type="http://schemas.openxmlformats.org/officeDocument/2006/relationships/image" Target="../media/image42.png"/><Relationship Id="rId9" Type="http://schemas.openxmlformats.org/officeDocument/2006/relationships/image" Target="../media/image47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1.pn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12" Type="http://schemas.openxmlformats.org/officeDocument/2006/relationships/image" Target="../media/image60.svg"/><Relationship Id="rId2" Type="http://schemas.openxmlformats.org/officeDocument/2006/relationships/image" Target="../media/image51.png"/><Relationship Id="rId16" Type="http://schemas.openxmlformats.org/officeDocument/2006/relationships/image" Target="../media/image6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svg"/><Relationship Id="rId15" Type="http://schemas.openxmlformats.org/officeDocument/2006/relationships/image" Target="../media/image63.png"/><Relationship Id="rId10" Type="http://schemas.openxmlformats.org/officeDocument/2006/relationships/image" Target="../media/image1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Relationship Id="rId14" Type="http://schemas.openxmlformats.org/officeDocument/2006/relationships/image" Target="../media/image62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svg"/><Relationship Id="rId18" Type="http://schemas.openxmlformats.org/officeDocument/2006/relationships/image" Target="../media/image82.svg"/><Relationship Id="rId3" Type="http://schemas.openxmlformats.org/officeDocument/2006/relationships/image" Target="../media/image70.svg"/><Relationship Id="rId21" Type="http://schemas.openxmlformats.org/officeDocument/2006/relationships/image" Target="../media/image83.png"/><Relationship Id="rId7" Type="http://schemas.openxmlformats.org/officeDocument/2006/relationships/image" Target="../media/image39.svg"/><Relationship Id="rId12" Type="http://schemas.openxmlformats.org/officeDocument/2006/relationships/image" Target="../media/image77.png"/><Relationship Id="rId17" Type="http://schemas.openxmlformats.org/officeDocument/2006/relationships/image" Target="../media/image81.png"/><Relationship Id="rId2" Type="http://schemas.openxmlformats.org/officeDocument/2006/relationships/image" Target="../media/image69.png"/><Relationship Id="rId16" Type="http://schemas.openxmlformats.org/officeDocument/2006/relationships/image" Target="../media/image1.png"/><Relationship Id="rId20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76.svg"/><Relationship Id="rId5" Type="http://schemas.openxmlformats.org/officeDocument/2006/relationships/image" Target="../media/image72.svg"/><Relationship Id="rId15" Type="http://schemas.openxmlformats.org/officeDocument/2006/relationships/image" Target="../media/image80.svg"/><Relationship Id="rId10" Type="http://schemas.openxmlformats.org/officeDocument/2006/relationships/image" Target="../media/image75.png"/><Relationship Id="rId19" Type="http://schemas.openxmlformats.org/officeDocument/2006/relationships/image" Target="../media/image9.png"/><Relationship Id="rId4" Type="http://schemas.openxmlformats.org/officeDocument/2006/relationships/image" Target="../media/image71.png"/><Relationship Id="rId9" Type="http://schemas.openxmlformats.org/officeDocument/2006/relationships/image" Target="../media/image74.svg"/><Relationship Id="rId14" Type="http://schemas.openxmlformats.org/officeDocument/2006/relationships/image" Target="../media/image79.png"/><Relationship Id="rId22" Type="http://schemas.openxmlformats.org/officeDocument/2006/relationships/image" Target="../media/image84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svg"/><Relationship Id="rId18" Type="http://schemas.openxmlformats.org/officeDocument/2006/relationships/image" Target="../media/image82.svg"/><Relationship Id="rId3" Type="http://schemas.openxmlformats.org/officeDocument/2006/relationships/image" Target="../media/image70.svg"/><Relationship Id="rId21" Type="http://schemas.openxmlformats.org/officeDocument/2006/relationships/image" Target="../media/image83.png"/><Relationship Id="rId7" Type="http://schemas.openxmlformats.org/officeDocument/2006/relationships/image" Target="../media/image39.svg"/><Relationship Id="rId12" Type="http://schemas.openxmlformats.org/officeDocument/2006/relationships/image" Target="../media/image77.png"/><Relationship Id="rId17" Type="http://schemas.openxmlformats.org/officeDocument/2006/relationships/image" Target="../media/image81.png"/><Relationship Id="rId2" Type="http://schemas.openxmlformats.org/officeDocument/2006/relationships/image" Target="../media/image69.png"/><Relationship Id="rId16" Type="http://schemas.openxmlformats.org/officeDocument/2006/relationships/image" Target="../media/image1.png"/><Relationship Id="rId20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76.svg"/><Relationship Id="rId5" Type="http://schemas.openxmlformats.org/officeDocument/2006/relationships/image" Target="../media/image72.svg"/><Relationship Id="rId15" Type="http://schemas.openxmlformats.org/officeDocument/2006/relationships/image" Target="../media/image80.svg"/><Relationship Id="rId10" Type="http://schemas.openxmlformats.org/officeDocument/2006/relationships/image" Target="../media/image75.png"/><Relationship Id="rId19" Type="http://schemas.openxmlformats.org/officeDocument/2006/relationships/image" Target="../media/image9.png"/><Relationship Id="rId4" Type="http://schemas.openxmlformats.org/officeDocument/2006/relationships/image" Target="../media/image71.png"/><Relationship Id="rId9" Type="http://schemas.openxmlformats.org/officeDocument/2006/relationships/image" Target="../media/image74.svg"/><Relationship Id="rId14" Type="http://schemas.openxmlformats.org/officeDocument/2006/relationships/image" Target="../media/image79.png"/><Relationship Id="rId22" Type="http://schemas.openxmlformats.org/officeDocument/2006/relationships/image" Target="../media/image84.sv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svg"/><Relationship Id="rId18" Type="http://schemas.openxmlformats.org/officeDocument/2006/relationships/image" Target="../media/image82.svg"/><Relationship Id="rId3" Type="http://schemas.openxmlformats.org/officeDocument/2006/relationships/image" Target="../media/image70.svg"/><Relationship Id="rId21" Type="http://schemas.openxmlformats.org/officeDocument/2006/relationships/image" Target="../media/image83.png"/><Relationship Id="rId7" Type="http://schemas.openxmlformats.org/officeDocument/2006/relationships/image" Target="../media/image39.svg"/><Relationship Id="rId12" Type="http://schemas.openxmlformats.org/officeDocument/2006/relationships/image" Target="../media/image77.png"/><Relationship Id="rId17" Type="http://schemas.openxmlformats.org/officeDocument/2006/relationships/image" Target="../media/image81.png"/><Relationship Id="rId2" Type="http://schemas.openxmlformats.org/officeDocument/2006/relationships/image" Target="../media/image69.png"/><Relationship Id="rId16" Type="http://schemas.openxmlformats.org/officeDocument/2006/relationships/image" Target="../media/image1.png"/><Relationship Id="rId20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76.svg"/><Relationship Id="rId24" Type="http://schemas.openxmlformats.org/officeDocument/2006/relationships/image" Target="../media/image86.svg"/><Relationship Id="rId5" Type="http://schemas.openxmlformats.org/officeDocument/2006/relationships/image" Target="../media/image72.svg"/><Relationship Id="rId15" Type="http://schemas.openxmlformats.org/officeDocument/2006/relationships/image" Target="../media/image80.svg"/><Relationship Id="rId23" Type="http://schemas.openxmlformats.org/officeDocument/2006/relationships/image" Target="../media/image85.png"/><Relationship Id="rId10" Type="http://schemas.openxmlformats.org/officeDocument/2006/relationships/image" Target="../media/image75.png"/><Relationship Id="rId19" Type="http://schemas.openxmlformats.org/officeDocument/2006/relationships/image" Target="../media/image9.png"/><Relationship Id="rId4" Type="http://schemas.openxmlformats.org/officeDocument/2006/relationships/image" Target="../media/image71.png"/><Relationship Id="rId9" Type="http://schemas.openxmlformats.org/officeDocument/2006/relationships/image" Target="../media/image74.svg"/><Relationship Id="rId14" Type="http://schemas.openxmlformats.org/officeDocument/2006/relationships/image" Target="../media/image79.png"/><Relationship Id="rId22" Type="http://schemas.openxmlformats.org/officeDocument/2006/relationships/image" Target="../media/image84.sv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svg"/><Relationship Id="rId18" Type="http://schemas.openxmlformats.org/officeDocument/2006/relationships/image" Target="../media/image82.svg"/><Relationship Id="rId3" Type="http://schemas.openxmlformats.org/officeDocument/2006/relationships/image" Target="../media/image70.svg"/><Relationship Id="rId21" Type="http://schemas.openxmlformats.org/officeDocument/2006/relationships/image" Target="../media/image83.png"/><Relationship Id="rId7" Type="http://schemas.openxmlformats.org/officeDocument/2006/relationships/image" Target="../media/image39.svg"/><Relationship Id="rId12" Type="http://schemas.openxmlformats.org/officeDocument/2006/relationships/image" Target="../media/image77.png"/><Relationship Id="rId17" Type="http://schemas.openxmlformats.org/officeDocument/2006/relationships/image" Target="../media/image81.png"/><Relationship Id="rId2" Type="http://schemas.openxmlformats.org/officeDocument/2006/relationships/image" Target="../media/image69.png"/><Relationship Id="rId16" Type="http://schemas.openxmlformats.org/officeDocument/2006/relationships/image" Target="../media/image1.png"/><Relationship Id="rId20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76.svg"/><Relationship Id="rId24" Type="http://schemas.openxmlformats.org/officeDocument/2006/relationships/image" Target="../media/image86.svg"/><Relationship Id="rId5" Type="http://schemas.openxmlformats.org/officeDocument/2006/relationships/image" Target="../media/image72.svg"/><Relationship Id="rId15" Type="http://schemas.openxmlformats.org/officeDocument/2006/relationships/image" Target="../media/image80.svg"/><Relationship Id="rId23" Type="http://schemas.openxmlformats.org/officeDocument/2006/relationships/image" Target="../media/image85.png"/><Relationship Id="rId10" Type="http://schemas.openxmlformats.org/officeDocument/2006/relationships/image" Target="../media/image75.png"/><Relationship Id="rId19" Type="http://schemas.openxmlformats.org/officeDocument/2006/relationships/image" Target="../media/image9.png"/><Relationship Id="rId4" Type="http://schemas.openxmlformats.org/officeDocument/2006/relationships/image" Target="../media/image71.png"/><Relationship Id="rId9" Type="http://schemas.openxmlformats.org/officeDocument/2006/relationships/image" Target="../media/image74.svg"/><Relationship Id="rId14" Type="http://schemas.openxmlformats.org/officeDocument/2006/relationships/image" Target="../media/image79.png"/><Relationship Id="rId22" Type="http://schemas.openxmlformats.org/officeDocument/2006/relationships/image" Target="../media/image84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8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10.sv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73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78.svg"/><Relationship Id="rId4" Type="http://schemas.openxmlformats.org/officeDocument/2006/relationships/image" Target="../media/image74.svg"/><Relationship Id="rId9" Type="http://schemas.openxmlformats.org/officeDocument/2006/relationships/image" Target="../media/image77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77.png"/><Relationship Id="rId7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80.svg"/><Relationship Id="rId4" Type="http://schemas.openxmlformats.org/officeDocument/2006/relationships/image" Target="../media/image78.svg"/><Relationship Id="rId9" Type="http://schemas.openxmlformats.org/officeDocument/2006/relationships/image" Target="../media/image79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75.png"/><Relationship Id="rId7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6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2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2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2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1.png"/><Relationship Id="rId18" Type="http://schemas.openxmlformats.org/officeDocument/2006/relationships/image" Target="../media/image31.sv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12" Type="http://schemas.openxmlformats.org/officeDocument/2006/relationships/image" Target="../media/image100.svg"/><Relationship Id="rId17" Type="http://schemas.openxmlformats.org/officeDocument/2006/relationships/image" Target="../media/image30.png"/><Relationship Id="rId2" Type="http://schemas.openxmlformats.org/officeDocument/2006/relationships/image" Target="../media/image51.png"/><Relationship Id="rId16" Type="http://schemas.openxmlformats.org/officeDocument/2006/relationships/image" Target="../media/image6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99.png"/><Relationship Id="rId5" Type="http://schemas.openxmlformats.org/officeDocument/2006/relationships/image" Target="../media/image54.svg"/><Relationship Id="rId15" Type="http://schemas.openxmlformats.org/officeDocument/2006/relationships/image" Target="../media/image63.png"/><Relationship Id="rId10" Type="http://schemas.openxmlformats.org/officeDocument/2006/relationships/image" Target="../media/image1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Relationship Id="rId14" Type="http://schemas.openxmlformats.org/officeDocument/2006/relationships/image" Target="../media/image62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svg"/><Relationship Id="rId4" Type="http://schemas.openxmlformats.org/officeDocument/2006/relationships/image" Target="../media/image10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svg"/><Relationship Id="rId4" Type="http://schemas.openxmlformats.org/officeDocument/2006/relationships/image" Target="../media/image10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svg"/><Relationship Id="rId4" Type="http://schemas.openxmlformats.org/officeDocument/2006/relationships/image" Target="../media/image10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svg"/><Relationship Id="rId4" Type="http://schemas.openxmlformats.org/officeDocument/2006/relationships/image" Target="../media/image102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10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svg"/><Relationship Id="rId4" Type="http://schemas.openxmlformats.org/officeDocument/2006/relationships/image" Target="../media/image106.png"/><Relationship Id="rId9" Type="http://schemas.openxmlformats.org/officeDocument/2006/relationships/image" Target="../media/image29.sv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10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svg"/><Relationship Id="rId10" Type="http://schemas.openxmlformats.org/officeDocument/2006/relationships/image" Target="../media/image110.png"/><Relationship Id="rId4" Type="http://schemas.openxmlformats.org/officeDocument/2006/relationships/image" Target="../media/image106.png"/><Relationship Id="rId9" Type="http://schemas.openxmlformats.org/officeDocument/2006/relationships/image" Target="../media/image31.sv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sv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sv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svg"/><Relationship Id="rId5" Type="http://schemas.openxmlformats.org/officeDocument/2006/relationships/image" Target="../media/image115.png"/><Relationship Id="rId4" Type="http://schemas.openxmlformats.org/officeDocument/2006/relationships/image" Target="../media/image114.sv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sv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10" Type="http://schemas.openxmlformats.org/officeDocument/2006/relationships/image" Target="../media/image118.svg"/><Relationship Id="rId4" Type="http://schemas.openxmlformats.org/officeDocument/2006/relationships/image" Target="../media/image112.svg"/><Relationship Id="rId9" Type="http://schemas.openxmlformats.org/officeDocument/2006/relationships/image" Target="../media/image117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svg"/><Relationship Id="rId13" Type="http://schemas.openxmlformats.org/officeDocument/2006/relationships/image" Target="../media/image123.png"/><Relationship Id="rId3" Type="http://schemas.openxmlformats.org/officeDocument/2006/relationships/image" Target="../media/image115.png"/><Relationship Id="rId7" Type="http://schemas.openxmlformats.org/officeDocument/2006/relationships/image" Target="../media/image113.png"/><Relationship Id="rId12" Type="http://schemas.openxmlformats.org/officeDocument/2006/relationships/image" Target="../media/image1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11" Type="http://schemas.openxmlformats.org/officeDocument/2006/relationships/image" Target="../media/image121.png"/><Relationship Id="rId5" Type="http://schemas.openxmlformats.org/officeDocument/2006/relationships/image" Target="../media/image30.png"/><Relationship Id="rId10" Type="http://schemas.openxmlformats.org/officeDocument/2006/relationships/image" Target="../media/image120.svg"/><Relationship Id="rId4" Type="http://schemas.openxmlformats.org/officeDocument/2006/relationships/image" Target="../media/image116.svg"/><Relationship Id="rId9" Type="http://schemas.openxmlformats.org/officeDocument/2006/relationships/image" Target="../media/image119.png"/><Relationship Id="rId14" Type="http://schemas.openxmlformats.org/officeDocument/2006/relationships/image" Target="../media/image124.sv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121.png"/><Relationship Id="rId3" Type="http://schemas.openxmlformats.org/officeDocument/2006/relationships/image" Target="../media/image111.png"/><Relationship Id="rId7" Type="http://schemas.openxmlformats.org/officeDocument/2006/relationships/image" Target="../media/image30.png"/><Relationship Id="rId12" Type="http://schemas.openxmlformats.org/officeDocument/2006/relationships/image" Target="../media/image120.svg"/><Relationship Id="rId2" Type="http://schemas.openxmlformats.org/officeDocument/2006/relationships/image" Target="../media/image1.png"/><Relationship Id="rId16" Type="http://schemas.openxmlformats.org/officeDocument/2006/relationships/image" Target="../media/image12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svg"/><Relationship Id="rId11" Type="http://schemas.openxmlformats.org/officeDocument/2006/relationships/image" Target="../media/image119.png"/><Relationship Id="rId5" Type="http://schemas.openxmlformats.org/officeDocument/2006/relationships/image" Target="../media/image115.png"/><Relationship Id="rId15" Type="http://schemas.openxmlformats.org/officeDocument/2006/relationships/image" Target="../media/image123.png"/><Relationship Id="rId10" Type="http://schemas.openxmlformats.org/officeDocument/2006/relationships/image" Target="../media/image114.svg"/><Relationship Id="rId4" Type="http://schemas.openxmlformats.org/officeDocument/2006/relationships/image" Target="../media/image112.svg"/><Relationship Id="rId9" Type="http://schemas.openxmlformats.org/officeDocument/2006/relationships/image" Target="../media/image113.png"/><Relationship Id="rId14" Type="http://schemas.openxmlformats.org/officeDocument/2006/relationships/image" Target="../media/image122.sv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svg"/><Relationship Id="rId3" Type="http://schemas.openxmlformats.org/officeDocument/2006/relationships/image" Target="../media/image30.png"/><Relationship Id="rId7" Type="http://schemas.openxmlformats.org/officeDocument/2006/relationships/image" Target="../media/image1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4" Type="http://schemas.openxmlformats.org/officeDocument/2006/relationships/image" Target="../media/image31.sv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30.png"/><Relationship Id="rId7" Type="http://schemas.openxmlformats.org/officeDocument/2006/relationships/image" Target="../media/image1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10" Type="http://schemas.openxmlformats.org/officeDocument/2006/relationships/image" Target="../media/image122.svg"/><Relationship Id="rId4" Type="http://schemas.openxmlformats.org/officeDocument/2006/relationships/image" Target="../media/image31.svg"/><Relationship Id="rId9" Type="http://schemas.openxmlformats.org/officeDocument/2006/relationships/image" Target="../media/image121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30.png"/><Relationship Id="rId7" Type="http://schemas.openxmlformats.org/officeDocument/2006/relationships/image" Target="../media/image119.png"/><Relationship Id="rId12" Type="http://schemas.openxmlformats.org/officeDocument/2006/relationships/image" Target="../media/image1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svg"/><Relationship Id="rId11" Type="http://schemas.openxmlformats.org/officeDocument/2006/relationships/image" Target="../media/image123.png"/><Relationship Id="rId5" Type="http://schemas.openxmlformats.org/officeDocument/2006/relationships/image" Target="../media/image113.png"/><Relationship Id="rId10" Type="http://schemas.openxmlformats.org/officeDocument/2006/relationships/image" Target="../media/image122.svg"/><Relationship Id="rId4" Type="http://schemas.openxmlformats.org/officeDocument/2006/relationships/image" Target="../media/image31.svg"/><Relationship Id="rId9" Type="http://schemas.openxmlformats.org/officeDocument/2006/relationships/image" Target="../media/image121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svg"/><Relationship Id="rId13" Type="http://schemas.openxmlformats.org/officeDocument/2006/relationships/image" Target="../media/image123.png"/><Relationship Id="rId3" Type="http://schemas.openxmlformats.org/officeDocument/2006/relationships/image" Target="../media/image115.png"/><Relationship Id="rId7" Type="http://schemas.openxmlformats.org/officeDocument/2006/relationships/image" Target="../media/image113.png"/><Relationship Id="rId12" Type="http://schemas.openxmlformats.org/officeDocument/2006/relationships/image" Target="../media/image12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11" Type="http://schemas.openxmlformats.org/officeDocument/2006/relationships/image" Target="../media/image121.png"/><Relationship Id="rId5" Type="http://schemas.openxmlformats.org/officeDocument/2006/relationships/image" Target="../media/image30.png"/><Relationship Id="rId10" Type="http://schemas.openxmlformats.org/officeDocument/2006/relationships/image" Target="../media/image120.svg"/><Relationship Id="rId4" Type="http://schemas.openxmlformats.org/officeDocument/2006/relationships/image" Target="../media/image116.svg"/><Relationship Id="rId9" Type="http://schemas.openxmlformats.org/officeDocument/2006/relationships/image" Target="../media/image119.png"/><Relationship Id="rId14" Type="http://schemas.openxmlformats.org/officeDocument/2006/relationships/image" Target="../media/image124.sv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svg"/><Relationship Id="rId13" Type="http://schemas.openxmlformats.org/officeDocument/2006/relationships/image" Target="../media/image123.png"/><Relationship Id="rId3" Type="http://schemas.openxmlformats.org/officeDocument/2006/relationships/image" Target="../media/image115.png"/><Relationship Id="rId7" Type="http://schemas.openxmlformats.org/officeDocument/2006/relationships/image" Target="../media/image113.png"/><Relationship Id="rId12" Type="http://schemas.openxmlformats.org/officeDocument/2006/relationships/image" Target="../media/image1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11" Type="http://schemas.openxmlformats.org/officeDocument/2006/relationships/image" Target="../media/image125.png"/><Relationship Id="rId5" Type="http://schemas.openxmlformats.org/officeDocument/2006/relationships/image" Target="../media/image30.png"/><Relationship Id="rId10" Type="http://schemas.openxmlformats.org/officeDocument/2006/relationships/image" Target="../media/image120.svg"/><Relationship Id="rId4" Type="http://schemas.openxmlformats.org/officeDocument/2006/relationships/image" Target="../media/image116.svg"/><Relationship Id="rId9" Type="http://schemas.openxmlformats.org/officeDocument/2006/relationships/image" Target="../media/image119.png"/><Relationship Id="rId14" Type="http://schemas.openxmlformats.org/officeDocument/2006/relationships/image" Target="../media/image124.sv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svg"/><Relationship Id="rId4" Type="http://schemas.openxmlformats.org/officeDocument/2006/relationships/image" Target="../media/image12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svg"/><Relationship Id="rId4" Type="http://schemas.openxmlformats.org/officeDocument/2006/relationships/image" Target="../media/image127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svg"/><Relationship Id="rId4" Type="http://schemas.openxmlformats.org/officeDocument/2006/relationships/image" Target="../media/image127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svg"/><Relationship Id="rId4" Type="http://schemas.openxmlformats.org/officeDocument/2006/relationships/image" Target="../media/image127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sv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sv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31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13" Type="http://schemas.openxmlformats.org/officeDocument/2006/relationships/image" Target="../media/image30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svg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0" Type="http://schemas.openxmlformats.org/officeDocument/2006/relationships/image" Target="../media/image116.svg"/><Relationship Id="rId4" Type="http://schemas.openxmlformats.org/officeDocument/2006/relationships/image" Target="../media/image132.svg"/><Relationship Id="rId9" Type="http://schemas.openxmlformats.org/officeDocument/2006/relationships/image" Target="../media/image115.png"/><Relationship Id="rId14" Type="http://schemas.openxmlformats.org/officeDocument/2006/relationships/image" Target="../media/image31.sv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13" Type="http://schemas.openxmlformats.org/officeDocument/2006/relationships/image" Target="../media/image30.png"/><Relationship Id="rId18" Type="http://schemas.openxmlformats.org/officeDocument/2006/relationships/image" Target="../media/image11.png"/><Relationship Id="rId3" Type="http://schemas.openxmlformats.org/officeDocument/2006/relationships/image" Target="../media/image131.png"/><Relationship Id="rId21" Type="http://schemas.openxmlformats.org/officeDocument/2006/relationships/image" Target="../media/image128.svg"/><Relationship Id="rId7" Type="http://schemas.openxmlformats.org/officeDocument/2006/relationships/image" Target="../media/image135.png"/><Relationship Id="rId12" Type="http://schemas.openxmlformats.org/officeDocument/2006/relationships/image" Target="../media/image118.svg"/><Relationship Id="rId17" Type="http://schemas.openxmlformats.org/officeDocument/2006/relationships/image" Target="../media/image138.svg"/><Relationship Id="rId2" Type="http://schemas.openxmlformats.org/officeDocument/2006/relationships/image" Target="../media/image1.png"/><Relationship Id="rId16" Type="http://schemas.openxmlformats.org/officeDocument/2006/relationships/image" Target="../media/image137.png"/><Relationship Id="rId20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svg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5" Type="http://schemas.openxmlformats.org/officeDocument/2006/relationships/image" Target="../media/image7.png"/><Relationship Id="rId10" Type="http://schemas.openxmlformats.org/officeDocument/2006/relationships/image" Target="../media/image116.svg"/><Relationship Id="rId19" Type="http://schemas.openxmlformats.org/officeDocument/2006/relationships/image" Target="../media/image12.svg"/><Relationship Id="rId4" Type="http://schemas.openxmlformats.org/officeDocument/2006/relationships/image" Target="../media/image132.svg"/><Relationship Id="rId9" Type="http://schemas.openxmlformats.org/officeDocument/2006/relationships/image" Target="../media/image115.png"/><Relationship Id="rId14" Type="http://schemas.openxmlformats.org/officeDocument/2006/relationships/image" Target="../media/image31.sv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13" Type="http://schemas.openxmlformats.org/officeDocument/2006/relationships/image" Target="../media/image30.png"/><Relationship Id="rId18" Type="http://schemas.openxmlformats.org/officeDocument/2006/relationships/image" Target="../media/image139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18.svg"/><Relationship Id="rId17" Type="http://schemas.openxmlformats.org/officeDocument/2006/relationships/image" Target="../media/image12.sv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svg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5" Type="http://schemas.openxmlformats.org/officeDocument/2006/relationships/image" Target="../media/image7.png"/><Relationship Id="rId10" Type="http://schemas.openxmlformats.org/officeDocument/2006/relationships/image" Target="../media/image116.svg"/><Relationship Id="rId19" Type="http://schemas.openxmlformats.org/officeDocument/2006/relationships/image" Target="../media/image140.svg"/><Relationship Id="rId4" Type="http://schemas.openxmlformats.org/officeDocument/2006/relationships/image" Target="../media/image132.svg"/><Relationship Id="rId9" Type="http://schemas.openxmlformats.org/officeDocument/2006/relationships/image" Target="../media/image115.png"/><Relationship Id="rId14" Type="http://schemas.openxmlformats.org/officeDocument/2006/relationships/image" Target="../media/image31.sv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svg"/><Relationship Id="rId3" Type="http://schemas.openxmlformats.org/officeDocument/2006/relationships/image" Target="../media/image131.png"/><Relationship Id="rId7" Type="http://schemas.openxmlformats.org/officeDocument/2006/relationships/image" Target="../media/image141.png"/><Relationship Id="rId12" Type="http://schemas.openxmlformats.org/officeDocument/2006/relationships/image" Target="../media/image3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svg"/><Relationship Id="rId11" Type="http://schemas.openxmlformats.org/officeDocument/2006/relationships/image" Target="../media/image30.png"/><Relationship Id="rId5" Type="http://schemas.openxmlformats.org/officeDocument/2006/relationships/image" Target="../media/image139.png"/><Relationship Id="rId10" Type="http://schemas.openxmlformats.org/officeDocument/2006/relationships/image" Target="../media/image144.svg"/><Relationship Id="rId4" Type="http://schemas.openxmlformats.org/officeDocument/2006/relationships/image" Target="../media/image132.svg"/><Relationship Id="rId9" Type="http://schemas.openxmlformats.org/officeDocument/2006/relationships/image" Target="../media/image143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svg"/><Relationship Id="rId13" Type="http://schemas.openxmlformats.org/officeDocument/2006/relationships/image" Target="../media/image143.png"/><Relationship Id="rId3" Type="http://schemas.openxmlformats.org/officeDocument/2006/relationships/image" Target="../media/image131.png"/><Relationship Id="rId7" Type="http://schemas.openxmlformats.org/officeDocument/2006/relationships/image" Target="../media/image141.png"/><Relationship Id="rId12" Type="http://schemas.openxmlformats.org/officeDocument/2006/relationships/image" Target="../media/image128.svg"/><Relationship Id="rId2" Type="http://schemas.openxmlformats.org/officeDocument/2006/relationships/image" Target="../media/image1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svg"/><Relationship Id="rId11" Type="http://schemas.openxmlformats.org/officeDocument/2006/relationships/image" Target="../media/image127.png"/><Relationship Id="rId5" Type="http://schemas.openxmlformats.org/officeDocument/2006/relationships/image" Target="../media/image139.png"/><Relationship Id="rId15" Type="http://schemas.openxmlformats.org/officeDocument/2006/relationships/image" Target="../media/image30.png"/><Relationship Id="rId10" Type="http://schemas.openxmlformats.org/officeDocument/2006/relationships/image" Target="../media/image120.svg"/><Relationship Id="rId4" Type="http://schemas.openxmlformats.org/officeDocument/2006/relationships/image" Target="../media/image132.svg"/><Relationship Id="rId9" Type="http://schemas.openxmlformats.org/officeDocument/2006/relationships/image" Target="../media/image119.png"/><Relationship Id="rId14" Type="http://schemas.openxmlformats.org/officeDocument/2006/relationships/image" Target="../media/image144.sv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svg"/><Relationship Id="rId13" Type="http://schemas.openxmlformats.org/officeDocument/2006/relationships/image" Target="../media/image143.png"/><Relationship Id="rId18" Type="http://schemas.openxmlformats.org/officeDocument/2006/relationships/image" Target="../media/image12.svg"/><Relationship Id="rId3" Type="http://schemas.openxmlformats.org/officeDocument/2006/relationships/image" Target="../media/image131.png"/><Relationship Id="rId7" Type="http://schemas.openxmlformats.org/officeDocument/2006/relationships/image" Target="../media/image141.png"/><Relationship Id="rId12" Type="http://schemas.openxmlformats.org/officeDocument/2006/relationships/image" Target="../media/image128.svg"/><Relationship Id="rId17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3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svg"/><Relationship Id="rId11" Type="http://schemas.openxmlformats.org/officeDocument/2006/relationships/image" Target="../media/image127.png"/><Relationship Id="rId5" Type="http://schemas.openxmlformats.org/officeDocument/2006/relationships/image" Target="../media/image139.png"/><Relationship Id="rId15" Type="http://schemas.openxmlformats.org/officeDocument/2006/relationships/image" Target="../media/image30.png"/><Relationship Id="rId10" Type="http://schemas.openxmlformats.org/officeDocument/2006/relationships/image" Target="../media/image120.svg"/><Relationship Id="rId4" Type="http://schemas.openxmlformats.org/officeDocument/2006/relationships/image" Target="../media/image132.svg"/><Relationship Id="rId9" Type="http://schemas.openxmlformats.org/officeDocument/2006/relationships/image" Target="../media/image119.png"/><Relationship Id="rId14" Type="http://schemas.openxmlformats.org/officeDocument/2006/relationships/image" Target="../media/image144.sv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svg"/><Relationship Id="rId3" Type="http://schemas.openxmlformats.org/officeDocument/2006/relationships/image" Target="../media/image131.png"/><Relationship Id="rId7" Type="http://schemas.openxmlformats.org/officeDocument/2006/relationships/image" Target="../media/image12.svg"/><Relationship Id="rId12" Type="http://schemas.openxmlformats.org/officeDocument/2006/relationships/image" Target="../media/image1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1.svg"/><Relationship Id="rId5" Type="http://schemas.openxmlformats.org/officeDocument/2006/relationships/image" Target="../media/image7.png"/><Relationship Id="rId10" Type="http://schemas.openxmlformats.org/officeDocument/2006/relationships/image" Target="../media/image30.png"/><Relationship Id="rId4" Type="http://schemas.openxmlformats.org/officeDocument/2006/relationships/image" Target="../media/image132.svg"/><Relationship Id="rId9" Type="http://schemas.openxmlformats.org/officeDocument/2006/relationships/image" Target="../media/image140.sv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svg"/><Relationship Id="rId3" Type="http://schemas.openxmlformats.org/officeDocument/2006/relationships/image" Target="../media/image131.png"/><Relationship Id="rId7" Type="http://schemas.openxmlformats.org/officeDocument/2006/relationships/image" Target="../media/image12.svg"/><Relationship Id="rId12" Type="http://schemas.openxmlformats.org/officeDocument/2006/relationships/image" Target="../media/image143.png"/><Relationship Id="rId2" Type="http://schemas.openxmlformats.org/officeDocument/2006/relationships/image" Target="../media/image1.png"/><Relationship Id="rId16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31.svg"/><Relationship Id="rId5" Type="http://schemas.openxmlformats.org/officeDocument/2006/relationships/image" Target="../media/image7.png"/><Relationship Id="rId15" Type="http://schemas.openxmlformats.org/officeDocument/2006/relationships/image" Target="../media/image146.svg"/><Relationship Id="rId10" Type="http://schemas.openxmlformats.org/officeDocument/2006/relationships/image" Target="../media/image30.png"/><Relationship Id="rId4" Type="http://schemas.openxmlformats.org/officeDocument/2006/relationships/image" Target="../media/image132.svg"/><Relationship Id="rId9" Type="http://schemas.openxmlformats.org/officeDocument/2006/relationships/image" Target="../media/image140.svg"/><Relationship Id="rId14" Type="http://schemas.openxmlformats.org/officeDocument/2006/relationships/image" Target="../media/image145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31.png"/><Relationship Id="rId7" Type="http://schemas.openxmlformats.org/officeDocument/2006/relationships/image" Target="../media/image1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32.svg"/><Relationship Id="rId9" Type="http://schemas.openxmlformats.org/officeDocument/2006/relationships/image" Target="../media/image146.sv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sv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svg"/><Relationship Id="rId5" Type="http://schemas.openxmlformats.org/officeDocument/2006/relationships/image" Target="../media/image152.png"/><Relationship Id="rId4" Type="http://schemas.openxmlformats.org/officeDocument/2006/relationships/image" Target="../media/image151.sv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1.png"/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12" Type="http://schemas.openxmlformats.org/officeDocument/2006/relationships/image" Target="../media/image100.svg"/><Relationship Id="rId2" Type="http://schemas.openxmlformats.org/officeDocument/2006/relationships/image" Target="../media/image51.png"/><Relationship Id="rId16" Type="http://schemas.openxmlformats.org/officeDocument/2006/relationships/image" Target="../media/image6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99.png"/><Relationship Id="rId5" Type="http://schemas.openxmlformats.org/officeDocument/2006/relationships/image" Target="../media/image54.svg"/><Relationship Id="rId15" Type="http://schemas.openxmlformats.org/officeDocument/2006/relationships/image" Target="../media/image63.png"/><Relationship Id="rId10" Type="http://schemas.openxmlformats.org/officeDocument/2006/relationships/image" Target="../media/image1.png"/><Relationship Id="rId4" Type="http://schemas.openxmlformats.org/officeDocument/2006/relationships/image" Target="../media/image53.png"/><Relationship Id="rId9" Type="http://schemas.openxmlformats.org/officeDocument/2006/relationships/image" Target="../media/image58.svg"/><Relationship Id="rId14" Type="http://schemas.openxmlformats.org/officeDocument/2006/relationships/image" Target="../media/image6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3CA561-344C-CE11-87A8-05FC52B1DBED}"/>
              </a:ext>
            </a:extLst>
          </p:cNvPr>
          <p:cNvSpPr txBox="1"/>
          <p:nvPr/>
        </p:nvSpPr>
        <p:spPr>
          <a:xfrm>
            <a:off x="390079" y="1555290"/>
            <a:ext cx="11074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>
                <a:latin typeface="Georgia" panose="02040502050405020303" pitchFamily="18" charset="0"/>
              </a:rPr>
              <a:t>Extreme </a:t>
            </a:r>
            <a:r>
              <a:rPr lang="it-IT" sz="3600" b="1" dirty="0" err="1">
                <a:latin typeface="Georgia" panose="02040502050405020303" pitchFamily="18" charset="0"/>
              </a:rPr>
              <a:t>Gradient</a:t>
            </a:r>
            <a:r>
              <a:rPr lang="it-IT" sz="3600" b="1" dirty="0">
                <a:latin typeface="Georgia" panose="02040502050405020303" pitchFamily="18" charset="0"/>
              </a:rPr>
              <a:t> </a:t>
            </a:r>
            <a:r>
              <a:rPr lang="it-IT" sz="3600" b="1" dirty="0" err="1">
                <a:latin typeface="Georgia" panose="02040502050405020303" pitchFamily="18" charset="0"/>
              </a:rPr>
              <a:t>Boosting</a:t>
            </a:r>
            <a:r>
              <a:rPr lang="it-IT" sz="3600" b="1" dirty="0">
                <a:latin typeface="Georgia" panose="02040502050405020303" pitchFamily="18" charset="0"/>
              </a:rPr>
              <a:t>. </a:t>
            </a:r>
          </a:p>
          <a:p>
            <a:pPr algn="ctr"/>
            <a:r>
              <a:rPr lang="it-IT" sz="3600" b="1" dirty="0">
                <a:latin typeface="Georgia" panose="02040502050405020303" pitchFamily="18" charset="0"/>
              </a:rPr>
              <a:t>Theory and Application on the Students’ Dropout and </a:t>
            </a:r>
            <a:r>
              <a:rPr lang="it-IT" sz="3600" b="1" dirty="0" err="1">
                <a:latin typeface="Georgia" panose="02040502050405020303" pitchFamily="18" charset="0"/>
              </a:rPr>
              <a:t>Academic</a:t>
            </a:r>
            <a:r>
              <a:rPr lang="it-IT" sz="3600" b="1" dirty="0">
                <a:latin typeface="Georgia" panose="02040502050405020303" pitchFamily="18" charset="0"/>
              </a:rPr>
              <a:t> </a:t>
            </a:r>
            <a:r>
              <a:rPr lang="it-IT" sz="3600" b="1" dirty="0" err="1">
                <a:latin typeface="Georgia" panose="02040502050405020303" pitchFamily="18" charset="0"/>
              </a:rPr>
              <a:t>Succes</a:t>
            </a:r>
            <a:r>
              <a:rPr lang="it-IT" sz="3600" b="1" dirty="0">
                <a:latin typeface="Georgia" panose="02040502050405020303" pitchFamily="18" charset="0"/>
              </a:rPr>
              <a:t>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29137-DA90-EF69-997D-C274C64B0827}"/>
              </a:ext>
            </a:extLst>
          </p:cNvPr>
          <p:cNvSpPr txBox="1"/>
          <p:nvPr/>
        </p:nvSpPr>
        <p:spPr>
          <a:xfrm>
            <a:off x="632429" y="3422393"/>
            <a:ext cx="10815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Application of EDM methods to understand and improve educational systems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36783-D222-FAF3-D007-EAC201B1F188}"/>
              </a:ext>
            </a:extLst>
          </p:cNvPr>
          <p:cNvSpPr txBox="1"/>
          <p:nvPr/>
        </p:nvSpPr>
        <p:spPr>
          <a:xfrm>
            <a:off x="4241479" y="4920166"/>
            <a:ext cx="3912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latin typeface="Georgia" panose="02040502050405020303" pitchFamily="18" charset="0"/>
              </a:rPr>
              <a:t>Dissertation</a:t>
            </a:r>
            <a:r>
              <a:rPr lang="it-IT" sz="1600" b="1" dirty="0">
                <a:latin typeface="Georgia" panose="02040502050405020303" pitchFamily="18" charset="0"/>
              </a:rPr>
              <a:t> by</a:t>
            </a:r>
            <a:r>
              <a:rPr lang="it-IT" sz="1600" dirty="0">
                <a:latin typeface="Georgia" panose="02040502050405020303" pitchFamily="18" charset="0"/>
              </a:rPr>
              <a:t>: Lorenzo Bonatti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7DD73-107A-C950-8E3B-237A9D606883}"/>
              </a:ext>
            </a:extLst>
          </p:cNvPr>
          <p:cNvSpPr txBox="1"/>
          <p:nvPr/>
        </p:nvSpPr>
        <p:spPr>
          <a:xfrm>
            <a:off x="4643378" y="5197417"/>
            <a:ext cx="2793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Georgia" panose="02040502050405020303" pitchFamily="18" charset="0"/>
              </a:rPr>
              <a:t>Supervisor</a:t>
            </a:r>
            <a:r>
              <a:rPr lang="it-IT" sz="1600" dirty="0">
                <a:latin typeface="Georgia" panose="02040502050405020303" pitchFamily="18" charset="0"/>
              </a:rPr>
              <a:t>: Alessia Pini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CF7A4-1C6B-97EE-0411-51018A0E8E9A}"/>
              </a:ext>
            </a:extLst>
          </p:cNvPr>
          <p:cNvSpPr txBox="1"/>
          <p:nvPr/>
        </p:nvSpPr>
        <p:spPr>
          <a:xfrm>
            <a:off x="4643378" y="6285053"/>
            <a:ext cx="290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Academic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Year</a:t>
            </a:r>
            <a:r>
              <a:rPr lang="it-IT" dirty="0">
                <a:latin typeface="Georgia" panose="02040502050405020303" pitchFamily="18" charset="0"/>
              </a:rPr>
              <a:t> 2023/2024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AE9197-BAC9-BA89-B482-A42E3CD21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3292" y="25913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AGENDA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EEA3A-7C27-8B00-EAE1-4E91DCAD839D}"/>
              </a:ext>
            </a:extLst>
          </p:cNvPr>
          <p:cNvSpPr txBox="1"/>
          <p:nvPr/>
        </p:nvSpPr>
        <p:spPr>
          <a:xfrm>
            <a:off x="20533374" y="1649588"/>
            <a:ext cx="434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Georgia" panose="02040502050405020303" pitchFamily="18" charset="0"/>
              </a:rPr>
              <a:t>1. 	INTRODUCTION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0734B5-DA2E-4A5B-2CF6-6C7AAEE263D0}"/>
              </a:ext>
            </a:extLst>
          </p:cNvPr>
          <p:cNvCxnSpPr>
            <a:cxnSpLocks/>
          </p:cNvCxnSpPr>
          <p:nvPr/>
        </p:nvCxnSpPr>
        <p:spPr>
          <a:xfrm>
            <a:off x="22983108" y="65684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41A309-F346-76B4-5F1C-AF0D81E8AB34}"/>
              </a:ext>
            </a:extLst>
          </p:cNvPr>
          <p:cNvCxnSpPr>
            <a:cxnSpLocks/>
          </p:cNvCxnSpPr>
          <p:nvPr/>
        </p:nvCxnSpPr>
        <p:spPr>
          <a:xfrm>
            <a:off x="28676094" y="65684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AE5354-E642-A110-8866-36A738F66185}"/>
              </a:ext>
            </a:extLst>
          </p:cNvPr>
          <p:cNvCxnSpPr>
            <a:cxnSpLocks/>
          </p:cNvCxnSpPr>
          <p:nvPr/>
        </p:nvCxnSpPr>
        <p:spPr>
          <a:xfrm>
            <a:off x="25829601" y="65684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043058-F4D3-DD45-17E3-47C7D241868E}"/>
              </a:ext>
            </a:extLst>
          </p:cNvPr>
          <p:cNvCxnSpPr>
            <a:cxnSpLocks/>
          </p:cNvCxnSpPr>
          <p:nvPr/>
        </p:nvCxnSpPr>
        <p:spPr>
          <a:xfrm>
            <a:off x="31522588" y="65684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263915D0-6C9F-795D-9457-B6D6E2ED5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81AE45D-3801-DB32-E26F-A202BD5B6C42}"/>
              </a:ext>
            </a:extLst>
          </p:cNvPr>
          <p:cNvSpPr txBox="1"/>
          <p:nvPr/>
        </p:nvSpPr>
        <p:spPr>
          <a:xfrm>
            <a:off x="23504679" y="2787036"/>
            <a:ext cx="7432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Georgia" panose="02040502050405020303" pitchFamily="18" charset="0"/>
              </a:rPr>
              <a:t>2. 	THEORY  FRAMEWORK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A069D85-6B4C-B9C1-EABA-AEFC56365A77}"/>
              </a:ext>
            </a:extLst>
          </p:cNvPr>
          <p:cNvSpPr txBox="1"/>
          <p:nvPr/>
        </p:nvSpPr>
        <p:spPr>
          <a:xfrm>
            <a:off x="25471760" y="3924484"/>
            <a:ext cx="8384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 startAt="3"/>
            </a:pPr>
            <a:r>
              <a:rPr lang="it-IT" sz="3200" dirty="0">
                <a:latin typeface="Georgia" panose="02040502050405020303" pitchFamily="18" charset="0"/>
              </a:rPr>
              <a:t>     APPLICATION OF M.L. ALGORITHMS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B2728F72-9B49-C09B-1AEA-8CEA4225EFD0}"/>
              </a:ext>
            </a:extLst>
          </p:cNvPr>
          <p:cNvSpPr txBox="1"/>
          <p:nvPr/>
        </p:nvSpPr>
        <p:spPr>
          <a:xfrm>
            <a:off x="29348347" y="5807768"/>
            <a:ext cx="434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Georgia" panose="02040502050405020303" pitchFamily="18" charset="0"/>
              </a:rPr>
              <a:t>4. 	CONCLUSION 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D36561A1-40C2-2617-421F-2B4041832628}"/>
              </a:ext>
            </a:extLst>
          </p:cNvPr>
          <p:cNvSpPr txBox="1"/>
          <p:nvPr/>
        </p:nvSpPr>
        <p:spPr>
          <a:xfrm>
            <a:off x="26459820" y="4694851"/>
            <a:ext cx="8384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3.1    DATASET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913883E8-5E6C-9FEF-92D2-6D25764C0B8F}"/>
              </a:ext>
            </a:extLst>
          </p:cNvPr>
          <p:cNvSpPr txBox="1"/>
          <p:nvPr/>
        </p:nvSpPr>
        <p:spPr>
          <a:xfrm>
            <a:off x="27330194" y="5142545"/>
            <a:ext cx="8384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3.2    PREDICTION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D5664146-C8A8-C1EB-8068-7C18495FA8A0}"/>
              </a:ext>
            </a:extLst>
          </p:cNvPr>
          <p:cNvSpPr txBox="1"/>
          <p:nvPr/>
        </p:nvSpPr>
        <p:spPr>
          <a:xfrm>
            <a:off x="28318254" y="5542655"/>
            <a:ext cx="8384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3.3    «PRE-ENROLLMENT» ANALYSIS</a:t>
            </a:r>
          </a:p>
        </p:txBody>
      </p:sp>
    </p:spTree>
    <p:extLst>
      <p:ext uri="{BB962C8B-B14F-4D97-AF65-F5344CB8AC3E}">
        <p14:creationId xmlns:p14="http://schemas.microsoft.com/office/powerpoint/2010/main" val="3255883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CFA615-F43C-B4B4-D047-CD229763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6487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37186B-A840-4EAB-2C87-8592F9744C74}"/>
              </a:ext>
            </a:extLst>
          </p:cNvPr>
          <p:cNvSpPr txBox="1"/>
          <p:nvPr/>
        </p:nvSpPr>
        <p:spPr>
          <a:xfrm>
            <a:off x="2518263" y="1356685"/>
            <a:ext cx="434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Georgia" panose="02040502050405020303" pitchFamily="18" charset="0"/>
              </a:rPr>
              <a:t>1. 	INTRODUCTION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063E7-6360-24AC-7186-183614E67E81}"/>
              </a:ext>
            </a:extLst>
          </p:cNvPr>
          <p:cNvSpPr txBox="1"/>
          <p:nvPr/>
        </p:nvSpPr>
        <p:spPr>
          <a:xfrm>
            <a:off x="2518263" y="2255212"/>
            <a:ext cx="7432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Georgia" panose="02040502050405020303" pitchFamily="18" charset="0"/>
              </a:rPr>
              <a:t>2. 	THEORY 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99ACA-47DD-AE90-3EE5-B089540E6F39}"/>
              </a:ext>
            </a:extLst>
          </p:cNvPr>
          <p:cNvSpPr txBox="1"/>
          <p:nvPr/>
        </p:nvSpPr>
        <p:spPr>
          <a:xfrm>
            <a:off x="2518263" y="3028165"/>
            <a:ext cx="8384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 startAt="3"/>
            </a:pPr>
            <a:r>
              <a:rPr lang="it-IT" sz="3200" dirty="0">
                <a:latin typeface="Georgia" panose="02040502050405020303" pitchFamily="18" charset="0"/>
              </a:rPr>
              <a:t>     APPLICATION OF M.L. 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06893-560E-DE48-897D-7D929C79875E}"/>
              </a:ext>
            </a:extLst>
          </p:cNvPr>
          <p:cNvSpPr txBox="1"/>
          <p:nvPr/>
        </p:nvSpPr>
        <p:spPr>
          <a:xfrm>
            <a:off x="2518263" y="5419350"/>
            <a:ext cx="4348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atin typeface="Georgia" panose="02040502050405020303" pitchFamily="18" charset="0"/>
              </a:rPr>
              <a:t>4. 	CONCLUSION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6B0FAF-2A22-8EFF-BF8A-9C78958B795C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D64E22-AF90-E188-4774-CC6E75BE48A6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3FB1E8-E5EC-1CFA-964A-E67573411F39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B61129-CFB4-370A-C19A-BD31477206B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25022E7-79DE-BFF0-AAA7-3C17CDD456D5}"/>
              </a:ext>
            </a:extLst>
          </p:cNvPr>
          <p:cNvSpPr txBox="1"/>
          <p:nvPr/>
        </p:nvSpPr>
        <p:spPr>
          <a:xfrm>
            <a:off x="-8748396" y="3718903"/>
            <a:ext cx="3912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latin typeface="Georgia" panose="02040502050405020303" pitchFamily="18" charset="0"/>
              </a:rPr>
              <a:t>Dissertation</a:t>
            </a:r>
            <a:r>
              <a:rPr lang="it-IT" sz="1600" b="1" dirty="0">
                <a:latin typeface="Georgia" panose="02040502050405020303" pitchFamily="18" charset="0"/>
              </a:rPr>
              <a:t> by</a:t>
            </a:r>
            <a:r>
              <a:rPr lang="it-IT" sz="1600" dirty="0">
                <a:latin typeface="Georgia" panose="02040502050405020303" pitchFamily="18" charset="0"/>
              </a:rPr>
              <a:t>: Alessandro Scarpato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F16A18-480C-684C-D5D9-213D30499E11}"/>
              </a:ext>
            </a:extLst>
          </p:cNvPr>
          <p:cNvSpPr txBox="1"/>
          <p:nvPr/>
        </p:nvSpPr>
        <p:spPr>
          <a:xfrm>
            <a:off x="-7743480" y="4088235"/>
            <a:ext cx="2793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Georgia" panose="02040502050405020303" pitchFamily="18" charset="0"/>
              </a:rPr>
              <a:t>Supervisor</a:t>
            </a:r>
            <a:r>
              <a:rPr lang="it-IT" sz="1600" dirty="0">
                <a:latin typeface="Georgia" panose="02040502050405020303" pitchFamily="18" charset="0"/>
              </a:rPr>
              <a:t>: Andrea Pozzi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4F598F-3B20-D9A1-3612-0347C909ED46}"/>
              </a:ext>
            </a:extLst>
          </p:cNvPr>
          <p:cNvSpPr txBox="1"/>
          <p:nvPr/>
        </p:nvSpPr>
        <p:spPr>
          <a:xfrm>
            <a:off x="-7705638" y="6285053"/>
            <a:ext cx="290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Academic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Year</a:t>
            </a:r>
            <a:r>
              <a:rPr lang="it-IT" dirty="0">
                <a:latin typeface="Georgia" panose="02040502050405020303" pitchFamily="18" charset="0"/>
              </a:rPr>
              <a:t> 2023/2024</a:t>
            </a:r>
          </a:p>
        </p:txBody>
      </p:sp>
      <p:pic>
        <p:nvPicPr>
          <p:cNvPr id="19" name="Picture 18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7DB966AC-2EFB-EF8E-1666-A3E724AD0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7217EB2B-A60E-4590-B100-397DEC5A7285}"/>
              </a:ext>
            </a:extLst>
          </p:cNvPr>
          <p:cNvSpPr txBox="1"/>
          <p:nvPr/>
        </p:nvSpPr>
        <p:spPr>
          <a:xfrm>
            <a:off x="2969012" y="3785255"/>
            <a:ext cx="8384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3.1    DATASET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28F230A8-1670-851A-10F2-6E7620822D66}"/>
              </a:ext>
            </a:extLst>
          </p:cNvPr>
          <p:cNvSpPr txBox="1"/>
          <p:nvPr/>
        </p:nvSpPr>
        <p:spPr>
          <a:xfrm>
            <a:off x="2969012" y="4333429"/>
            <a:ext cx="8384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3.2    PREDICTION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6970B796-35DD-7E3F-8E1F-C055AD54E6C1}"/>
              </a:ext>
            </a:extLst>
          </p:cNvPr>
          <p:cNvSpPr txBox="1"/>
          <p:nvPr/>
        </p:nvSpPr>
        <p:spPr>
          <a:xfrm>
            <a:off x="2969012" y="4837551"/>
            <a:ext cx="8384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3.3    «PRE-ENROLLMENT» ANALYSIS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69ADEB9A-7B77-4E73-D313-CE77241A4D3B}"/>
              </a:ext>
            </a:extLst>
          </p:cNvPr>
          <p:cNvSpPr txBox="1"/>
          <p:nvPr/>
        </p:nvSpPr>
        <p:spPr>
          <a:xfrm>
            <a:off x="-11074399" y="1491307"/>
            <a:ext cx="11074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b="1" dirty="0">
                <a:latin typeface="Georgia" panose="02040502050405020303" pitchFamily="18" charset="0"/>
              </a:rPr>
              <a:t>Extreme </a:t>
            </a:r>
            <a:r>
              <a:rPr lang="it-IT" sz="3600" b="1" dirty="0" err="1">
                <a:latin typeface="Georgia" panose="02040502050405020303" pitchFamily="18" charset="0"/>
              </a:rPr>
              <a:t>Gradient</a:t>
            </a:r>
            <a:r>
              <a:rPr lang="it-IT" sz="3600" b="1" dirty="0">
                <a:latin typeface="Georgia" panose="02040502050405020303" pitchFamily="18" charset="0"/>
              </a:rPr>
              <a:t> </a:t>
            </a:r>
            <a:r>
              <a:rPr lang="it-IT" sz="3600" b="1" dirty="0" err="1">
                <a:latin typeface="Georgia" panose="02040502050405020303" pitchFamily="18" charset="0"/>
              </a:rPr>
              <a:t>Boosting</a:t>
            </a:r>
            <a:r>
              <a:rPr lang="it-IT" sz="3600" b="1" dirty="0">
                <a:latin typeface="Georgia" panose="02040502050405020303" pitchFamily="18" charset="0"/>
              </a:rPr>
              <a:t>. Theory and Application on the Students’ Dropout and </a:t>
            </a:r>
            <a:r>
              <a:rPr lang="it-IT" sz="3600" b="1" dirty="0" err="1">
                <a:latin typeface="Georgia" panose="02040502050405020303" pitchFamily="18" charset="0"/>
              </a:rPr>
              <a:t>Academic</a:t>
            </a:r>
            <a:r>
              <a:rPr lang="it-IT" sz="3600" b="1" dirty="0">
                <a:latin typeface="Georgia" panose="02040502050405020303" pitchFamily="18" charset="0"/>
              </a:rPr>
              <a:t> </a:t>
            </a:r>
            <a:r>
              <a:rPr lang="it-IT" sz="3600" b="1" dirty="0" err="1">
                <a:latin typeface="Georgia" panose="02040502050405020303" pitchFamily="18" charset="0"/>
              </a:rPr>
              <a:t>Succes</a:t>
            </a:r>
            <a:r>
              <a:rPr lang="it-IT" sz="3600" b="1" dirty="0">
                <a:latin typeface="Georgia" panose="02040502050405020303" pitchFamily="18" charset="0"/>
              </a:rPr>
              <a:t> Dataset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51F4F44D-929E-74F9-B3B1-D5A39EF20139}"/>
              </a:ext>
            </a:extLst>
          </p:cNvPr>
          <p:cNvSpPr txBox="1"/>
          <p:nvPr/>
        </p:nvSpPr>
        <p:spPr>
          <a:xfrm>
            <a:off x="-11074399" y="3198167"/>
            <a:ext cx="10815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Application of EDM methods to understand and improve educational systems</a:t>
            </a:r>
            <a:endParaRPr lang="it-IT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059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FA27-5C56-A50A-7569-D925BA4E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6487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01EE5-DD22-D5CF-D31D-BB37A8407ABD}"/>
              </a:ext>
            </a:extLst>
          </p:cNvPr>
          <p:cNvSpPr txBox="1"/>
          <p:nvPr/>
        </p:nvSpPr>
        <p:spPr>
          <a:xfrm>
            <a:off x="838200" y="2802009"/>
            <a:ext cx="10515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Georgia" panose="02040502050405020303" pitchFamily="18" charset="0"/>
              </a:rPr>
              <a:t>“</a:t>
            </a:r>
            <a:r>
              <a:rPr lang="en-US" sz="3200" dirty="0"/>
              <a:t>Understanding student success requires more than intuition, it demands data, models, and analytics.</a:t>
            </a:r>
            <a:r>
              <a:rPr lang="en-US" sz="3200" dirty="0">
                <a:latin typeface="Georgia" panose="02040502050405020303" pitchFamily="18" charset="0"/>
              </a:rPr>
              <a:t>”</a:t>
            </a:r>
          </a:p>
          <a:p>
            <a:pPr algn="ctr"/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FE5C9-AF2F-7AEE-8871-7017ADAE8A4B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Main context</a:t>
            </a:r>
            <a:endParaRPr lang="it-IT" sz="28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630154-CD9F-7368-C9CE-55D3220DB719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6464F9-3880-1A28-C2DE-79EA6423978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75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0401D4-5610-C74A-A0CD-F8283E873582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75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463299-7124-7B1A-F718-310175D22D9A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75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4F0F5A6-10C0-1C54-BDE4-D59BF937A0E2}"/>
              </a:ext>
            </a:extLst>
          </p:cNvPr>
          <p:cNvSpPr txBox="1"/>
          <p:nvPr/>
        </p:nvSpPr>
        <p:spPr>
          <a:xfrm>
            <a:off x="12977592" y="2938655"/>
            <a:ext cx="59747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latin typeface="Georgia" panose="02040502050405020303" pitchFamily="18" charset="0"/>
              </a:rPr>
              <a:t>Most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th</a:t>
            </a:r>
            <a:r>
              <a:rPr lang="en-GB" dirty="0">
                <a:latin typeface="Georgia" panose="02040502050405020303" pitchFamily="18" charset="0"/>
              </a:rPr>
              <a:t>ese data remains hidden or unused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Importance of highlight those data and visualize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Georgia" panose="02040502050405020303" pitchFamily="18" charset="0"/>
              </a:rPr>
              <a:t>Interactive dashboards as a crucial tool for this scope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53B3AD-D9F9-F485-DED2-4FAE2ED1C832}"/>
              </a:ext>
            </a:extLst>
          </p:cNvPr>
          <p:cNvCxnSpPr>
            <a:cxnSpLocks/>
          </p:cNvCxnSpPr>
          <p:nvPr/>
        </p:nvCxnSpPr>
        <p:spPr>
          <a:xfrm>
            <a:off x="12652330" y="2672080"/>
            <a:ext cx="0" cy="2026304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A9467368-4F14-FCC3-FC2F-3DAE5CE85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6707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C76FC-7974-6625-544B-0DCC18FD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81FA06-EDFF-6307-FC42-A320C23E826C}"/>
              </a:ext>
            </a:extLst>
          </p:cNvPr>
          <p:cNvSpPr txBox="1"/>
          <p:nvPr/>
        </p:nvSpPr>
        <p:spPr>
          <a:xfrm>
            <a:off x="537705" y="2746295"/>
            <a:ext cx="4697361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“</a:t>
            </a:r>
            <a:r>
              <a:rPr lang="en-US" sz="2400" dirty="0"/>
              <a:t>Understanding student success requires more than intuition, it demands data, models, and analytics.</a:t>
            </a:r>
            <a:r>
              <a:rPr lang="en-US" sz="2400" dirty="0">
                <a:latin typeface="Georgia" panose="02040502050405020303" pitchFamily="18" charset="0"/>
              </a:rPr>
              <a:t>”</a:t>
            </a:r>
          </a:p>
          <a:p>
            <a:pPr algn="ctr"/>
            <a:endParaRPr lang="en-US" sz="1100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1032E-F528-6AFB-6B75-AF2ADEE832AC}"/>
              </a:ext>
            </a:extLst>
          </p:cNvPr>
          <p:cNvSpPr txBox="1"/>
          <p:nvPr/>
        </p:nvSpPr>
        <p:spPr>
          <a:xfrm>
            <a:off x="5646295" y="2746295"/>
            <a:ext cx="63650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Machine learning applications can extend beyond traditional fields like finance, e-commerce, logistics, and 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Educational Data Mining (EDM): is the data-driven </a:t>
            </a:r>
          </a:p>
          <a:p>
            <a:r>
              <a:rPr lang="en-US" dirty="0">
                <a:latin typeface="Georgia" panose="02040502050405020303" pitchFamily="18" charset="0"/>
              </a:rPr>
              <a:t>      methods to understand and improve educational systems.</a:t>
            </a:r>
          </a:p>
          <a:p>
            <a:endParaRPr lang="en-GB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In education, it unlocks insights into the factors </a:t>
            </a:r>
          </a:p>
          <a:p>
            <a:r>
              <a:rPr lang="en-US" dirty="0">
                <a:latin typeface="Georgia" panose="02040502050405020303" pitchFamily="18" charset="0"/>
              </a:rPr>
              <a:t>     influencing student success and failure.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4035F15-6367-8D83-2077-B6886EF4BCE0}"/>
              </a:ext>
            </a:extLst>
          </p:cNvPr>
          <p:cNvCxnSpPr>
            <a:cxnSpLocks/>
          </p:cNvCxnSpPr>
          <p:nvPr/>
        </p:nvCxnSpPr>
        <p:spPr>
          <a:xfrm>
            <a:off x="5440680" y="2833887"/>
            <a:ext cx="0" cy="2026304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56F094-1787-6CF3-36AB-0A0C1BA2C7D8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213DDF-DDEA-2BC6-C695-7684C6F26AB5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418597-DCEE-99B2-4842-812B483F5F23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FBF2D0-36BF-ED35-317F-EE3792D57B44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0AAD3076-787A-631B-CBB1-0DFE3938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6487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0CEC8-90B5-15B2-88FB-F46CFA3EEAAB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The Unexpected Reach of Machine Learning: EDM</a:t>
            </a:r>
            <a:endParaRPr lang="it-IT" sz="2800" dirty="0">
              <a:latin typeface="Georgia" panose="02040502050405020303" pitchFamily="18" charset="0"/>
            </a:endParaRPr>
          </a:p>
        </p:txBody>
      </p:sp>
      <p:pic>
        <p:nvPicPr>
          <p:cNvPr id="6" name="Picture 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4A7EB1C-A075-636F-61F8-59E88FDB3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106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0BFF-5A1E-FEA1-6D3D-7501B466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198BC3-5553-E4AC-4A0D-327C54B4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62" y="-100092"/>
            <a:ext cx="10966738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BE9DD-FCFB-7BF9-2073-05B8E3801986}"/>
              </a:ext>
            </a:extLst>
          </p:cNvPr>
          <p:cNvSpPr txBox="1"/>
          <p:nvPr/>
        </p:nvSpPr>
        <p:spPr>
          <a:xfrm>
            <a:off x="1593303" y="881501"/>
            <a:ext cx="8637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Predictions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F8D85D5B-5DCD-B352-3D02-D9DA76DA3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Intermediary Role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Facilitates communication between the Presentation and Data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A38A642-4585-8C73-35E0-77A17D571200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0143B2-8E51-2FD0-C274-864583121B39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86C017-0138-C9A3-177D-7834858F39EF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5FD26F-4DA4-4222-66B6-276F5B112C32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FF19B09-2D92-B3C9-CF80-3F2D6D48A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53">
            <a:extLst>
              <a:ext uri="{FF2B5EF4-FFF2-40B4-BE49-F238E27FC236}">
                <a16:creationId xmlns:a16="http://schemas.microsoft.com/office/drawing/2014/main" id="{D336DE0F-4608-37A2-7ABF-CCF95A73A8B3}"/>
              </a:ext>
            </a:extLst>
          </p:cNvPr>
          <p:cNvSpPr txBox="1"/>
          <p:nvPr/>
        </p:nvSpPr>
        <p:spPr>
          <a:xfrm>
            <a:off x="496549" y="2350853"/>
            <a:ext cx="357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Algorithm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used</a:t>
            </a:r>
            <a:r>
              <a:rPr lang="it-IT" sz="2400" dirty="0">
                <a:latin typeface="Georgia" panose="02040502050405020303" pitchFamily="18" charset="0"/>
              </a:rPr>
              <a:t>:</a:t>
            </a:r>
            <a:endParaRPr lang="it-IT" b="1" dirty="0">
              <a:solidFill>
                <a:schemeClr val="accent1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53">
            <a:extLst>
              <a:ext uri="{FF2B5EF4-FFF2-40B4-BE49-F238E27FC236}">
                <a16:creationId xmlns:a16="http://schemas.microsoft.com/office/drawing/2014/main" id="{13F76C95-8145-76C4-CD80-3F10AFE30469}"/>
              </a:ext>
            </a:extLst>
          </p:cNvPr>
          <p:cNvSpPr txBox="1"/>
          <p:nvPr/>
        </p:nvSpPr>
        <p:spPr>
          <a:xfrm>
            <a:off x="3684693" y="2363165"/>
            <a:ext cx="83412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latin typeface="Georgia" panose="02040502050405020303" pitchFamily="18" charset="0"/>
              </a:rPr>
              <a:t>   CARTS</a:t>
            </a:r>
          </a:p>
          <a:p>
            <a:pPr marL="342900" indent="-342900">
              <a:buFont typeface="+mj-lt"/>
              <a:buAutoNum type="arabicPeriod"/>
            </a:pPr>
            <a:endParaRPr lang="it-IT" sz="2400" b="1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latin typeface="Georgia" panose="02040502050405020303" pitchFamily="18" charset="0"/>
              </a:rPr>
              <a:t>   BAGGING</a:t>
            </a:r>
          </a:p>
          <a:p>
            <a:pPr marL="342900" indent="-342900">
              <a:buFont typeface="+mj-lt"/>
              <a:buAutoNum type="arabicPeriod"/>
            </a:pPr>
            <a:endParaRPr lang="it-IT" sz="2400" b="1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latin typeface="Georgia" panose="02040502050405020303" pitchFamily="18" charset="0"/>
              </a:rPr>
              <a:t>   RANDOM FORREST</a:t>
            </a:r>
          </a:p>
          <a:p>
            <a:pPr marL="342900" indent="-342900">
              <a:buFont typeface="+mj-lt"/>
              <a:buAutoNum type="arabicPeriod"/>
            </a:pPr>
            <a:endParaRPr lang="it-IT" sz="2400" b="1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latin typeface="Georgia" panose="02040502050405020303" pitchFamily="18" charset="0"/>
              </a:rPr>
              <a:t>   GRADIENT BOOSTING</a:t>
            </a:r>
          </a:p>
          <a:p>
            <a:pPr marL="342900" indent="-342900">
              <a:buFont typeface="+mj-lt"/>
              <a:buAutoNum type="arabicPeriod"/>
            </a:pPr>
            <a:endParaRPr lang="it-IT" sz="2400" b="1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latin typeface="Georgia" panose="02040502050405020303" pitchFamily="18" charset="0"/>
              </a:rPr>
              <a:t>   EXTREME GRADIENT BOOSTING (XGBOOST) </a:t>
            </a:r>
          </a:p>
        </p:txBody>
      </p:sp>
      <p:cxnSp>
        <p:nvCxnSpPr>
          <p:cNvPr id="3" name="Straight Arrow Connector 62">
            <a:extLst>
              <a:ext uri="{FF2B5EF4-FFF2-40B4-BE49-F238E27FC236}">
                <a16:creationId xmlns:a16="http://schemas.microsoft.com/office/drawing/2014/main" id="{677645E5-3833-1B1B-1A99-5CA30D2858D2}"/>
              </a:ext>
            </a:extLst>
          </p:cNvPr>
          <p:cNvCxnSpPr>
            <a:cxnSpLocks/>
          </p:cNvCxnSpPr>
          <p:nvPr/>
        </p:nvCxnSpPr>
        <p:spPr>
          <a:xfrm flipV="1">
            <a:off x="5660813" y="2581686"/>
            <a:ext cx="2214131" cy="2462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13">
            <a:extLst>
              <a:ext uri="{FF2B5EF4-FFF2-40B4-BE49-F238E27FC236}">
                <a16:creationId xmlns:a16="http://schemas.microsoft.com/office/drawing/2014/main" id="{5523A001-F43B-E245-EF92-CD83EE688D8E}"/>
              </a:ext>
            </a:extLst>
          </p:cNvPr>
          <p:cNvSpPr txBox="1"/>
          <p:nvPr/>
        </p:nvSpPr>
        <p:spPr>
          <a:xfrm>
            <a:off x="8042549" y="2412409"/>
            <a:ext cx="252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Serves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as</a:t>
            </a:r>
            <a:r>
              <a:rPr lang="it-IT" b="1" dirty="0">
                <a:latin typeface="Georgia" panose="02040502050405020303" pitchFamily="18" charset="0"/>
              </a:rPr>
              <a:t> a baseline</a:t>
            </a:r>
          </a:p>
        </p:txBody>
      </p:sp>
      <p:pic>
        <p:nvPicPr>
          <p:cNvPr id="16" name="Elemento grafico 15" descr="Scena di foresta con riempimento a tinta unita">
            <a:extLst>
              <a:ext uri="{FF2B5EF4-FFF2-40B4-BE49-F238E27FC236}">
                <a16:creationId xmlns:a16="http://schemas.microsoft.com/office/drawing/2014/main" id="{0179C293-F207-3D06-0703-FEDE32D9A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4092" y="3429000"/>
            <a:ext cx="1164335" cy="1164335"/>
          </a:xfrm>
          <a:prstGeom prst="rect">
            <a:avLst/>
          </a:prstGeom>
        </p:spPr>
      </p:pic>
      <p:pic>
        <p:nvPicPr>
          <p:cNvPr id="19" name="Elemento grafico 18" descr="Abete con riempimento a tinta unita">
            <a:extLst>
              <a:ext uri="{FF2B5EF4-FFF2-40B4-BE49-F238E27FC236}">
                <a16:creationId xmlns:a16="http://schemas.microsoft.com/office/drawing/2014/main" id="{A4F4C222-DDEA-4BAE-DE2B-81F07B8739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8538" y="19552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90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8BF62F-736A-9CE9-DD54-DA7B4DCA5CA5}"/>
              </a:ext>
            </a:extLst>
          </p:cNvPr>
          <p:cNvSpPr txBox="1"/>
          <p:nvPr/>
        </p:nvSpPr>
        <p:spPr>
          <a:xfrm>
            <a:off x="1911084" y="7833736"/>
            <a:ext cx="8770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Training Loss</a:t>
            </a:r>
            <a:r>
              <a:rPr lang="it-IT" sz="2400" dirty="0">
                <a:latin typeface="Georgia" panose="02040502050405020303" pitchFamily="18" charset="0"/>
              </a:rPr>
              <a:t>: </a:t>
            </a:r>
            <a:r>
              <a:rPr lang="en-US" sz="2000" dirty="0">
                <a:latin typeface="Georgia" panose="02040502050405020303" pitchFamily="18" charset="0"/>
              </a:rPr>
              <a:t>measures how well the model fits the training data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r>
              <a:rPr lang="it-IT" sz="2800" dirty="0">
                <a:latin typeface="Georgia" panose="02040502050405020303" pitchFamily="18" charset="0"/>
              </a:rPr>
              <a:t> (</a:t>
            </a:r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2299032" y="1715361"/>
            <a:ext cx="70786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The key innovation of </a:t>
            </a:r>
            <a:r>
              <a:rPr lang="en-US" sz="2800" dirty="0" err="1">
                <a:latin typeface="Georgia" panose="02040502050405020303" pitchFamily="18" charset="0"/>
              </a:rPr>
              <a:t>XGBoost</a:t>
            </a:r>
            <a:r>
              <a:rPr lang="en-US" sz="2800" dirty="0">
                <a:latin typeface="Georgia" panose="02040502050405020303" pitchFamily="18" charset="0"/>
              </a:rPr>
              <a:t> is the introduction of a </a:t>
            </a:r>
            <a:r>
              <a:rPr lang="en-US" sz="2800" b="1" dirty="0">
                <a:latin typeface="Georgia" panose="02040502050405020303" pitchFamily="18" charset="0"/>
              </a:rPr>
              <a:t>regularization term</a:t>
            </a:r>
            <a:r>
              <a:rPr lang="en-US" sz="2800" dirty="0">
                <a:latin typeface="Georgia" panose="02040502050405020303" pitchFamily="18" charset="0"/>
              </a:rPr>
              <a:t>.</a:t>
            </a:r>
            <a:endParaRPr lang="it-IT" sz="2800" dirty="0">
              <a:latin typeface="Georgia" panose="02040502050405020303" pitchFamily="18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47EF911-4907-F508-B3DD-AD2592706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7750" y="2380702"/>
            <a:ext cx="5491151" cy="1268526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CB63C155-B800-5138-2200-7DD7B7358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659481" y="6366222"/>
            <a:ext cx="692177" cy="2270989"/>
          </a:xfrm>
          <a:prstGeom prst="rect">
            <a:avLst/>
          </a:prstGeom>
        </p:spPr>
      </p:pic>
      <p:cxnSp>
        <p:nvCxnSpPr>
          <p:cNvPr id="11" name="Connector: Curved 4">
            <a:extLst>
              <a:ext uri="{FF2B5EF4-FFF2-40B4-BE49-F238E27FC236}">
                <a16:creationId xmlns:a16="http://schemas.microsoft.com/office/drawing/2014/main" id="{A02D012D-B297-B2B8-3E88-9048ECDE4381}"/>
              </a:ext>
            </a:extLst>
          </p:cNvPr>
          <p:cNvCxnSpPr>
            <a:cxnSpLocks/>
          </p:cNvCxnSpPr>
          <p:nvPr/>
        </p:nvCxnSpPr>
        <p:spPr>
          <a:xfrm>
            <a:off x="12450145" y="2335004"/>
            <a:ext cx="966850" cy="1093996"/>
          </a:xfrm>
          <a:prstGeom prst="curvedConnector2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8AFE0029-25C4-3EFC-779E-3A388007CBD9}"/>
              </a:ext>
            </a:extLst>
          </p:cNvPr>
          <p:cNvSpPr txBox="1"/>
          <p:nvPr/>
        </p:nvSpPr>
        <p:spPr>
          <a:xfrm>
            <a:off x="11353800" y="3604513"/>
            <a:ext cx="546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latin typeface="Georgia" panose="02040502050405020303" pitchFamily="18" charset="0"/>
              </a:rPr>
              <a:t>Regularization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Term</a:t>
            </a:r>
            <a:endParaRPr lang="it-IT" sz="2400" b="1" dirty="0">
              <a:latin typeface="Georgia" panose="02040502050405020303" pitchFamily="18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BC97B26-B030-CC37-E362-881F95D4D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67834" y="4163758"/>
            <a:ext cx="3002979" cy="946886"/>
          </a:xfrm>
          <a:prstGeom prst="rect">
            <a:avLst/>
          </a:prstGeom>
        </p:spPr>
      </p:pic>
      <p:sp>
        <p:nvSpPr>
          <p:cNvPr id="15" name="TextBox 3">
            <a:extLst>
              <a:ext uri="{FF2B5EF4-FFF2-40B4-BE49-F238E27FC236}">
                <a16:creationId xmlns:a16="http://schemas.microsoft.com/office/drawing/2014/main" id="{69BCF827-89A3-DC25-479F-C702A92C9F01}"/>
              </a:ext>
            </a:extLst>
          </p:cNvPr>
          <p:cNvSpPr txBox="1"/>
          <p:nvPr/>
        </p:nvSpPr>
        <p:spPr>
          <a:xfrm>
            <a:off x="18069322" y="5258294"/>
            <a:ext cx="6225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The purpose of this term is to prevent overfitting by penalizing tree complexity.</a:t>
            </a:r>
            <a:endParaRPr lang="it-IT" sz="2000" dirty="0">
              <a:latin typeface="Georgia" panose="02040502050405020303" pitchFamily="18" charset="0"/>
            </a:endParaRPr>
          </a:p>
        </p:txBody>
      </p:sp>
      <p:pic>
        <p:nvPicPr>
          <p:cNvPr id="18" name="Elemento grafico 17" descr="Gerarchia contorno">
            <a:extLst>
              <a:ext uri="{FF2B5EF4-FFF2-40B4-BE49-F238E27FC236}">
                <a16:creationId xmlns:a16="http://schemas.microsoft.com/office/drawing/2014/main" id="{200B9A43-2472-7218-36C9-4282F5F905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369323" y="5258294"/>
            <a:ext cx="914400" cy="914400"/>
          </a:xfrm>
          <a:prstGeom prst="rect">
            <a:avLst/>
          </a:prstGeom>
        </p:spPr>
      </p:pic>
      <p:pic>
        <p:nvPicPr>
          <p:cNvPr id="23" name="Elemento grafico 22" descr="Avviso contorno">
            <a:extLst>
              <a:ext uri="{FF2B5EF4-FFF2-40B4-BE49-F238E27FC236}">
                <a16:creationId xmlns:a16="http://schemas.microsoft.com/office/drawing/2014/main" id="{4BFA802F-B5A2-E391-B3C5-61ABE77E47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4923" y="5258294"/>
            <a:ext cx="914400" cy="9144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B7A7ADBC-1F37-3935-B1A1-B42C7198CEDB}"/>
              </a:ext>
            </a:extLst>
          </p:cNvPr>
          <p:cNvSpPr txBox="1"/>
          <p:nvPr/>
        </p:nvSpPr>
        <p:spPr>
          <a:xfrm>
            <a:off x="-10486179" y="3024476"/>
            <a:ext cx="10486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Indeed, the new objective function consists of two components:</a:t>
            </a:r>
            <a:endParaRPr lang="it-IT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92882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8BF62F-736A-9CE9-DD54-DA7B4DCA5CA5}"/>
              </a:ext>
            </a:extLst>
          </p:cNvPr>
          <p:cNvSpPr txBox="1"/>
          <p:nvPr/>
        </p:nvSpPr>
        <p:spPr>
          <a:xfrm>
            <a:off x="1911084" y="7833736"/>
            <a:ext cx="8770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Training Loss</a:t>
            </a:r>
            <a:r>
              <a:rPr lang="it-IT" sz="2400" dirty="0">
                <a:latin typeface="Georgia" panose="02040502050405020303" pitchFamily="18" charset="0"/>
              </a:rPr>
              <a:t>: </a:t>
            </a:r>
            <a:r>
              <a:rPr lang="en-US" sz="2000" dirty="0">
                <a:latin typeface="Georgia" panose="02040502050405020303" pitchFamily="18" charset="0"/>
              </a:rPr>
              <a:t>measures how well the model fits the training data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r>
              <a:rPr lang="it-IT" sz="2800" dirty="0">
                <a:latin typeface="Georgia" panose="02040502050405020303" pitchFamily="18" charset="0"/>
              </a:rPr>
              <a:t> (</a:t>
            </a:r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2299032" y="1715361"/>
            <a:ext cx="7078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The key innovation of </a:t>
            </a:r>
            <a:r>
              <a:rPr lang="en-US" sz="2400" dirty="0" err="1">
                <a:latin typeface="Georgia" panose="02040502050405020303" pitchFamily="18" charset="0"/>
              </a:rPr>
              <a:t>XGBoost</a:t>
            </a:r>
            <a:r>
              <a:rPr lang="en-US" sz="2400" dirty="0">
                <a:latin typeface="Georgia" panose="02040502050405020303" pitchFamily="18" charset="0"/>
              </a:rPr>
              <a:t> is the introduction of a </a:t>
            </a:r>
            <a:r>
              <a:rPr lang="en-US" sz="2400" b="1" dirty="0">
                <a:latin typeface="Georgia" panose="02040502050405020303" pitchFamily="18" charset="0"/>
              </a:rPr>
              <a:t>regularization term</a:t>
            </a:r>
            <a:r>
              <a:rPr lang="en-US" sz="2400" dirty="0">
                <a:latin typeface="Georgia" panose="02040502050405020303" pitchFamily="18" charset="0"/>
              </a:rPr>
              <a:t>.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47EF911-4907-F508-B3DD-AD2592706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320" y="3803339"/>
            <a:ext cx="5491151" cy="1268526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CB63C155-B800-5138-2200-7DD7B7358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659481" y="6366222"/>
            <a:ext cx="692177" cy="2270989"/>
          </a:xfrm>
          <a:prstGeom prst="rect">
            <a:avLst/>
          </a:prstGeom>
        </p:spPr>
      </p:pic>
      <p:cxnSp>
        <p:nvCxnSpPr>
          <p:cNvPr id="11" name="Connector: Curved 4">
            <a:extLst>
              <a:ext uri="{FF2B5EF4-FFF2-40B4-BE49-F238E27FC236}">
                <a16:creationId xmlns:a16="http://schemas.microsoft.com/office/drawing/2014/main" id="{A02D012D-B297-B2B8-3E88-9048ECDE4381}"/>
              </a:ext>
            </a:extLst>
          </p:cNvPr>
          <p:cNvCxnSpPr>
            <a:cxnSpLocks/>
          </p:cNvCxnSpPr>
          <p:nvPr/>
        </p:nvCxnSpPr>
        <p:spPr>
          <a:xfrm>
            <a:off x="12450145" y="2335004"/>
            <a:ext cx="966850" cy="1093996"/>
          </a:xfrm>
          <a:prstGeom prst="curvedConnector2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8AFE0029-25C4-3EFC-779E-3A388007CBD9}"/>
              </a:ext>
            </a:extLst>
          </p:cNvPr>
          <p:cNvSpPr txBox="1"/>
          <p:nvPr/>
        </p:nvSpPr>
        <p:spPr>
          <a:xfrm>
            <a:off x="11353800" y="3604513"/>
            <a:ext cx="546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latin typeface="Georgia" panose="02040502050405020303" pitchFamily="18" charset="0"/>
              </a:rPr>
              <a:t>Regularization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Term</a:t>
            </a:r>
            <a:endParaRPr lang="it-IT" sz="2400" b="1" dirty="0">
              <a:latin typeface="Georgia" panose="02040502050405020303" pitchFamily="18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BC97B26-B030-CC37-E362-881F95D4D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67834" y="4163758"/>
            <a:ext cx="3002979" cy="946886"/>
          </a:xfrm>
          <a:prstGeom prst="rect">
            <a:avLst/>
          </a:prstGeom>
        </p:spPr>
      </p:pic>
      <p:sp>
        <p:nvSpPr>
          <p:cNvPr id="15" name="TextBox 3">
            <a:extLst>
              <a:ext uri="{FF2B5EF4-FFF2-40B4-BE49-F238E27FC236}">
                <a16:creationId xmlns:a16="http://schemas.microsoft.com/office/drawing/2014/main" id="{69BCF827-89A3-DC25-479F-C702A92C9F01}"/>
              </a:ext>
            </a:extLst>
          </p:cNvPr>
          <p:cNvSpPr txBox="1"/>
          <p:nvPr/>
        </p:nvSpPr>
        <p:spPr>
          <a:xfrm>
            <a:off x="18069322" y="5258294"/>
            <a:ext cx="6225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The purpose of this term is to prevent overfitting by penalizing tree complexity.</a:t>
            </a:r>
            <a:endParaRPr lang="it-IT" sz="2000" dirty="0">
              <a:latin typeface="Georgia" panose="02040502050405020303" pitchFamily="18" charset="0"/>
            </a:endParaRPr>
          </a:p>
        </p:txBody>
      </p:sp>
      <p:pic>
        <p:nvPicPr>
          <p:cNvPr id="18" name="Elemento grafico 17" descr="Gerarchia contorno">
            <a:extLst>
              <a:ext uri="{FF2B5EF4-FFF2-40B4-BE49-F238E27FC236}">
                <a16:creationId xmlns:a16="http://schemas.microsoft.com/office/drawing/2014/main" id="{200B9A43-2472-7218-36C9-4282F5F905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369323" y="5258294"/>
            <a:ext cx="914400" cy="914400"/>
          </a:xfrm>
          <a:prstGeom prst="rect">
            <a:avLst/>
          </a:prstGeom>
        </p:spPr>
      </p:pic>
      <p:pic>
        <p:nvPicPr>
          <p:cNvPr id="23" name="Elemento grafico 22" descr="Avviso contorno">
            <a:extLst>
              <a:ext uri="{FF2B5EF4-FFF2-40B4-BE49-F238E27FC236}">
                <a16:creationId xmlns:a16="http://schemas.microsoft.com/office/drawing/2014/main" id="{4BFA802F-B5A2-E391-B3C5-61ABE77E47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4923" y="5258294"/>
            <a:ext cx="914400" cy="91440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9DAA6F8D-DEBA-DE32-A4F6-29B0685F3AD0}"/>
              </a:ext>
            </a:extLst>
          </p:cNvPr>
          <p:cNvSpPr txBox="1"/>
          <p:nvPr/>
        </p:nvSpPr>
        <p:spPr>
          <a:xfrm>
            <a:off x="595266" y="2941065"/>
            <a:ext cx="10486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Indeed, the new objective function consists of two components:</a:t>
            </a:r>
            <a:endParaRPr lang="it-IT" sz="28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748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8BF62F-736A-9CE9-DD54-DA7B4DCA5CA5}"/>
              </a:ext>
            </a:extLst>
          </p:cNvPr>
          <p:cNvSpPr txBox="1"/>
          <p:nvPr/>
        </p:nvSpPr>
        <p:spPr>
          <a:xfrm>
            <a:off x="3461149" y="3914309"/>
            <a:ext cx="8770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Training Loss</a:t>
            </a:r>
            <a:r>
              <a:rPr lang="it-IT" sz="2400" dirty="0">
                <a:latin typeface="Georgia" panose="02040502050405020303" pitchFamily="18" charset="0"/>
              </a:rPr>
              <a:t>: </a:t>
            </a:r>
            <a:r>
              <a:rPr lang="en-US" sz="2000" dirty="0">
                <a:latin typeface="Georgia" panose="02040502050405020303" pitchFamily="18" charset="0"/>
              </a:rPr>
              <a:t>measures how well the model fits the training data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r>
              <a:rPr lang="it-IT" sz="2800" dirty="0">
                <a:latin typeface="Georgia" panose="02040502050405020303" pitchFamily="18" charset="0"/>
              </a:rPr>
              <a:t> (</a:t>
            </a:r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47EF911-4907-F508-B3DD-AD2592706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537" y="2214434"/>
            <a:ext cx="5491151" cy="1268526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CB63C155-B800-5138-2200-7DD7B7358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802605" y="2503021"/>
            <a:ext cx="692177" cy="2270989"/>
          </a:xfrm>
          <a:prstGeom prst="rect">
            <a:avLst/>
          </a:prstGeom>
        </p:spPr>
      </p:pic>
      <p:cxnSp>
        <p:nvCxnSpPr>
          <p:cNvPr id="11" name="Connector: Curved 4">
            <a:extLst>
              <a:ext uri="{FF2B5EF4-FFF2-40B4-BE49-F238E27FC236}">
                <a16:creationId xmlns:a16="http://schemas.microsoft.com/office/drawing/2014/main" id="{A02D012D-B297-B2B8-3E88-9048ECDE4381}"/>
              </a:ext>
            </a:extLst>
          </p:cNvPr>
          <p:cNvCxnSpPr>
            <a:cxnSpLocks/>
          </p:cNvCxnSpPr>
          <p:nvPr/>
        </p:nvCxnSpPr>
        <p:spPr>
          <a:xfrm>
            <a:off x="12450145" y="2335004"/>
            <a:ext cx="966850" cy="1093996"/>
          </a:xfrm>
          <a:prstGeom prst="curvedConnector2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8AFE0029-25C4-3EFC-779E-3A388007CBD9}"/>
              </a:ext>
            </a:extLst>
          </p:cNvPr>
          <p:cNvSpPr txBox="1"/>
          <p:nvPr/>
        </p:nvSpPr>
        <p:spPr>
          <a:xfrm>
            <a:off x="11353800" y="3604513"/>
            <a:ext cx="546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latin typeface="Georgia" panose="02040502050405020303" pitchFamily="18" charset="0"/>
              </a:rPr>
              <a:t>Regularization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Term</a:t>
            </a:r>
            <a:endParaRPr lang="it-IT" sz="2400" b="1" dirty="0">
              <a:latin typeface="Georgia" panose="02040502050405020303" pitchFamily="18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FBC97B26-B030-CC37-E362-881F95D4D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67834" y="4163758"/>
            <a:ext cx="3002979" cy="946886"/>
          </a:xfrm>
          <a:prstGeom prst="rect">
            <a:avLst/>
          </a:prstGeom>
        </p:spPr>
      </p:pic>
      <p:sp>
        <p:nvSpPr>
          <p:cNvPr id="15" name="TextBox 3">
            <a:extLst>
              <a:ext uri="{FF2B5EF4-FFF2-40B4-BE49-F238E27FC236}">
                <a16:creationId xmlns:a16="http://schemas.microsoft.com/office/drawing/2014/main" id="{69BCF827-89A3-DC25-479F-C702A92C9F01}"/>
              </a:ext>
            </a:extLst>
          </p:cNvPr>
          <p:cNvSpPr txBox="1"/>
          <p:nvPr/>
        </p:nvSpPr>
        <p:spPr>
          <a:xfrm>
            <a:off x="18069322" y="5258294"/>
            <a:ext cx="6225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The purpose of this term is to prevent overfitting by penalizing tree complexity.</a:t>
            </a:r>
            <a:endParaRPr lang="it-IT" sz="2000" dirty="0">
              <a:latin typeface="Georgia" panose="02040502050405020303" pitchFamily="18" charset="0"/>
            </a:endParaRPr>
          </a:p>
        </p:txBody>
      </p:sp>
      <p:pic>
        <p:nvPicPr>
          <p:cNvPr id="18" name="Elemento grafico 17" descr="Gerarchia contorno">
            <a:extLst>
              <a:ext uri="{FF2B5EF4-FFF2-40B4-BE49-F238E27FC236}">
                <a16:creationId xmlns:a16="http://schemas.microsoft.com/office/drawing/2014/main" id="{200B9A43-2472-7218-36C9-4282F5F905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369323" y="5258294"/>
            <a:ext cx="914400" cy="914400"/>
          </a:xfrm>
          <a:prstGeom prst="rect">
            <a:avLst/>
          </a:prstGeom>
        </p:spPr>
      </p:pic>
      <p:pic>
        <p:nvPicPr>
          <p:cNvPr id="23" name="Elemento grafico 22" descr="Avviso contorno">
            <a:extLst>
              <a:ext uri="{FF2B5EF4-FFF2-40B4-BE49-F238E27FC236}">
                <a16:creationId xmlns:a16="http://schemas.microsoft.com/office/drawing/2014/main" id="{4BFA802F-B5A2-E391-B3C5-61ABE77E47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54923" y="5258294"/>
            <a:ext cx="914400" cy="914400"/>
          </a:xfrm>
          <a:prstGeom prst="rect">
            <a:avLst/>
          </a:prstGeom>
        </p:spPr>
      </p:pic>
      <p:sp>
        <p:nvSpPr>
          <p:cNvPr id="25" name="TextBox 3">
            <a:extLst>
              <a:ext uri="{FF2B5EF4-FFF2-40B4-BE49-F238E27FC236}">
                <a16:creationId xmlns:a16="http://schemas.microsoft.com/office/drawing/2014/main" id="{5DBF9F89-061D-E2BE-4EDE-62660EE717FA}"/>
              </a:ext>
            </a:extLst>
          </p:cNvPr>
          <p:cNvSpPr txBox="1"/>
          <p:nvPr/>
        </p:nvSpPr>
        <p:spPr>
          <a:xfrm>
            <a:off x="-404037" y="1748989"/>
            <a:ext cx="1048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Indeed, the new objective function consists of two components:</a:t>
            </a:r>
            <a:endParaRPr lang="it-IT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124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8BF62F-736A-9CE9-DD54-DA7B4DCA5CA5}"/>
              </a:ext>
            </a:extLst>
          </p:cNvPr>
          <p:cNvSpPr txBox="1"/>
          <p:nvPr/>
        </p:nvSpPr>
        <p:spPr>
          <a:xfrm>
            <a:off x="755012" y="3942693"/>
            <a:ext cx="8770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Training Loss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r>
              <a:rPr lang="it-IT" sz="2800" dirty="0">
                <a:latin typeface="Georgia" panose="02040502050405020303" pitchFamily="18" charset="0"/>
              </a:rPr>
              <a:t> (</a:t>
            </a:r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448309" y="1665971"/>
            <a:ext cx="7078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New objective function made of two components: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447EF911-4907-F508-B3DD-AD2592706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537" y="2214434"/>
            <a:ext cx="5491151" cy="1268526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CB63C155-B800-5138-2200-7DD7B7358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4802605" y="2503021"/>
            <a:ext cx="692177" cy="2270989"/>
          </a:xfrm>
          <a:prstGeom prst="rect">
            <a:avLst/>
          </a:prstGeom>
        </p:spPr>
      </p:pic>
      <p:cxnSp>
        <p:nvCxnSpPr>
          <p:cNvPr id="2" name="Connector: Curved 4">
            <a:extLst>
              <a:ext uri="{FF2B5EF4-FFF2-40B4-BE49-F238E27FC236}">
                <a16:creationId xmlns:a16="http://schemas.microsoft.com/office/drawing/2014/main" id="{B2984E74-3CB1-13DA-AE39-AE9AC99CD5D1}"/>
              </a:ext>
            </a:extLst>
          </p:cNvPr>
          <p:cNvCxnSpPr>
            <a:cxnSpLocks/>
            <a:stCxn id="17" idx="3"/>
            <a:endCxn id="12" idx="0"/>
          </p:cNvCxnSpPr>
          <p:nvPr/>
        </p:nvCxnSpPr>
        <p:spPr>
          <a:xfrm>
            <a:off x="8237688" y="2848697"/>
            <a:ext cx="966850" cy="1093996"/>
          </a:xfrm>
          <a:prstGeom prst="curvedConnector2">
            <a:avLst/>
          </a:prstGeom>
          <a:ln w="38100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B222246C-6FD3-3C1F-8BDD-9BCE938F80FA}"/>
              </a:ext>
            </a:extLst>
          </p:cNvPr>
          <p:cNvSpPr txBox="1"/>
          <p:nvPr/>
        </p:nvSpPr>
        <p:spPr>
          <a:xfrm>
            <a:off x="6471563" y="3942693"/>
            <a:ext cx="5465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  <a:latin typeface="Georgia" panose="02040502050405020303" pitchFamily="18" charset="0"/>
              </a:rPr>
              <a:t>Regularization</a:t>
            </a:r>
            <a:r>
              <a:rPr lang="it-IT" sz="2400" b="1" dirty="0">
                <a:solidFill>
                  <a:srgbClr val="FF0000"/>
                </a:solidFill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solidFill>
                  <a:srgbClr val="FF0000"/>
                </a:solidFill>
                <a:latin typeface="Georgia" panose="02040502050405020303" pitchFamily="18" charset="0"/>
              </a:rPr>
              <a:t>Term</a:t>
            </a:r>
            <a:endParaRPr lang="it-IT" sz="2400" b="1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274A201E-AB9A-3522-55AF-51EE5DA462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8605" y="4390648"/>
            <a:ext cx="3002979" cy="946886"/>
          </a:xfrm>
          <a:prstGeom prst="rect">
            <a:avLst/>
          </a:prstGeom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B33672CC-4E93-FA69-1F26-C56C121CFED2}"/>
              </a:ext>
            </a:extLst>
          </p:cNvPr>
          <p:cNvSpPr txBox="1"/>
          <p:nvPr/>
        </p:nvSpPr>
        <p:spPr>
          <a:xfrm>
            <a:off x="5820616" y="5309572"/>
            <a:ext cx="6225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The purpose of this term is to prevent overfitting by penalizing tree complexity.</a:t>
            </a:r>
            <a:endParaRPr lang="it-IT" sz="2000" dirty="0">
              <a:latin typeface="Georgia" panose="02040502050405020303" pitchFamily="18" charset="0"/>
            </a:endParaRPr>
          </a:p>
        </p:txBody>
      </p:sp>
      <p:pic>
        <p:nvPicPr>
          <p:cNvPr id="27" name="Elemento grafico 26" descr="Gerarchia contorno">
            <a:extLst>
              <a:ext uri="{FF2B5EF4-FFF2-40B4-BE49-F238E27FC236}">
                <a16:creationId xmlns:a16="http://schemas.microsoft.com/office/drawing/2014/main" id="{A25B3ACD-B1DE-0770-29DE-24B20A679E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34912" y="5198681"/>
            <a:ext cx="914400" cy="914400"/>
          </a:xfrm>
          <a:prstGeom prst="rect">
            <a:avLst/>
          </a:prstGeom>
        </p:spPr>
      </p:pic>
      <p:pic>
        <p:nvPicPr>
          <p:cNvPr id="33" name="Elemento grafico 32" descr="Avviso contorno">
            <a:extLst>
              <a:ext uri="{FF2B5EF4-FFF2-40B4-BE49-F238E27FC236}">
                <a16:creationId xmlns:a16="http://schemas.microsoft.com/office/drawing/2014/main" id="{8C512C7F-6DB5-42C0-A1D2-03EEBD85A1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0512" y="5167747"/>
            <a:ext cx="914400" cy="914400"/>
          </a:xfrm>
          <a:prstGeom prst="rect">
            <a:avLst/>
          </a:prstGeom>
        </p:spPr>
      </p:pic>
      <p:sp>
        <p:nvSpPr>
          <p:cNvPr id="38" name="TextBox 3">
            <a:extLst>
              <a:ext uri="{FF2B5EF4-FFF2-40B4-BE49-F238E27FC236}">
                <a16:creationId xmlns:a16="http://schemas.microsoft.com/office/drawing/2014/main" id="{44085C13-800E-0FD4-130A-9B2D1CD35065}"/>
              </a:ext>
            </a:extLst>
          </p:cNvPr>
          <p:cNvSpPr txBox="1"/>
          <p:nvPr/>
        </p:nvSpPr>
        <p:spPr>
          <a:xfrm>
            <a:off x="12025906" y="1949044"/>
            <a:ext cx="892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How </a:t>
            </a:r>
            <a:r>
              <a:rPr lang="en-US" sz="2800" dirty="0" err="1">
                <a:latin typeface="Georgia" panose="02040502050405020303" pitchFamily="18" charset="0"/>
              </a:rPr>
              <a:t>XGBoost</a:t>
            </a:r>
            <a:r>
              <a:rPr lang="en-US" sz="2800" dirty="0">
                <a:latin typeface="Georgia" panose="02040502050405020303" pitchFamily="18" charset="0"/>
              </a:rPr>
              <a:t> builds the tree in the ensemble ?</a:t>
            </a:r>
          </a:p>
        </p:txBody>
      </p:sp>
    </p:spTree>
    <p:extLst>
      <p:ext uri="{BB962C8B-B14F-4D97-AF65-F5344CB8AC3E}">
        <p14:creationId xmlns:p14="http://schemas.microsoft.com/office/powerpoint/2010/main" val="2984664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r>
              <a:rPr lang="it-IT" sz="2800" dirty="0">
                <a:latin typeface="Georgia" panose="02040502050405020303" pitchFamily="18" charset="0"/>
              </a:rPr>
              <a:t> (</a:t>
            </a:r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E4C00F-62AA-8A25-E57A-81B8AD250734}"/>
              </a:ext>
            </a:extLst>
          </p:cNvPr>
          <p:cNvCxnSpPr>
            <a:cxnSpLocks/>
          </p:cNvCxnSpPr>
          <p:nvPr/>
        </p:nvCxnSpPr>
        <p:spPr>
          <a:xfrm>
            <a:off x="-5701645" y="3147030"/>
            <a:ext cx="1095031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6684FBA-D0FC-F214-7A2F-C3D9BC9D70C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-4530414" y="3147030"/>
            <a:ext cx="2884494" cy="2914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1777179" y="2133710"/>
            <a:ext cx="892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How </a:t>
            </a:r>
            <a:r>
              <a:rPr lang="en-US" sz="2800" dirty="0" err="1">
                <a:latin typeface="Georgia" panose="02040502050405020303" pitchFamily="18" charset="0"/>
              </a:rPr>
              <a:t>XGBoost</a:t>
            </a:r>
            <a:r>
              <a:rPr lang="en-US" sz="2800" dirty="0">
                <a:latin typeface="Georgia" panose="02040502050405020303" pitchFamily="18" charset="0"/>
              </a:rPr>
              <a:t> builds the tree in the ensemble ?</a:t>
            </a:r>
          </a:p>
        </p:txBody>
      </p:sp>
      <p:cxnSp>
        <p:nvCxnSpPr>
          <p:cNvPr id="17" name="Straight Arrow Connector 62">
            <a:extLst>
              <a:ext uri="{FF2B5EF4-FFF2-40B4-BE49-F238E27FC236}">
                <a16:creationId xmlns:a16="http://schemas.microsoft.com/office/drawing/2014/main" id="{DD30B6C9-7210-B332-73C4-EC87782B23F8}"/>
              </a:ext>
            </a:extLst>
          </p:cNvPr>
          <p:cNvCxnSpPr>
            <a:cxnSpLocks/>
          </p:cNvCxnSpPr>
          <p:nvPr/>
        </p:nvCxnSpPr>
        <p:spPr>
          <a:xfrm>
            <a:off x="13879320" y="2875569"/>
            <a:ext cx="0" cy="54292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3">
            <a:extLst>
              <a:ext uri="{FF2B5EF4-FFF2-40B4-BE49-F238E27FC236}">
                <a16:creationId xmlns:a16="http://schemas.microsoft.com/office/drawing/2014/main" id="{F0D39EE8-58C2-494A-C78F-87895ABF94D7}"/>
              </a:ext>
            </a:extLst>
          </p:cNvPr>
          <p:cNvSpPr txBox="1"/>
          <p:nvPr/>
        </p:nvSpPr>
        <p:spPr>
          <a:xfrm>
            <a:off x="12532093" y="5165230"/>
            <a:ext cx="57053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We optimize the objective function with respect to the leaf weights</a:t>
            </a:r>
            <a:endParaRPr lang="it-IT" sz="2000" dirty="0">
              <a:latin typeface="Georgia" panose="02040502050405020303" pitchFamily="18" charset="0"/>
            </a:endParaRPr>
          </a:p>
        </p:txBody>
      </p:sp>
      <p:cxnSp>
        <p:nvCxnSpPr>
          <p:cNvPr id="33" name="Straight Arrow Connector 62">
            <a:extLst>
              <a:ext uri="{FF2B5EF4-FFF2-40B4-BE49-F238E27FC236}">
                <a16:creationId xmlns:a16="http://schemas.microsoft.com/office/drawing/2014/main" id="{FDA3197D-771E-E700-8A07-1F183B9FB61F}"/>
              </a:ext>
            </a:extLst>
          </p:cNvPr>
          <p:cNvCxnSpPr>
            <a:cxnSpLocks/>
          </p:cNvCxnSpPr>
          <p:nvPr/>
        </p:nvCxnSpPr>
        <p:spPr>
          <a:xfrm>
            <a:off x="13935159" y="4177654"/>
            <a:ext cx="0" cy="54292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62">
            <a:extLst>
              <a:ext uri="{FF2B5EF4-FFF2-40B4-BE49-F238E27FC236}">
                <a16:creationId xmlns:a16="http://schemas.microsoft.com/office/drawing/2014/main" id="{21A22ED7-0886-8361-6177-C61BC1E2ADA6}"/>
              </a:ext>
            </a:extLst>
          </p:cNvPr>
          <p:cNvCxnSpPr>
            <a:cxnSpLocks/>
          </p:cNvCxnSpPr>
          <p:nvPr/>
        </p:nvCxnSpPr>
        <p:spPr>
          <a:xfrm>
            <a:off x="13879320" y="6399336"/>
            <a:ext cx="206467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794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E4C00F-62AA-8A25-E57A-81B8AD250734}"/>
              </a:ext>
            </a:extLst>
          </p:cNvPr>
          <p:cNvCxnSpPr>
            <a:cxnSpLocks/>
          </p:cNvCxnSpPr>
          <p:nvPr/>
        </p:nvCxnSpPr>
        <p:spPr>
          <a:xfrm>
            <a:off x="-5701645" y="3147030"/>
            <a:ext cx="1095031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6684FBA-D0FC-F214-7A2F-C3D9BC9D70C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-4530414" y="3147030"/>
            <a:ext cx="2884494" cy="2914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-1180138" y="1912038"/>
            <a:ext cx="89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How </a:t>
            </a:r>
            <a:r>
              <a:rPr lang="en-US" sz="2000" dirty="0" err="1">
                <a:latin typeface="Georgia" panose="02040502050405020303" pitchFamily="18" charset="0"/>
              </a:rPr>
              <a:t>XGBoost</a:t>
            </a:r>
            <a:r>
              <a:rPr lang="en-US" sz="2000" dirty="0">
                <a:latin typeface="Georgia" panose="02040502050405020303" pitchFamily="18" charset="0"/>
              </a:rPr>
              <a:t> builds the tree in the ensemble ?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F0D39EE8-58C2-494A-C78F-87895ABF94D7}"/>
              </a:ext>
            </a:extLst>
          </p:cNvPr>
          <p:cNvSpPr txBox="1"/>
          <p:nvPr/>
        </p:nvSpPr>
        <p:spPr>
          <a:xfrm>
            <a:off x="1175877" y="2464383"/>
            <a:ext cx="8637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We optimize the previous objective function with respect to the leaf weights…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4" name="Straight Arrow Connector 62">
            <a:extLst>
              <a:ext uri="{FF2B5EF4-FFF2-40B4-BE49-F238E27FC236}">
                <a16:creationId xmlns:a16="http://schemas.microsoft.com/office/drawing/2014/main" id="{21A22ED7-0886-8361-6177-C61BC1E2ADA6}"/>
              </a:ext>
            </a:extLst>
          </p:cNvPr>
          <p:cNvCxnSpPr>
            <a:cxnSpLocks/>
          </p:cNvCxnSpPr>
          <p:nvPr/>
        </p:nvCxnSpPr>
        <p:spPr>
          <a:xfrm>
            <a:off x="13879320" y="6399336"/>
            <a:ext cx="206467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magine 3">
            <a:extLst>
              <a:ext uri="{FF2B5EF4-FFF2-40B4-BE49-F238E27FC236}">
                <a16:creationId xmlns:a16="http://schemas.microsoft.com/office/drawing/2014/main" id="{43F5AAF6-4620-DF65-3F79-E7FA30DE8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2601715" y="3636695"/>
            <a:ext cx="573608" cy="1114615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61E9420E-A138-6939-76C8-37645FE3FD06}"/>
              </a:ext>
            </a:extLst>
          </p:cNvPr>
          <p:cNvSpPr txBox="1"/>
          <p:nvPr/>
        </p:nvSpPr>
        <p:spPr>
          <a:xfrm>
            <a:off x="13535013" y="3636695"/>
            <a:ext cx="33063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This last equation </a:t>
            </a:r>
            <a:r>
              <a:rPr lang="en-US" sz="2000" b="1" dirty="0">
                <a:latin typeface="Georgia" panose="02040502050405020303" pitchFamily="18" charset="0"/>
              </a:rPr>
              <a:t>measures how good the tree structure is !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pic>
        <p:nvPicPr>
          <p:cNvPr id="10" name="Elemento grafico 9" descr="Gerarchia contorno">
            <a:extLst>
              <a:ext uri="{FF2B5EF4-FFF2-40B4-BE49-F238E27FC236}">
                <a16:creationId xmlns:a16="http://schemas.microsoft.com/office/drawing/2014/main" id="{2E9B7E8E-A8D2-C0BF-BF49-601DF0DB9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841355" y="3724763"/>
            <a:ext cx="933298" cy="93329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40F1B18-89BA-7930-721B-3655EC123C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4320" y="3598956"/>
            <a:ext cx="4608420" cy="153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6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E4C00F-62AA-8A25-E57A-81B8AD250734}"/>
              </a:ext>
            </a:extLst>
          </p:cNvPr>
          <p:cNvCxnSpPr>
            <a:cxnSpLocks/>
          </p:cNvCxnSpPr>
          <p:nvPr/>
        </p:nvCxnSpPr>
        <p:spPr>
          <a:xfrm>
            <a:off x="-5701645" y="3147030"/>
            <a:ext cx="1095031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6684FBA-D0FC-F214-7A2F-C3D9BC9D70C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-4530414" y="3147030"/>
            <a:ext cx="2884494" cy="2914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-1180138" y="1912038"/>
            <a:ext cx="89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How </a:t>
            </a:r>
            <a:r>
              <a:rPr lang="en-US" sz="2000" dirty="0" err="1">
                <a:latin typeface="Georgia" panose="02040502050405020303" pitchFamily="18" charset="0"/>
              </a:rPr>
              <a:t>XGBoost</a:t>
            </a:r>
            <a:r>
              <a:rPr lang="en-US" sz="2000" dirty="0">
                <a:latin typeface="Georgia" panose="02040502050405020303" pitchFamily="18" charset="0"/>
              </a:rPr>
              <a:t> builds the tree in the ensemble ?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F0D39EE8-58C2-494A-C78F-87895ABF94D7}"/>
              </a:ext>
            </a:extLst>
          </p:cNvPr>
          <p:cNvSpPr txBox="1"/>
          <p:nvPr/>
        </p:nvSpPr>
        <p:spPr>
          <a:xfrm>
            <a:off x="1175877" y="2464383"/>
            <a:ext cx="8637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We optimize the previous objective function with respect to the leaf weights…</a:t>
            </a:r>
            <a:endParaRPr lang="it-IT" sz="2800" dirty="0">
              <a:latin typeface="Georgia" panose="02040502050405020303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7EFC184-9763-FBD1-66CA-EE01F1007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20" y="3630292"/>
            <a:ext cx="4380297" cy="1454524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3F5AAF6-4620-DF65-3F79-E7FA30DE8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422740" y="3739719"/>
            <a:ext cx="573608" cy="1114615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61E9420E-A138-6939-76C8-37645FE3FD06}"/>
              </a:ext>
            </a:extLst>
          </p:cNvPr>
          <p:cNvSpPr txBox="1"/>
          <p:nvPr/>
        </p:nvSpPr>
        <p:spPr>
          <a:xfrm>
            <a:off x="7996348" y="3767757"/>
            <a:ext cx="33063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This last equation </a:t>
            </a:r>
            <a:r>
              <a:rPr lang="en-US" sz="2000" b="1" dirty="0">
                <a:latin typeface="Georgia" panose="02040502050405020303" pitchFamily="18" charset="0"/>
              </a:rPr>
              <a:t>measures how good the tree structure is !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pic>
        <p:nvPicPr>
          <p:cNvPr id="10" name="Elemento grafico 9" descr="Gerarchia contorno">
            <a:extLst>
              <a:ext uri="{FF2B5EF4-FFF2-40B4-BE49-F238E27FC236}">
                <a16:creationId xmlns:a16="http://schemas.microsoft.com/office/drawing/2014/main" id="{2E9B7E8E-A8D2-C0BF-BF49-601DF0DB97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58702" y="3764564"/>
            <a:ext cx="933298" cy="93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22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E4C00F-62AA-8A25-E57A-81B8AD250734}"/>
              </a:ext>
            </a:extLst>
          </p:cNvPr>
          <p:cNvCxnSpPr>
            <a:cxnSpLocks/>
          </p:cNvCxnSpPr>
          <p:nvPr/>
        </p:nvCxnSpPr>
        <p:spPr>
          <a:xfrm>
            <a:off x="-5701645" y="3147030"/>
            <a:ext cx="1095031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6684FBA-D0FC-F214-7A2F-C3D9BC9D70C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-4530414" y="3147030"/>
            <a:ext cx="2884494" cy="2914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-1180138" y="1912038"/>
            <a:ext cx="89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How </a:t>
            </a:r>
            <a:r>
              <a:rPr lang="en-US" sz="2000" dirty="0" err="1">
                <a:latin typeface="Georgia" panose="02040502050405020303" pitchFamily="18" charset="0"/>
              </a:rPr>
              <a:t>XGBoost</a:t>
            </a:r>
            <a:r>
              <a:rPr lang="en-US" sz="2000" dirty="0">
                <a:latin typeface="Georgia" panose="02040502050405020303" pitchFamily="18" charset="0"/>
              </a:rPr>
              <a:t> builds the tree in the ensemble ?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7EFC184-9763-FBD1-66CA-EE01F1007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604" y="7233477"/>
            <a:ext cx="4380297" cy="1454524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30322BE1-2644-273C-4E50-36F5697E5040}"/>
              </a:ext>
            </a:extLst>
          </p:cNvPr>
          <p:cNvSpPr txBox="1"/>
          <p:nvPr/>
        </p:nvSpPr>
        <p:spPr>
          <a:xfrm>
            <a:off x="309411" y="2518905"/>
            <a:ext cx="110443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Ideally</a:t>
            </a:r>
            <a:r>
              <a:rPr lang="it-IT" sz="2800" dirty="0">
                <a:latin typeface="Georgia" panose="02040502050405020303" pitchFamily="18" charset="0"/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latin typeface="Georgia" panose="02040502050405020303" pitchFamily="18" charset="0"/>
              </a:rPr>
              <a:t>we should enumerate all possible trees and pick the one that has the </a:t>
            </a:r>
            <a:r>
              <a:rPr lang="en-US" sz="2800" b="1" dirty="0">
                <a:latin typeface="Georgia" panose="02040502050405020303" pitchFamily="18" charset="0"/>
              </a:rPr>
              <a:t>lowest objective value</a:t>
            </a:r>
            <a:r>
              <a:rPr lang="en-US" sz="2000" b="1" dirty="0">
                <a:latin typeface="Georgia" panose="02040502050405020303" pitchFamily="18" charset="0"/>
              </a:rPr>
              <a:t>.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pic>
        <p:nvPicPr>
          <p:cNvPr id="12" name="Elemento grafico 11" descr="Avviso contorno">
            <a:extLst>
              <a:ext uri="{FF2B5EF4-FFF2-40B4-BE49-F238E27FC236}">
                <a16:creationId xmlns:a16="http://schemas.microsoft.com/office/drawing/2014/main" id="{0204FB5E-6EA9-D223-DEF1-132CC354D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95027" y="3449151"/>
            <a:ext cx="914400" cy="914400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EB60E3CC-24AC-72EC-EA4F-68B8F908BF84}"/>
              </a:ext>
            </a:extLst>
          </p:cNvPr>
          <p:cNvSpPr txBox="1"/>
          <p:nvPr/>
        </p:nvSpPr>
        <p:spPr>
          <a:xfrm>
            <a:off x="10578920" y="3892644"/>
            <a:ext cx="892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But in practice this is not feasible !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7B95171F-2770-0E97-8AB6-6FE09F1A912D}"/>
              </a:ext>
            </a:extLst>
          </p:cNvPr>
          <p:cNvSpPr txBox="1"/>
          <p:nvPr/>
        </p:nvSpPr>
        <p:spPr>
          <a:xfrm>
            <a:off x="11956620" y="4555773"/>
            <a:ext cx="101778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Instead of attempting to build the entire tree all at once, the model focuses on improving the tree structure step by step.</a:t>
            </a:r>
          </a:p>
        </p:txBody>
      </p:sp>
      <p:pic>
        <p:nvPicPr>
          <p:cNvPr id="17" name="Elemento grafico 16" descr="Grafico esponenziale contorno">
            <a:extLst>
              <a:ext uri="{FF2B5EF4-FFF2-40B4-BE49-F238E27FC236}">
                <a16:creationId xmlns:a16="http://schemas.microsoft.com/office/drawing/2014/main" id="{0F0C16D2-B686-80B3-36C8-80C58C7174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21406" y="55628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0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-1180138" y="1912038"/>
            <a:ext cx="89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How </a:t>
            </a:r>
            <a:r>
              <a:rPr lang="en-US" sz="2000" dirty="0" err="1">
                <a:latin typeface="Georgia" panose="02040502050405020303" pitchFamily="18" charset="0"/>
              </a:rPr>
              <a:t>XGBoost</a:t>
            </a:r>
            <a:r>
              <a:rPr lang="en-US" sz="2000" dirty="0">
                <a:latin typeface="Georgia" panose="02040502050405020303" pitchFamily="18" charset="0"/>
              </a:rPr>
              <a:t> builds the tree in the ensemble ?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30322BE1-2644-273C-4E50-36F5697E5040}"/>
              </a:ext>
            </a:extLst>
          </p:cNvPr>
          <p:cNvSpPr txBox="1"/>
          <p:nvPr/>
        </p:nvSpPr>
        <p:spPr>
          <a:xfrm>
            <a:off x="420089" y="2410543"/>
            <a:ext cx="11044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Georgia" panose="02040502050405020303" pitchFamily="18" charset="0"/>
              </a:rPr>
              <a:t>Ideally</a:t>
            </a:r>
            <a:r>
              <a:rPr lang="it-IT" sz="2000" dirty="0">
                <a:latin typeface="Georgia" panose="02040502050405020303" pitchFamily="18" charset="0"/>
              </a:rPr>
              <a:t>,</a:t>
            </a:r>
            <a:r>
              <a:rPr lang="en-US" sz="2000" dirty="0"/>
              <a:t> </a:t>
            </a:r>
            <a:r>
              <a:rPr lang="en-US" sz="2000" dirty="0">
                <a:latin typeface="Georgia" panose="02040502050405020303" pitchFamily="18" charset="0"/>
              </a:rPr>
              <a:t>we should enumerate all possible trees and pick the one that has the </a:t>
            </a:r>
            <a:r>
              <a:rPr lang="en-US" sz="2000" b="1" dirty="0">
                <a:latin typeface="Georgia" panose="02040502050405020303" pitchFamily="18" charset="0"/>
              </a:rPr>
              <a:t>lowest objective value.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CED4ADE-F9C6-4EC9-63E1-CD11EDFDC88C}"/>
              </a:ext>
            </a:extLst>
          </p:cNvPr>
          <p:cNvSpPr txBox="1"/>
          <p:nvPr/>
        </p:nvSpPr>
        <p:spPr>
          <a:xfrm>
            <a:off x="1418574" y="3288301"/>
            <a:ext cx="8929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But in practice this is not feasible !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46759667-0F87-3152-714B-4C901B9B66F3}"/>
              </a:ext>
            </a:extLst>
          </p:cNvPr>
          <p:cNvSpPr txBox="1"/>
          <p:nvPr/>
        </p:nvSpPr>
        <p:spPr>
          <a:xfrm>
            <a:off x="725179" y="4098596"/>
            <a:ext cx="101778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Because the possible number of trees grows exponentially with the increase of the tree depth and the number of variables</a:t>
            </a:r>
          </a:p>
        </p:txBody>
      </p:sp>
      <p:pic>
        <p:nvPicPr>
          <p:cNvPr id="13" name="Elemento grafico 12" descr="Avviso contorno">
            <a:extLst>
              <a:ext uri="{FF2B5EF4-FFF2-40B4-BE49-F238E27FC236}">
                <a16:creationId xmlns:a16="http://schemas.microsoft.com/office/drawing/2014/main" id="{D388D5D0-BB6F-882B-A00E-0A17932E3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7608" y="2898893"/>
            <a:ext cx="914400" cy="914400"/>
          </a:xfrm>
          <a:prstGeom prst="rect">
            <a:avLst/>
          </a:prstGeom>
        </p:spPr>
      </p:pic>
      <p:pic>
        <p:nvPicPr>
          <p:cNvPr id="15" name="Elemento grafico 14" descr="Grafico esponenziale contorno">
            <a:extLst>
              <a:ext uri="{FF2B5EF4-FFF2-40B4-BE49-F238E27FC236}">
                <a16:creationId xmlns:a16="http://schemas.microsoft.com/office/drawing/2014/main" id="{310F5851-D13C-3705-E49C-6D143B001A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96600" y="4092859"/>
            <a:ext cx="914400" cy="914400"/>
          </a:xfrm>
          <a:prstGeom prst="rect">
            <a:avLst/>
          </a:prstGeom>
        </p:spPr>
      </p:pic>
      <p:sp>
        <p:nvSpPr>
          <p:cNvPr id="17" name="TextBox 3">
            <a:extLst>
              <a:ext uri="{FF2B5EF4-FFF2-40B4-BE49-F238E27FC236}">
                <a16:creationId xmlns:a16="http://schemas.microsoft.com/office/drawing/2014/main" id="{64E14F8C-DE82-0B3D-DD22-4BC1C1FA436B}"/>
              </a:ext>
            </a:extLst>
          </p:cNvPr>
          <p:cNvSpPr txBox="1"/>
          <p:nvPr/>
        </p:nvSpPr>
        <p:spPr>
          <a:xfrm>
            <a:off x="-10987605" y="3429000"/>
            <a:ext cx="10781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Instead of attempting to build the entire tree all at once, </a:t>
            </a:r>
            <a:r>
              <a:rPr lang="en-US" sz="2800" dirty="0" err="1">
                <a:latin typeface="Georgia" panose="02040502050405020303" pitchFamily="18" charset="0"/>
              </a:rPr>
              <a:t>XGBoost</a:t>
            </a:r>
            <a:r>
              <a:rPr lang="en-US" sz="2800" dirty="0">
                <a:latin typeface="Georgia" panose="02040502050405020303" pitchFamily="18" charset="0"/>
              </a:rPr>
              <a:t> focuses on </a:t>
            </a:r>
            <a:r>
              <a:rPr lang="en-US" sz="2800" b="1" dirty="0">
                <a:latin typeface="Georgia" panose="02040502050405020303" pitchFamily="18" charset="0"/>
              </a:rPr>
              <a:t>improving the tree structure step by step.</a:t>
            </a:r>
          </a:p>
        </p:txBody>
      </p:sp>
      <p:pic>
        <p:nvPicPr>
          <p:cNvPr id="18" name="Elemento grafico 17" descr="Impronte di scarpa contorno">
            <a:extLst>
              <a:ext uri="{FF2B5EF4-FFF2-40B4-BE49-F238E27FC236}">
                <a16:creationId xmlns:a16="http://schemas.microsoft.com/office/drawing/2014/main" id="{ED9AF4DB-F897-EE77-34B2-6F951E9A7F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101515" y="33100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-1180138" y="1912038"/>
            <a:ext cx="89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How </a:t>
            </a:r>
            <a:r>
              <a:rPr lang="en-US" sz="2000" dirty="0" err="1">
                <a:latin typeface="Georgia" panose="02040502050405020303" pitchFamily="18" charset="0"/>
              </a:rPr>
              <a:t>XGBoost</a:t>
            </a:r>
            <a:r>
              <a:rPr lang="en-US" sz="2000" dirty="0">
                <a:latin typeface="Georgia" panose="02040502050405020303" pitchFamily="18" charset="0"/>
              </a:rPr>
              <a:t> builds the tree in the ensemble ?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30322BE1-2644-273C-4E50-36F5697E5040}"/>
              </a:ext>
            </a:extLst>
          </p:cNvPr>
          <p:cNvSpPr txBox="1"/>
          <p:nvPr/>
        </p:nvSpPr>
        <p:spPr>
          <a:xfrm>
            <a:off x="420089" y="2410543"/>
            <a:ext cx="110443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Georgia" panose="02040502050405020303" pitchFamily="18" charset="0"/>
              </a:rPr>
              <a:t>Ideally</a:t>
            </a:r>
            <a:r>
              <a:rPr lang="it-IT" sz="2000" dirty="0">
                <a:latin typeface="Georgia" panose="02040502050405020303" pitchFamily="18" charset="0"/>
              </a:rPr>
              <a:t>,</a:t>
            </a:r>
            <a:r>
              <a:rPr lang="en-US" sz="2000" dirty="0"/>
              <a:t> </a:t>
            </a:r>
            <a:r>
              <a:rPr lang="en-US" sz="2000" dirty="0">
                <a:latin typeface="Georgia" panose="02040502050405020303" pitchFamily="18" charset="0"/>
              </a:rPr>
              <a:t>we should enumerate all possible trees and pick the one that has the </a:t>
            </a:r>
            <a:r>
              <a:rPr lang="en-US" sz="2000" b="1" dirty="0">
                <a:latin typeface="Georgia" panose="02040502050405020303" pitchFamily="18" charset="0"/>
              </a:rPr>
              <a:t>lowest objective value.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46759667-0F87-3152-714B-4C901B9B66F3}"/>
              </a:ext>
            </a:extLst>
          </p:cNvPr>
          <p:cNvSpPr txBox="1"/>
          <p:nvPr/>
        </p:nvSpPr>
        <p:spPr>
          <a:xfrm>
            <a:off x="551321" y="3692131"/>
            <a:ext cx="10781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Instead of attempting to build the entire tree all at once, </a:t>
            </a:r>
            <a:r>
              <a:rPr lang="en-US" sz="2800" dirty="0" err="1">
                <a:latin typeface="Georgia" panose="02040502050405020303" pitchFamily="18" charset="0"/>
              </a:rPr>
              <a:t>XGBoost</a:t>
            </a:r>
            <a:r>
              <a:rPr lang="en-US" sz="2800" dirty="0">
                <a:latin typeface="Georgia" panose="02040502050405020303" pitchFamily="18" charset="0"/>
              </a:rPr>
              <a:t> focuses on </a:t>
            </a:r>
            <a:r>
              <a:rPr lang="en-US" sz="2800" b="1" dirty="0">
                <a:latin typeface="Georgia" panose="02040502050405020303" pitchFamily="18" charset="0"/>
              </a:rPr>
              <a:t>improving the tree structure step by step.</a:t>
            </a:r>
          </a:p>
        </p:txBody>
      </p:sp>
      <p:pic>
        <p:nvPicPr>
          <p:cNvPr id="4" name="Elemento grafico 3" descr="Impronte di scarpa contorno">
            <a:extLst>
              <a:ext uri="{FF2B5EF4-FFF2-40B4-BE49-F238E27FC236}">
                <a16:creationId xmlns:a16="http://schemas.microsoft.com/office/drawing/2014/main" id="{F8CD38E6-1F5B-EBED-E0A8-C7CDA93BD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1506" y="3793733"/>
            <a:ext cx="914400" cy="914400"/>
          </a:xfrm>
          <a:prstGeom prst="rect">
            <a:avLst/>
          </a:prstGeom>
        </p:spPr>
      </p:pic>
      <p:sp>
        <p:nvSpPr>
          <p:cNvPr id="21" name="TextBox 3">
            <a:extLst>
              <a:ext uri="{FF2B5EF4-FFF2-40B4-BE49-F238E27FC236}">
                <a16:creationId xmlns:a16="http://schemas.microsoft.com/office/drawing/2014/main" id="{419B305C-A6EF-4705-BE34-252D508E0DE3}"/>
              </a:ext>
            </a:extLst>
          </p:cNvPr>
          <p:cNvSpPr txBox="1"/>
          <p:nvPr/>
        </p:nvSpPr>
        <p:spPr>
          <a:xfrm>
            <a:off x="1165138" y="7169841"/>
            <a:ext cx="92186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More specifically, the process involves taking an existing leaf of the tree and attempt in to split it into two leaves and so on…</a:t>
            </a:r>
          </a:p>
        </p:txBody>
      </p:sp>
      <p:cxnSp>
        <p:nvCxnSpPr>
          <p:cNvPr id="22" name="Straight Arrow Connector 62">
            <a:extLst>
              <a:ext uri="{FF2B5EF4-FFF2-40B4-BE49-F238E27FC236}">
                <a16:creationId xmlns:a16="http://schemas.microsoft.com/office/drawing/2014/main" id="{46D3A47C-DF44-82CB-56E2-99B0D759CBC0}"/>
              </a:ext>
            </a:extLst>
          </p:cNvPr>
          <p:cNvCxnSpPr>
            <a:cxnSpLocks/>
          </p:cNvCxnSpPr>
          <p:nvPr/>
        </p:nvCxnSpPr>
        <p:spPr>
          <a:xfrm>
            <a:off x="3530010" y="5567515"/>
            <a:ext cx="85060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Elemento grafico 23" descr="Muro di mattoni dell'edificio contorno">
            <a:extLst>
              <a:ext uri="{FF2B5EF4-FFF2-40B4-BE49-F238E27FC236}">
                <a16:creationId xmlns:a16="http://schemas.microsoft.com/office/drawing/2014/main" id="{F1DB1949-71A8-AF33-8A3A-D6FE679DC8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56640" y="4949100"/>
            <a:ext cx="914400" cy="914400"/>
          </a:xfrm>
          <a:prstGeom prst="rect">
            <a:avLst/>
          </a:prstGeom>
        </p:spPr>
      </p:pic>
      <p:pic>
        <p:nvPicPr>
          <p:cNvPr id="26" name="Elemento grafico 25" descr="Muro di mattoni dell'edificio contorno">
            <a:extLst>
              <a:ext uri="{FF2B5EF4-FFF2-40B4-BE49-F238E27FC236}">
                <a16:creationId xmlns:a16="http://schemas.microsoft.com/office/drawing/2014/main" id="{30B09622-7375-108D-AA16-214656C3F8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3506" y="5038179"/>
            <a:ext cx="914400" cy="914400"/>
          </a:xfrm>
          <a:prstGeom prst="rect">
            <a:avLst/>
          </a:prstGeom>
        </p:spPr>
      </p:pic>
      <p:pic>
        <p:nvPicPr>
          <p:cNvPr id="29" name="Elemento grafico 28" descr="Muro di mattoni dell'edificio contorno">
            <a:extLst>
              <a:ext uri="{FF2B5EF4-FFF2-40B4-BE49-F238E27FC236}">
                <a16:creationId xmlns:a16="http://schemas.microsoft.com/office/drawing/2014/main" id="{4DC3BCBF-4216-9B8C-6C03-C545917015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9895" y="5038179"/>
            <a:ext cx="914400" cy="914400"/>
          </a:xfrm>
          <a:prstGeom prst="rect">
            <a:avLst/>
          </a:prstGeom>
        </p:spPr>
      </p:pic>
      <p:pic>
        <p:nvPicPr>
          <p:cNvPr id="30" name="Elemento grafico 29" descr="Muro di mattoni dell'edificio contorno">
            <a:extLst>
              <a:ext uri="{FF2B5EF4-FFF2-40B4-BE49-F238E27FC236}">
                <a16:creationId xmlns:a16="http://schemas.microsoft.com/office/drawing/2014/main" id="{B7843F34-8E7E-EFE8-C4C8-56984CD765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9553" y="5038179"/>
            <a:ext cx="914400" cy="914400"/>
          </a:xfrm>
          <a:prstGeom prst="rect">
            <a:avLst/>
          </a:prstGeom>
        </p:spPr>
      </p:pic>
      <p:cxnSp>
        <p:nvCxnSpPr>
          <p:cNvPr id="32" name="Straight Arrow Connector 62">
            <a:extLst>
              <a:ext uri="{FF2B5EF4-FFF2-40B4-BE49-F238E27FC236}">
                <a16:creationId xmlns:a16="http://schemas.microsoft.com/office/drawing/2014/main" id="{C6BB0257-F4A4-7DBC-1257-CCB4FA8FC73A}"/>
              </a:ext>
            </a:extLst>
          </p:cNvPr>
          <p:cNvCxnSpPr>
            <a:cxnSpLocks/>
          </p:cNvCxnSpPr>
          <p:nvPr/>
        </p:nvCxnSpPr>
        <p:spPr>
          <a:xfrm>
            <a:off x="6066898" y="5567515"/>
            <a:ext cx="85060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62">
            <a:extLst>
              <a:ext uri="{FF2B5EF4-FFF2-40B4-BE49-F238E27FC236}">
                <a16:creationId xmlns:a16="http://schemas.microsoft.com/office/drawing/2014/main" id="{D9D81C8C-5C8F-78F0-E58D-0E4703108337}"/>
              </a:ext>
            </a:extLst>
          </p:cNvPr>
          <p:cNvCxnSpPr>
            <a:cxnSpLocks/>
          </p:cNvCxnSpPr>
          <p:nvPr/>
        </p:nvCxnSpPr>
        <p:spPr>
          <a:xfrm>
            <a:off x="8527076" y="5567515"/>
            <a:ext cx="850604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99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205E009A-A974-F82C-D0A3-437370CE900F}"/>
              </a:ext>
            </a:extLst>
          </p:cNvPr>
          <p:cNvSpPr txBox="1"/>
          <p:nvPr/>
        </p:nvSpPr>
        <p:spPr>
          <a:xfrm>
            <a:off x="-1180138" y="1912038"/>
            <a:ext cx="8929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How </a:t>
            </a:r>
            <a:r>
              <a:rPr lang="en-US" sz="2000" dirty="0" err="1">
                <a:latin typeface="Georgia" panose="02040502050405020303" pitchFamily="18" charset="0"/>
              </a:rPr>
              <a:t>XGBoost</a:t>
            </a:r>
            <a:r>
              <a:rPr lang="en-US" sz="2000" dirty="0">
                <a:latin typeface="Georgia" panose="02040502050405020303" pitchFamily="18" charset="0"/>
              </a:rPr>
              <a:t> builds the tree in the ensemble ?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CED4ADE-F9C6-4EC9-63E1-CD11EDFDC88C}"/>
              </a:ext>
            </a:extLst>
          </p:cNvPr>
          <p:cNvSpPr txBox="1"/>
          <p:nvPr/>
        </p:nvSpPr>
        <p:spPr>
          <a:xfrm>
            <a:off x="1127564" y="3948727"/>
            <a:ext cx="92186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More specifically, the process involves taking an existing leaf of the tree and attempt to split it into two leaves and so on...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46759667-0F87-3152-714B-4C901B9B66F3}"/>
              </a:ext>
            </a:extLst>
          </p:cNvPr>
          <p:cNvSpPr txBox="1"/>
          <p:nvPr/>
        </p:nvSpPr>
        <p:spPr>
          <a:xfrm>
            <a:off x="381000" y="2481449"/>
            <a:ext cx="10781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Instead of attempting to build the entire tree all at once, </a:t>
            </a:r>
            <a:r>
              <a:rPr lang="en-US" sz="2000" dirty="0" err="1">
                <a:latin typeface="Georgia" panose="02040502050405020303" pitchFamily="18" charset="0"/>
              </a:rPr>
              <a:t>XGBoost</a:t>
            </a:r>
            <a:r>
              <a:rPr lang="en-US" sz="2000" dirty="0">
                <a:latin typeface="Georgia" panose="02040502050405020303" pitchFamily="18" charset="0"/>
              </a:rPr>
              <a:t> focuses on </a:t>
            </a:r>
            <a:r>
              <a:rPr lang="en-US" sz="2000" b="1" dirty="0">
                <a:latin typeface="Georgia" panose="02040502050405020303" pitchFamily="18" charset="0"/>
              </a:rPr>
              <a:t>improving the tree structure step by step.</a:t>
            </a:r>
          </a:p>
        </p:txBody>
      </p:sp>
      <p:pic>
        <p:nvPicPr>
          <p:cNvPr id="4" name="Elemento grafico 3" descr="Impronte di scarpa contorno">
            <a:extLst>
              <a:ext uri="{FF2B5EF4-FFF2-40B4-BE49-F238E27FC236}">
                <a16:creationId xmlns:a16="http://schemas.microsoft.com/office/drawing/2014/main" id="{F8CD38E6-1F5B-EBED-E0A8-C7CDA93BD6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92821" y="2378192"/>
            <a:ext cx="914400" cy="914400"/>
          </a:xfrm>
          <a:prstGeom prst="rect">
            <a:avLst/>
          </a:prstGeom>
        </p:spPr>
      </p:pic>
      <p:cxnSp>
        <p:nvCxnSpPr>
          <p:cNvPr id="7" name="Straight Arrow Connector 62">
            <a:extLst>
              <a:ext uri="{FF2B5EF4-FFF2-40B4-BE49-F238E27FC236}">
                <a16:creationId xmlns:a16="http://schemas.microsoft.com/office/drawing/2014/main" id="{098922C3-6D70-ED3B-84E3-78855EE51AAE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5736911" y="3292592"/>
            <a:ext cx="0" cy="656135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54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r>
              <a:rPr lang="it-IT" sz="2800" dirty="0">
                <a:latin typeface="Georgia" panose="02040502050405020303" pitchFamily="18" charset="0"/>
              </a:rPr>
              <a:t>: </a:t>
            </a:r>
            <a:r>
              <a:rPr lang="it-IT" sz="2800" dirty="0" err="1">
                <a:latin typeface="Georgia" panose="02040502050405020303" pitchFamily="18" charset="0"/>
              </a:rPr>
              <a:t>Visualization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6BCD4-0638-16AA-1865-BDA4B4075322}"/>
              </a:ext>
            </a:extLst>
          </p:cNvPr>
          <p:cNvSpPr txBox="1"/>
          <p:nvPr/>
        </p:nvSpPr>
        <p:spPr>
          <a:xfrm>
            <a:off x="203724" y="1792195"/>
            <a:ext cx="7315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Georgia" panose="02040502050405020303" pitchFamily="18" charset="0"/>
              </a:rPr>
              <a:t>We</a:t>
            </a:r>
            <a:r>
              <a:rPr lang="it-IT" sz="2000" dirty="0">
                <a:latin typeface="Georgia" panose="02040502050405020303" pitchFamily="18" charset="0"/>
              </a:rPr>
              <a:t> start with a </a:t>
            </a:r>
            <a:r>
              <a:rPr lang="it-IT" sz="2000" dirty="0" err="1">
                <a:latin typeface="Georgia" panose="02040502050405020303" pitchFamily="18" charset="0"/>
              </a:rPr>
              <a:t>tree</a:t>
            </a:r>
            <a:r>
              <a:rPr lang="it-IT" sz="2000" dirty="0">
                <a:latin typeface="Georgia" panose="02040502050405020303" pitchFamily="18" charset="0"/>
              </a:rPr>
              <a:t> with one single </a:t>
            </a:r>
            <a:r>
              <a:rPr lang="it-IT" sz="2000" dirty="0" err="1">
                <a:latin typeface="Georgia" panose="02040502050405020303" pitchFamily="18" charset="0"/>
              </a:rPr>
              <a:t>leaf</a:t>
            </a:r>
            <a:r>
              <a:rPr lang="it-IT" sz="2000" dirty="0">
                <a:latin typeface="Georgia" panose="02040502050405020303" pitchFamily="18" charset="0"/>
              </a:rPr>
              <a:t> with </a:t>
            </a:r>
            <a:r>
              <a:rPr lang="it-IT" sz="2000" dirty="0" err="1">
                <a:latin typeface="Georgia" panose="02040502050405020303" pitchFamily="18" charset="0"/>
              </a:rPr>
              <a:t>all</a:t>
            </a:r>
            <a:r>
              <a:rPr lang="it-IT" sz="2000" dirty="0">
                <a:latin typeface="Georgia" panose="02040502050405020303" pitchFamily="18" charset="0"/>
              </a:rPr>
              <a:t> the </a:t>
            </a:r>
            <a:r>
              <a:rPr lang="it-IT" sz="2000" dirty="0" err="1">
                <a:latin typeface="Georgia" panose="02040502050405020303" pitchFamily="18" charset="0"/>
              </a:rPr>
              <a:t>residuals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5DBF0B8-CEA4-0704-5CEC-41EF44024E10}"/>
              </a:ext>
            </a:extLst>
          </p:cNvPr>
          <p:cNvSpPr txBox="1"/>
          <p:nvPr/>
        </p:nvSpPr>
        <p:spPr>
          <a:xfrm>
            <a:off x="-3011204" y="3358731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3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left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..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6821E31-72EC-C501-7326-8E2CCE73F157}"/>
              </a:ext>
            </a:extLst>
          </p:cNvPr>
          <p:cNvSpPr txBox="1"/>
          <p:nvPr/>
        </p:nvSpPr>
        <p:spPr>
          <a:xfrm>
            <a:off x="12298713" y="3358730"/>
            <a:ext cx="3461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</a:t>
            </a:r>
            <a:r>
              <a:rPr lang="it-IT" dirty="0" err="1">
                <a:latin typeface="Georgia" panose="02040502050405020303" pitchFamily="18" charset="0"/>
              </a:rPr>
              <a:t>only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&gt;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right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…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B8DB5B6-62C1-10B6-BB9A-08172FDADAF9}"/>
              </a:ext>
            </a:extLst>
          </p:cNvPr>
          <p:cNvSpPr txBox="1"/>
          <p:nvPr/>
        </p:nvSpPr>
        <p:spPr>
          <a:xfrm>
            <a:off x="-3011204" y="2025987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Try</a:t>
            </a:r>
            <a:r>
              <a:rPr lang="it-IT" dirty="0">
                <a:latin typeface="Georgia" panose="02040502050405020303" pitchFamily="18" charset="0"/>
              </a:rPr>
              <a:t> for </a:t>
            </a:r>
            <a:r>
              <a:rPr lang="it-IT" dirty="0" err="1">
                <a:latin typeface="Georgia" panose="02040502050405020303" pitchFamily="18" charset="0"/>
              </a:rPr>
              <a:t>example</a:t>
            </a:r>
            <a:r>
              <a:rPr lang="it-IT" dirty="0">
                <a:latin typeface="Georgia" panose="02040502050405020303" pitchFamily="18" charset="0"/>
              </a:rPr>
              <a:t> to split the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AAF314A-C2DE-68DB-5C6B-5B1C9208B08D}"/>
              </a:ext>
            </a:extLst>
          </p:cNvPr>
          <p:cNvSpPr/>
          <p:nvPr/>
        </p:nvSpPr>
        <p:spPr>
          <a:xfrm>
            <a:off x="4176896" y="2490282"/>
            <a:ext cx="25988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- 05,  0.5, -0.5</a:t>
            </a:r>
          </a:p>
        </p:txBody>
      </p:sp>
    </p:spTree>
    <p:extLst>
      <p:ext uri="{BB962C8B-B14F-4D97-AF65-F5344CB8AC3E}">
        <p14:creationId xmlns:p14="http://schemas.microsoft.com/office/powerpoint/2010/main" val="2497910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- 05,  0.5, -0.5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6BCD4-0638-16AA-1865-BDA4B4075322}"/>
              </a:ext>
            </a:extLst>
          </p:cNvPr>
          <p:cNvSpPr txBox="1"/>
          <p:nvPr/>
        </p:nvSpPr>
        <p:spPr>
          <a:xfrm>
            <a:off x="2504339" y="5059580"/>
            <a:ext cx="6825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Georgia" panose="02040502050405020303" pitchFamily="18" charset="0"/>
              </a:rPr>
              <a:t>Now</a:t>
            </a:r>
            <a:r>
              <a:rPr lang="it-IT" sz="2000" dirty="0">
                <a:latin typeface="Georgia" panose="02040502050405020303" pitchFamily="18" charset="0"/>
              </a:rPr>
              <a:t>, </a:t>
            </a:r>
            <a:r>
              <a:rPr lang="it-IT" sz="2000" dirty="0" err="1">
                <a:latin typeface="Georgia" panose="02040502050405020303" pitchFamily="18" charset="0"/>
              </a:rPr>
              <a:t>we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have</a:t>
            </a:r>
            <a:r>
              <a:rPr lang="it-IT" sz="2000" dirty="0">
                <a:latin typeface="Georgia" panose="02040502050405020303" pitchFamily="18" charset="0"/>
              </a:rPr>
              <a:t> to decide </a:t>
            </a:r>
            <a:r>
              <a:rPr lang="it-IT" sz="2000" dirty="0" err="1">
                <a:latin typeface="Georgia" panose="02040502050405020303" pitchFamily="18" charset="0"/>
              </a:rPr>
              <a:t>if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we</a:t>
            </a:r>
            <a:r>
              <a:rPr lang="it-IT" sz="2000" dirty="0">
                <a:latin typeface="Georgia" panose="02040502050405020303" pitchFamily="18" charset="0"/>
              </a:rPr>
              <a:t> can </a:t>
            </a:r>
            <a:r>
              <a:rPr lang="it-IT" sz="2000" dirty="0" err="1">
                <a:latin typeface="Georgia" panose="02040502050405020303" pitchFamily="18" charset="0"/>
              </a:rPr>
              <a:t>improve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our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tree</a:t>
            </a:r>
            <a:r>
              <a:rPr lang="it-IT" sz="2000" dirty="0">
                <a:latin typeface="Georgia" panose="02040502050405020303" pitchFamily="18" charset="0"/>
              </a:rPr>
              <a:t> by splitting the root </a:t>
            </a:r>
            <a:r>
              <a:rPr lang="it-IT" sz="2000" dirty="0" err="1">
                <a:latin typeface="Georgia" panose="02040502050405020303" pitchFamily="18" charset="0"/>
              </a:rPr>
              <a:t>node</a:t>
            </a:r>
            <a:r>
              <a:rPr lang="it-IT" sz="2000" dirty="0">
                <a:latin typeface="Georgia" panose="02040502050405020303" pitchFamily="18" charset="0"/>
              </a:rPr>
              <a:t> and clustering </a:t>
            </a:r>
            <a:r>
              <a:rPr lang="it-IT" sz="2000" dirty="0" err="1">
                <a:latin typeface="Georgia" panose="02040502050405020303" pitchFamily="18" charset="0"/>
              </a:rPr>
              <a:t>similar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residuals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67188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21283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4" name="Immagine 43">
            <a:extLst>
              <a:ext uri="{FF2B5EF4-FFF2-40B4-BE49-F238E27FC236}">
                <a16:creationId xmlns:a16="http://schemas.microsoft.com/office/drawing/2014/main" id="{11451C60-19E2-9B81-5912-DAF22F475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508010" y="3314868"/>
            <a:ext cx="762553" cy="2726871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F5DBF0B8-CEA4-0704-5CEC-41EF44024E10}"/>
              </a:ext>
            </a:extLst>
          </p:cNvPr>
          <p:cNvSpPr txBox="1"/>
          <p:nvPr/>
        </p:nvSpPr>
        <p:spPr>
          <a:xfrm>
            <a:off x="-3011204" y="3358731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3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left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..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6821E31-72EC-C501-7326-8E2CCE73F157}"/>
              </a:ext>
            </a:extLst>
          </p:cNvPr>
          <p:cNvSpPr txBox="1"/>
          <p:nvPr/>
        </p:nvSpPr>
        <p:spPr>
          <a:xfrm>
            <a:off x="12298713" y="3358730"/>
            <a:ext cx="3461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</a:t>
            </a:r>
            <a:r>
              <a:rPr lang="it-IT" dirty="0" err="1">
                <a:latin typeface="Georgia" panose="02040502050405020303" pitchFamily="18" charset="0"/>
              </a:rPr>
              <a:t>only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&gt;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right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…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B8DB5B6-62C1-10B6-BB9A-08172FDADAF9}"/>
              </a:ext>
            </a:extLst>
          </p:cNvPr>
          <p:cNvSpPr txBox="1"/>
          <p:nvPr/>
        </p:nvSpPr>
        <p:spPr>
          <a:xfrm>
            <a:off x="-3011204" y="2025987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Try</a:t>
            </a:r>
            <a:r>
              <a:rPr lang="it-IT" dirty="0">
                <a:latin typeface="Georgia" panose="02040502050405020303" pitchFamily="18" charset="0"/>
              </a:rPr>
              <a:t> for </a:t>
            </a:r>
            <a:r>
              <a:rPr lang="it-IT" dirty="0" err="1">
                <a:latin typeface="Georgia" panose="02040502050405020303" pitchFamily="18" charset="0"/>
              </a:rPr>
              <a:t>example</a:t>
            </a:r>
            <a:r>
              <a:rPr lang="it-IT" dirty="0">
                <a:latin typeface="Georgia" panose="02040502050405020303" pitchFamily="18" charset="0"/>
              </a:rPr>
              <a:t> to split the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</a:t>
            </a:r>
          </a:p>
        </p:txBody>
      </p:sp>
    </p:spTree>
    <p:extLst>
      <p:ext uri="{BB962C8B-B14F-4D97-AF65-F5344CB8AC3E}">
        <p14:creationId xmlns:p14="http://schemas.microsoft.com/office/powerpoint/2010/main" val="4193707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- 05,  0.5, -0.5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0814" y="2683919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5DBF0B8-CEA4-0704-5CEC-41EF44024E10}"/>
              </a:ext>
            </a:extLst>
          </p:cNvPr>
          <p:cNvSpPr txBox="1"/>
          <p:nvPr/>
        </p:nvSpPr>
        <p:spPr>
          <a:xfrm>
            <a:off x="-3011204" y="3358731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3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left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..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6821E31-72EC-C501-7326-8E2CCE73F157}"/>
              </a:ext>
            </a:extLst>
          </p:cNvPr>
          <p:cNvSpPr txBox="1"/>
          <p:nvPr/>
        </p:nvSpPr>
        <p:spPr>
          <a:xfrm>
            <a:off x="12298713" y="3358730"/>
            <a:ext cx="3461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</a:t>
            </a:r>
            <a:r>
              <a:rPr lang="it-IT" dirty="0" err="1">
                <a:latin typeface="Georgia" panose="02040502050405020303" pitchFamily="18" charset="0"/>
              </a:rPr>
              <a:t>only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&gt;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right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…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992AD455-FB24-BC79-37E1-048866A162CD}"/>
              </a:ext>
            </a:extLst>
          </p:cNvPr>
          <p:cNvSpPr txBox="1"/>
          <p:nvPr/>
        </p:nvSpPr>
        <p:spPr>
          <a:xfrm>
            <a:off x="453826" y="2025987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We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try</a:t>
            </a:r>
            <a:r>
              <a:rPr lang="it-IT" dirty="0">
                <a:latin typeface="Georgia" panose="02040502050405020303" pitchFamily="18" charset="0"/>
              </a:rPr>
              <a:t> for </a:t>
            </a:r>
            <a:r>
              <a:rPr lang="it-IT" dirty="0" err="1">
                <a:latin typeface="Georgia" panose="02040502050405020303" pitchFamily="18" charset="0"/>
              </a:rPr>
              <a:t>example</a:t>
            </a:r>
            <a:r>
              <a:rPr lang="it-IT" dirty="0">
                <a:latin typeface="Georgia" panose="02040502050405020303" pitchFamily="18" charset="0"/>
              </a:rPr>
              <a:t> to split the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5AF1232C-BAA8-CFF2-7B24-17B0A5FA39BD}"/>
              </a:ext>
            </a:extLst>
          </p:cNvPr>
          <p:cNvSpPr txBox="1"/>
          <p:nvPr/>
        </p:nvSpPr>
        <p:spPr>
          <a:xfrm>
            <a:off x="2589540" y="7165006"/>
            <a:ext cx="6642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We</a:t>
            </a:r>
            <a:r>
              <a:rPr lang="it-IT" dirty="0">
                <a:latin typeface="Georgia" panose="02040502050405020303" pitchFamily="18" charset="0"/>
              </a:rPr>
              <a:t> compute the </a:t>
            </a:r>
            <a:r>
              <a:rPr lang="it-IT" dirty="0" err="1">
                <a:latin typeface="Georgia" panose="02040502050405020303" pitchFamily="18" charset="0"/>
              </a:rPr>
              <a:t>similarity</a:t>
            </a:r>
            <a:r>
              <a:rPr lang="it-IT" dirty="0">
                <a:latin typeface="Georgia" panose="02040502050405020303" pitchFamily="18" charset="0"/>
              </a:rPr>
              <a:t> score for </a:t>
            </a:r>
            <a:r>
              <a:rPr lang="it-IT" dirty="0" err="1">
                <a:latin typeface="Georgia" panose="02040502050405020303" pitchFamily="18" charset="0"/>
              </a:rPr>
              <a:t>each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, </a:t>
            </a:r>
            <a:r>
              <a:rPr lang="it-IT" dirty="0" err="1">
                <a:latin typeface="Georgia" panose="02040502050405020303" pitchFamily="18" charset="0"/>
              </a:rPr>
              <a:t>this</a:t>
            </a:r>
            <a:r>
              <a:rPr lang="it-IT" dirty="0">
                <a:latin typeface="Georgia" panose="02040502050405020303" pitchFamily="18" charset="0"/>
              </a:rPr>
              <a:t> score </a:t>
            </a:r>
            <a:r>
              <a:rPr lang="it-IT" dirty="0" err="1">
                <a:latin typeface="Georgia" panose="02040502050405020303" pitchFamily="18" charset="0"/>
              </a:rPr>
              <a:t>is</a:t>
            </a:r>
            <a:r>
              <a:rPr lang="it-IT" dirty="0">
                <a:latin typeface="Georgia" panose="02040502050405020303" pitchFamily="18" charset="0"/>
              </a:rPr>
              <a:t> telling </a:t>
            </a:r>
            <a:r>
              <a:rPr lang="it-IT" dirty="0" err="1">
                <a:latin typeface="Georgia" panose="02040502050405020303" pitchFamily="18" charset="0"/>
              </a:rPr>
              <a:t>us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how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much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homogeneous</a:t>
            </a:r>
            <a:r>
              <a:rPr lang="it-IT" dirty="0">
                <a:latin typeface="Georgia" panose="02040502050405020303" pitchFamily="18" charset="0"/>
              </a:rPr>
              <a:t> are the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in </a:t>
            </a:r>
            <a:r>
              <a:rPr lang="it-IT" dirty="0" err="1">
                <a:latin typeface="Georgia" panose="02040502050405020303" pitchFamily="18" charset="0"/>
              </a:rPr>
              <a:t>that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C6B3B76F-75F9-A1D3-0330-D72086AA6336}"/>
              </a:ext>
            </a:extLst>
          </p:cNvPr>
          <p:cNvSpPr/>
          <p:nvPr/>
        </p:nvSpPr>
        <p:spPr>
          <a:xfrm>
            <a:off x="6754610" y="341691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807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6BCD4-0638-16AA-1865-BDA4B4075322}"/>
              </a:ext>
            </a:extLst>
          </p:cNvPr>
          <p:cNvSpPr txBox="1"/>
          <p:nvPr/>
        </p:nvSpPr>
        <p:spPr>
          <a:xfrm>
            <a:off x="453826" y="3445503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3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left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..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83919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788D2F30-3A67-FD9C-00EC-ADC423813073}"/>
              </a:ext>
            </a:extLst>
          </p:cNvPr>
          <p:cNvSpPr txBox="1"/>
          <p:nvPr/>
        </p:nvSpPr>
        <p:spPr>
          <a:xfrm>
            <a:off x="453826" y="2025987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Try</a:t>
            </a:r>
            <a:r>
              <a:rPr lang="it-IT" dirty="0">
                <a:latin typeface="Georgia" panose="02040502050405020303" pitchFamily="18" charset="0"/>
              </a:rPr>
              <a:t> for </a:t>
            </a:r>
            <a:r>
              <a:rPr lang="it-IT" dirty="0" err="1">
                <a:latin typeface="Georgia" panose="02040502050405020303" pitchFamily="18" charset="0"/>
              </a:rPr>
              <a:t>example</a:t>
            </a:r>
            <a:r>
              <a:rPr lang="it-IT" dirty="0">
                <a:latin typeface="Georgia" panose="02040502050405020303" pitchFamily="18" charset="0"/>
              </a:rPr>
              <a:t> to split the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63C0F79-6104-CB9C-7A72-ED922A09C064}"/>
              </a:ext>
            </a:extLst>
          </p:cNvPr>
          <p:cNvSpPr txBox="1"/>
          <p:nvPr/>
        </p:nvSpPr>
        <p:spPr>
          <a:xfrm>
            <a:off x="2589540" y="7165006"/>
            <a:ext cx="6642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We</a:t>
            </a:r>
            <a:r>
              <a:rPr lang="it-IT" dirty="0">
                <a:latin typeface="Georgia" panose="02040502050405020303" pitchFamily="18" charset="0"/>
              </a:rPr>
              <a:t> compute the </a:t>
            </a:r>
            <a:r>
              <a:rPr lang="it-IT" dirty="0" err="1">
                <a:latin typeface="Georgia" panose="02040502050405020303" pitchFamily="18" charset="0"/>
              </a:rPr>
              <a:t>similarity</a:t>
            </a:r>
            <a:r>
              <a:rPr lang="it-IT" dirty="0">
                <a:latin typeface="Georgia" panose="02040502050405020303" pitchFamily="18" charset="0"/>
              </a:rPr>
              <a:t> score for </a:t>
            </a:r>
            <a:r>
              <a:rPr lang="it-IT" dirty="0" err="1">
                <a:latin typeface="Georgia" panose="02040502050405020303" pitchFamily="18" charset="0"/>
              </a:rPr>
              <a:t>each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: </a:t>
            </a:r>
            <a:r>
              <a:rPr lang="it-IT" dirty="0" err="1">
                <a:latin typeface="Georgia" panose="02040502050405020303" pitchFamily="18" charset="0"/>
              </a:rPr>
              <a:t>this</a:t>
            </a:r>
            <a:r>
              <a:rPr lang="it-IT" dirty="0">
                <a:latin typeface="Georgia" panose="02040502050405020303" pitchFamily="18" charset="0"/>
              </a:rPr>
              <a:t> score </a:t>
            </a:r>
            <a:r>
              <a:rPr lang="it-IT" dirty="0" err="1">
                <a:latin typeface="Georgia" panose="02040502050405020303" pitchFamily="18" charset="0"/>
              </a:rPr>
              <a:t>is</a:t>
            </a:r>
            <a:r>
              <a:rPr lang="it-IT" dirty="0">
                <a:latin typeface="Georgia" panose="02040502050405020303" pitchFamily="18" charset="0"/>
              </a:rPr>
              <a:t> telling </a:t>
            </a:r>
            <a:r>
              <a:rPr lang="it-IT" dirty="0" err="1">
                <a:latin typeface="Georgia" panose="02040502050405020303" pitchFamily="18" charset="0"/>
              </a:rPr>
              <a:t>us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how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much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homogeneous</a:t>
            </a:r>
            <a:r>
              <a:rPr lang="it-IT" dirty="0">
                <a:latin typeface="Georgia" panose="02040502050405020303" pitchFamily="18" charset="0"/>
              </a:rPr>
              <a:t> are the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in </a:t>
            </a:r>
            <a:r>
              <a:rPr lang="it-IT" dirty="0" err="1">
                <a:latin typeface="Georgia" panose="02040502050405020303" pitchFamily="18" charset="0"/>
              </a:rPr>
              <a:t>that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84EEEC8-6D53-8570-9990-997B5E24272F}"/>
              </a:ext>
            </a:extLst>
          </p:cNvPr>
          <p:cNvSpPr txBox="1"/>
          <p:nvPr/>
        </p:nvSpPr>
        <p:spPr>
          <a:xfrm>
            <a:off x="8002524" y="3429000"/>
            <a:ext cx="3461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</a:t>
            </a:r>
            <a:r>
              <a:rPr lang="it-IT" dirty="0" err="1">
                <a:latin typeface="Georgia" panose="02040502050405020303" pitchFamily="18" charset="0"/>
              </a:rPr>
              <a:t>only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&gt;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right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…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6DC943F1-6D0F-3CE5-1BF0-B5E8194A529B}"/>
              </a:ext>
            </a:extLst>
          </p:cNvPr>
          <p:cNvSpPr/>
          <p:nvPr/>
        </p:nvSpPr>
        <p:spPr>
          <a:xfrm>
            <a:off x="6683295" y="3421283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</p:spTree>
    <p:extLst>
      <p:ext uri="{BB962C8B-B14F-4D97-AF65-F5344CB8AC3E}">
        <p14:creationId xmlns:p14="http://schemas.microsoft.com/office/powerpoint/2010/main" val="875783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6BCD4-0638-16AA-1865-BDA4B4075322}"/>
              </a:ext>
            </a:extLst>
          </p:cNvPr>
          <p:cNvSpPr txBox="1"/>
          <p:nvPr/>
        </p:nvSpPr>
        <p:spPr>
          <a:xfrm>
            <a:off x="-3200740" y="3188641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3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left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..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67188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21283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788D2F30-3A67-FD9C-00EC-ADC423813073}"/>
              </a:ext>
            </a:extLst>
          </p:cNvPr>
          <p:cNvSpPr txBox="1"/>
          <p:nvPr/>
        </p:nvSpPr>
        <p:spPr>
          <a:xfrm>
            <a:off x="453826" y="2025987"/>
            <a:ext cx="3011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Try</a:t>
            </a:r>
            <a:r>
              <a:rPr lang="it-IT" dirty="0">
                <a:latin typeface="Georgia" panose="02040502050405020303" pitchFamily="18" charset="0"/>
              </a:rPr>
              <a:t> for </a:t>
            </a:r>
            <a:r>
              <a:rPr lang="it-IT" dirty="0" err="1">
                <a:latin typeface="Georgia" panose="02040502050405020303" pitchFamily="18" charset="0"/>
              </a:rPr>
              <a:t>example</a:t>
            </a:r>
            <a:r>
              <a:rPr lang="it-IT" dirty="0">
                <a:latin typeface="Georgia" panose="02040502050405020303" pitchFamily="18" charset="0"/>
              </a:rPr>
              <a:t> to split the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&lt; 15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ABAD528-1C42-9F47-1A35-BE8163462A53}"/>
              </a:ext>
            </a:extLst>
          </p:cNvPr>
          <p:cNvSpPr txBox="1"/>
          <p:nvPr/>
        </p:nvSpPr>
        <p:spPr>
          <a:xfrm>
            <a:off x="2115150" y="4552692"/>
            <a:ext cx="7183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compute the </a:t>
            </a:r>
            <a:r>
              <a:rPr lang="it-IT" sz="2400" b="1" dirty="0" err="1">
                <a:latin typeface="Georgia" panose="02040502050405020303" pitchFamily="18" charset="0"/>
              </a:rPr>
              <a:t>similarity</a:t>
            </a:r>
            <a:r>
              <a:rPr lang="it-IT" sz="2400" b="1" dirty="0">
                <a:latin typeface="Georgia" panose="02040502050405020303" pitchFamily="18" charset="0"/>
              </a:rPr>
              <a:t> score </a:t>
            </a:r>
            <a:r>
              <a:rPr lang="it-IT" sz="2400" dirty="0">
                <a:latin typeface="Georgia" panose="02040502050405020303" pitchFamily="18" charset="0"/>
              </a:rPr>
              <a:t>for </a:t>
            </a:r>
            <a:r>
              <a:rPr lang="it-IT" sz="2400" dirty="0" err="1">
                <a:latin typeface="Georgia" panose="02040502050405020303" pitchFamily="18" charset="0"/>
              </a:rPr>
              <a:t>each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leaf</a:t>
            </a:r>
            <a:r>
              <a:rPr lang="it-IT" sz="2400" dirty="0">
                <a:latin typeface="Georgia" panose="02040502050405020303" pitchFamily="18" charset="0"/>
              </a:rPr>
              <a:t>: </a:t>
            </a:r>
            <a:r>
              <a:rPr lang="it-IT" sz="2400" dirty="0" err="1">
                <a:latin typeface="Georgia" panose="02040502050405020303" pitchFamily="18" charset="0"/>
              </a:rPr>
              <a:t>this</a:t>
            </a:r>
            <a:r>
              <a:rPr lang="it-IT" sz="2400" dirty="0">
                <a:latin typeface="Georgia" panose="02040502050405020303" pitchFamily="18" charset="0"/>
              </a:rPr>
              <a:t> score </a:t>
            </a:r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telling </a:t>
            </a:r>
            <a:r>
              <a:rPr lang="it-IT" sz="2400" dirty="0" err="1">
                <a:latin typeface="Georgia" panose="02040502050405020303" pitchFamily="18" charset="0"/>
              </a:rPr>
              <a:t>us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how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much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homogeneous</a:t>
            </a:r>
            <a:r>
              <a:rPr lang="it-IT" sz="2400" dirty="0">
                <a:latin typeface="Georgia" panose="02040502050405020303" pitchFamily="18" charset="0"/>
              </a:rPr>
              <a:t> are the </a:t>
            </a:r>
            <a:r>
              <a:rPr lang="it-IT" sz="2400" dirty="0" err="1">
                <a:latin typeface="Georgia" panose="02040502050405020303" pitchFamily="18" charset="0"/>
              </a:rPr>
              <a:t>residuals</a:t>
            </a:r>
            <a:r>
              <a:rPr lang="it-IT" sz="2400" dirty="0">
                <a:latin typeface="Georgia" panose="02040502050405020303" pitchFamily="18" charset="0"/>
              </a:rPr>
              <a:t> in </a:t>
            </a:r>
            <a:r>
              <a:rPr lang="it-IT" sz="2400" dirty="0" err="1">
                <a:latin typeface="Georgia" panose="02040502050405020303" pitchFamily="18" charset="0"/>
              </a:rPr>
              <a:t>that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leaf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C170D3DB-AD9A-5247-E4F0-4E1A7EF479C5}"/>
              </a:ext>
            </a:extLst>
          </p:cNvPr>
          <p:cNvSpPr txBox="1"/>
          <p:nvPr/>
        </p:nvSpPr>
        <p:spPr>
          <a:xfrm>
            <a:off x="12358403" y="3362742"/>
            <a:ext cx="3461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The </a:t>
            </a:r>
            <a:r>
              <a:rPr lang="it-IT" dirty="0" err="1">
                <a:latin typeface="Georgia" panose="02040502050405020303" pitchFamily="18" charset="0"/>
              </a:rPr>
              <a:t>only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residuals</a:t>
            </a:r>
            <a:r>
              <a:rPr lang="it-IT" dirty="0">
                <a:latin typeface="Georgia" panose="02040502050405020303" pitchFamily="18" charset="0"/>
              </a:rPr>
              <a:t> with X &gt; 15 </a:t>
            </a:r>
            <a:r>
              <a:rPr lang="it-IT" dirty="0" err="1">
                <a:latin typeface="Georgia" panose="02040502050405020303" pitchFamily="18" charset="0"/>
              </a:rPr>
              <a:t>goes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right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leaf</a:t>
            </a:r>
            <a:r>
              <a:rPr lang="it-IT" dirty="0">
                <a:latin typeface="Georgia" panose="02040502050405020303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55888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Left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755FA15B-B972-FF94-F508-A642D0E74769}"/>
              </a:ext>
            </a:extLst>
          </p:cNvPr>
          <p:cNvSpPr txBox="1"/>
          <p:nvPr/>
        </p:nvSpPr>
        <p:spPr>
          <a:xfrm>
            <a:off x="-5127492" y="4294509"/>
            <a:ext cx="544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Compute the gain </a:t>
            </a:r>
            <a:r>
              <a:rPr lang="it-IT" dirty="0" err="1">
                <a:latin typeface="Georgia" panose="02040502050405020303" pitchFamily="18" charset="0"/>
              </a:rPr>
              <a:t>associated</a:t>
            </a:r>
            <a:r>
              <a:rPr lang="it-IT" dirty="0">
                <a:latin typeface="Georgia" panose="02040502050405020303" pitchFamily="18" charset="0"/>
              </a:rPr>
              <a:t> with X &lt;15 split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8A3D47B3-6211-D503-06D3-C5BDE73C85ED}"/>
              </a:ext>
            </a:extLst>
          </p:cNvPr>
          <p:cNvSpPr txBox="1"/>
          <p:nvPr/>
        </p:nvSpPr>
        <p:spPr>
          <a:xfrm>
            <a:off x="-5239910" y="4856851"/>
            <a:ext cx="523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Gain = Sim. Left + Sim.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– Sim. Root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F753A239-B9B7-710B-7CBC-06CC5DFD02FD}"/>
              </a:ext>
            </a:extLst>
          </p:cNvPr>
          <p:cNvSpPr txBox="1"/>
          <p:nvPr/>
        </p:nvSpPr>
        <p:spPr>
          <a:xfrm>
            <a:off x="6754610" y="7194215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Gain = 0.33 + 1 – 0 = 1.33</a:t>
            </a:r>
          </a:p>
        </p:txBody>
      </p:sp>
    </p:spTree>
    <p:extLst>
      <p:ext uri="{BB962C8B-B14F-4D97-AF65-F5344CB8AC3E}">
        <p14:creationId xmlns:p14="http://schemas.microsoft.com/office/powerpoint/2010/main" val="507608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755FA15B-B972-FF94-F508-A642D0E74769}"/>
              </a:ext>
            </a:extLst>
          </p:cNvPr>
          <p:cNvSpPr txBox="1"/>
          <p:nvPr/>
        </p:nvSpPr>
        <p:spPr>
          <a:xfrm>
            <a:off x="92208" y="4444410"/>
            <a:ext cx="544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Compute the gain </a:t>
            </a:r>
            <a:r>
              <a:rPr lang="it-IT" dirty="0" err="1">
                <a:latin typeface="Georgia" panose="02040502050405020303" pitchFamily="18" charset="0"/>
              </a:rPr>
              <a:t>associated</a:t>
            </a:r>
            <a:r>
              <a:rPr lang="it-IT" dirty="0">
                <a:latin typeface="Georgia" panose="02040502050405020303" pitchFamily="18" charset="0"/>
              </a:rPr>
              <a:t> with X &lt;15 split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8A3D47B3-6211-D503-06D3-C5BDE73C85ED}"/>
              </a:ext>
            </a:extLst>
          </p:cNvPr>
          <p:cNvSpPr txBox="1"/>
          <p:nvPr/>
        </p:nvSpPr>
        <p:spPr>
          <a:xfrm>
            <a:off x="321100" y="5005871"/>
            <a:ext cx="523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Gain = Sim. Left + Sim.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– Sim. Root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F753A239-B9B7-710B-7CBC-06CC5DFD02FD}"/>
              </a:ext>
            </a:extLst>
          </p:cNvPr>
          <p:cNvSpPr txBox="1"/>
          <p:nvPr/>
        </p:nvSpPr>
        <p:spPr>
          <a:xfrm>
            <a:off x="6754610" y="7103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Gain = 0.33 + 1 – 0 = 1.33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CC16DC64-E02D-9736-D795-8B0F72CF9870}"/>
              </a:ext>
            </a:extLst>
          </p:cNvPr>
          <p:cNvCxnSpPr>
            <a:cxnSpLocks/>
          </p:cNvCxnSpPr>
          <p:nvPr/>
        </p:nvCxnSpPr>
        <p:spPr>
          <a:xfrm>
            <a:off x="6095999" y="7288167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832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755FA15B-B972-FF94-F508-A642D0E74769}"/>
              </a:ext>
            </a:extLst>
          </p:cNvPr>
          <p:cNvSpPr txBox="1"/>
          <p:nvPr/>
        </p:nvSpPr>
        <p:spPr>
          <a:xfrm>
            <a:off x="92208" y="4504157"/>
            <a:ext cx="544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Compute the gain </a:t>
            </a:r>
            <a:r>
              <a:rPr lang="it-IT" dirty="0" err="1">
                <a:latin typeface="Georgia" panose="02040502050405020303" pitchFamily="18" charset="0"/>
              </a:rPr>
              <a:t>associated</a:t>
            </a:r>
            <a:r>
              <a:rPr lang="it-IT" dirty="0">
                <a:latin typeface="Georgia" panose="02040502050405020303" pitchFamily="18" charset="0"/>
              </a:rPr>
              <a:t> with X &lt;15 split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8A3D47B3-6211-D503-06D3-C5BDE73C85ED}"/>
              </a:ext>
            </a:extLst>
          </p:cNvPr>
          <p:cNvSpPr txBox="1"/>
          <p:nvPr/>
        </p:nvSpPr>
        <p:spPr>
          <a:xfrm>
            <a:off x="420903" y="5041517"/>
            <a:ext cx="523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Gain = Sim. Left + Sim.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– Sim. Root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F753A239-B9B7-710B-7CBC-06CC5DFD02FD}"/>
              </a:ext>
            </a:extLst>
          </p:cNvPr>
          <p:cNvSpPr txBox="1"/>
          <p:nvPr/>
        </p:nvSpPr>
        <p:spPr>
          <a:xfrm>
            <a:off x="6295246" y="50588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Gain = 0.33 + 1 – 0 = 1.33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5706153" y="5243467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65401725-67AD-3B88-8A00-71E98B799F23}"/>
              </a:ext>
            </a:extLst>
          </p:cNvPr>
          <p:cNvSpPr txBox="1"/>
          <p:nvPr/>
        </p:nvSpPr>
        <p:spPr>
          <a:xfrm>
            <a:off x="344680" y="6942111"/>
            <a:ext cx="11502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Compute the gain scores for all possible residual splits, such as X &lt; 10, X &lt; 5, </a:t>
            </a:r>
            <a:r>
              <a:rPr lang="en-US" sz="2400" dirty="0" err="1">
                <a:latin typeface="Georgia" panose="02040502050405020303" pitchFamily="18" charset="0"/>
              </a:rPr>
              <a:t>ect</a:t>
            </a:r>
            <a:r>
              <a:rPr lang="en-US" sz="2400" dirty="0">
                <a:latin typeface="Georgia" panose="02040502050405020303" pitchFamily="18" charset="0"/>
              </a:rPr>
              <a:t>.</a:t>
            </a:r>
            <a:endParaRPr lang="it-IT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683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755FA15B-B972-FF94-F508-A642D0E74769}"/>
              </a:ext>
            </a:extLst>
          </p:cNvPr>
          <p:cNvSpPr txBox="1"/>
          <p:nvPr/>
        </p:nvSpPr>
        <p:spPr>
          <a:xfrm>
            <a:off x="216590" y="4504157"/>
            <a:ext cx="5444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Compute the gain </a:t>
            </a:r>
            <a:r>
              <a:rPr lang="it-IT" dirty="0" err="1">
                <a:latin typeface="Georgia" panose="02040502050405020303" pitchFamily="18" charset="0"/>
              </a:rPr>
              <a:t>associated</a:t>
            </a:r>
            <a:r>
              <a:rPr lang="it-IT" dirty="0">
                <a:latin typeface="Georgia" panose="02040502050405020303" pitchFamily="18" charset="0"/>
              </a:rPr>
              <a:t> with X &lt;15 split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8A3D47B3-6211-D503-06D3-C5BDE73C85ED}"/>
              </a:ext>
            </a:extLst>
          </p:cNvPr>
          <p:cNvSpPr txBox="1"/>
          <p:nvPr/>
        </p:nvSpPr>
        <p:spPr>
          <a:xfrm>
            <a:off x="420903" y="5041517"/>
            <a:ext cx="5239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Gain = Sim. Left + Sim.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– Sim. Root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F753A239-B9B7-710B-7CBC-06CC5DFD02FD}"/>
              </a:ext>
            </a:extLst>
          </p:cNvPr>
          <p:cNvSpPr txBox="1"/>
          <p:nvPr/>
        </p:nvSpPr>
        <p:spPr>
          <a:xfrm>
            <a:off x="6295246" y="50588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Gain = 0.33 + 1 – 0 = 1.33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5706153" y="5243467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3">
            <a:extLst>
              <a:ext uri="{FF2B5EF4-FFF2-40B4-BE49-F238E27FC236}">
                <a16:creationId xmlns:a16="http://schemas.microsoft.com/office/drawing/2014/main" id="{4C1273CA-DD85-11D3-42C3-A5F50ADFB5F9}"/>
              </a:ext>
            </a:extLst>
          </p:cNvPr>
          <p:cNvSpPr txBox="1"/>
          <p:nvPr/>
        </p:nvSpPr>
        <p:spPr>
          <a:xfrm>
            <a:off x="72141" y="5537066"/>
            <a:ext cx="11502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Compute the gain scores for all possible residual splits, such as X &lt; 10, X &lt; 5, </a:t>
            </a:r>
            <a:r>
              <a:rPr lang="en-US" sz="2400" dirty="0" err="1">
                <a:latin typeface="Georgia" panose="02040502050405020303" pitchFamily="18" charset="0"/>
              </a:rPr>
              <a:t>ect</a:t>
            </a:r>
            <a:r>
              <a:rPr lang="en-US" sz="2400" dirty="0">
                <a:latin typeface="Georgia" panose="02040502050405020303" pitchFamily="18" charset="0"/>
              </a:rPr>
              <a:t>.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DED4AC24-8686-EFE7-E158-EE80788C9CD0}"/>
              </a:ext>
            </a:extLst>
          </p:cNvPr>
          <p:cNvSpPr txBox="1"/>
          <p:nvPr/>
        </p:nvSpPr>
        <p:spPr>
          <a:xfrm>
            <a:off x="-7393625" y="4458636"/>
            <a:ext cx="7497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Gain = 1.33 </a:t>
            </a:r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highest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among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all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possible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splits</a:t>
            </a:r>
            <a:r>
              <a:rPr lang="it-IT" sz="2400" dirty="0">
                <a:latin typeface="Georgia" panose="02040502050405020303" pitchFamily="18" charset="0"/>
              </a:rPr>
              <a:t>, </a:t>
            </a:r>
          </a:p>
          <a:p>
            <a:endParaRPr lang="it-IT" sz="2400" dirty="0">
              <a:latin typeface="Georgia" panose="02040502050405020303" pitchFamily="18" charset="0"/>
            </a:endParaRPr>
          </a:p>
          <a:p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keep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it</a:t>
            </a:r>
            <a:r>
              <a:rPr lang="it-IT" sz="2400" dirty="0">
                <a:latin typeface="Georgia" panose="02040502050405020303" pitchFamily="18" charset="0"/>
              </a:rPr>
              <a:t> and …</a:t>
            </a:r>
          </a:p>
        </p:txBody>
      </p:sp>
      <p:pic>
        <p:nvPicPr>
          <p:cNvPr id="21" name="Elemento grafico 20" descr="Trasferimento contorno">
            <a:extLst>
              <a:ext uri="{FF2B5EF4-FFF2-40B4-BE49-F238E27FC236}">
                <a16:creationId xmlns:a16="http://schemas.microsoft.com/office/drawing/2014/main" id="{A1C687A1-6966-84AF-F721-92CDF83A5C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8944" y="6879689"/>
            <a:ext cx="788677" cy="788677"/>
          </a:xfrm>
          <a:prstGeom prst="rect">
            <a:avLst/>
          </a:prstGeom>
        </p:spPr>
      </p:pic>
      <p:sp>
        <p:nvSpPr>
          <p:cNvPr id="22" name="TextBox 3">
            <a:extLst>
              <a:ext uri="{FF2B5EF4-FFF2-40B4-BE49-F238E27FC236}">
                <a16:creationId xmlns:a16="http://schemas.microsoft.com/office/drawing/2014/main" id="{654D7313-444B-BE5B-B32A-BB550FB348F2}"/>
              </a:ext>
            </a:extLst>
          </p:cNvPr>
          <p:cNvSpPr txBox="1"/>
          <p:nvPr/>
        </p:nvSpPr>
        <p:spPr>
          <a:xfrm>
            <a:off x="2743890" y="7075072"/>
            <a:ext cx="9448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Compare </a:t>
            </a:r>
            <a:r>
              <a:rPr lang="it-IT" sz="2400" dirty="0" err="1">
                <a:latin typeface="Georgia" panose="02040502050405020303" pitchFamily="18" charset="0"/>
              </a:rPr>
              <a:t>it</a:t>
            </a:r>
            <a:r>
              <a:rPr lang="it-IT" sz="2400" dirty="0">
                <a:latin typeface="Georgia" panose="02040502050405020303" pitchFamily="18" charset="0"/>
              </a:rPr>
              <a:t> with the </a:t>
            </a:r>
            <a:r>
              <a:rPr lang="it-IT" sz="2400" dirty="0" err="1">
                <a:latin typeface="Georgia" panose="02040502050405020303" pitchFamily="18" charset="0"/>
              </a:rPr>
              <a:t>treshold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Gamma</a:t>
            </a:r>
          </a:p>
        </p:txBody>
      </p:sp>
    </p:spTree>
    <p:extLst>
      <p:ext uri="{BB962C8B-B14F-4D97-AF65-F5344CB8AC3E}">
        <p14:creationId xmlns:p14="http://schemas.microsoft.com/office/powerpoint/2010/main" val="2649912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13630953" y="6056267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3">
            <a:extLst>
              <a:ext uri="{FF2B5EF4-FFF2-40B4-BE49-F238E27FC236}">
                <a16:creationId xmlns:a16="http://schemas.microsoft.com/office/drawing/2014/main" id="{4C1273CA-DD85-11D3-42C3-A5F50ADFB5F9}"/>
              </a:ext>
            </a:extLst>
          </p:cNvPr>
          <p:cNvSpPr txBox="1"/>
          <p:nvPr/>
        </p:nvSpPr>
        <p:spPr>
          <a:xfrm>
            <a:off x="325888" y="4491742"/>
            <a:ext cx="74973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Gain = 1.33 </a:t>
            </a:r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highest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among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all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possible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splits</a:t>
            </a:r>
            <a:r>
              <a:rPr lang="it-IT" sz="2400" dirty="0">
                <a:latin typeface="Georgia" panose="02040502050405020303" pitchFamily="18" charset="0"/>
              </a:rPr>
              <a:t>, </a:t>
            </a:r>
          </a:p>
          <a:p>
            <a:endParaRPr lang="it-IT" sz="2400" dirty="0">
              <a:latin typeface="Georgia" panose="02040502050405020303" pitchFamily="18" charset="0"/>
            </a:endParaRPr>
          </a:p>
          <a:p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keep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it</a:t>
            </a:r>
            <a:r>
              <a:rPr lang="it-IT" sz="2400" dirty="0">
                <a:latin typeface="Georgia" panose="02040502050405020303" pitchFamily="18" charset="0"/>
              </a:rPr>
              <a:t> and …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8CC7F00A-0041-3176-B605-4430D18C4A17}"/>
              </a:ext>
            </a:extLst>
          </p:cNvPr>
          <p:cNvSpPr txBox="1"/>
          <p:nvPr/>
        </p:nvSpPr>
        <p:spPr>
          <a:xfrm>
            <a:off x="2363940" y="5244631"/>
            <a:ext cx="9448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Compare </a:t>
            </a:r>
            <a:r>
              <a:rPr lang="it-IT" sz="2400" dirty="0" err="1">
                <a:latin typeface="Georgia" panose="02040502050405020303" pitchFamily="18" charset="0"/>
              </a:rPr>
              <a:t>it</a:t>
            </a:r>
            <a:r>
              <a:rPr lang="it-IT" sz="2400" dirty="0">
                <a:latin typeface="Georgia" panose="02040502050405020303" pitchFamily="18" charset="0"/>
              </a:rPr>
              <a:t> with the </a:t>
            </a:r>
            <a:r>
              <a:rPr lang="it-IT" sz="2400" dirty="0" err="1">
                <a:latin typeface="Georgia" panose="02040502050405020303" pitchFamily="18" charset="0"/>
              </a:rPr>
              <a:t>treshold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Gamma</a:t>
            </a:r>
          </a:p>
        </p:txBody>
      </p:sp>
      <p:pic>
        <p:nvPicPr>
          <p:cNvPr id="21" name="Elemento grafico 20" descr="Trasferimento contorno">
            <a:extLst>
              <a:ext uri="{FF2B5EF4-FFF2-40B4-BE49-F238E27FC236}">
                <a16:creationId xmlns:a16="http://schemas.microsoft.com/office/drawing/2014/main" id="{AF1237DC-CFC1-CEA0-2141-944205D9A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4926" y="5188738"/>
            <a:ext cx="618691" cy="618691"/>
          </a:xfrm>
          <a:prstGeom prst="rect">
            <a:avLst/>
          </a:prstGeom>
        </p:spPr>
      </p:pic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-8721424" y="5219080"/>
            <a:ext cx="8552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 err="1">
                <a:latin typeface="Georgia" panose="02040502050405020303" pitchFamily="18" charset="0"/>
              </a:rPr>
              <a:t>If</a:t>
            </a:r>
            <a:r>
              <a:rPr lang="it-IT" sz="2000" dirty="0">
                <a:latin typeface="Georgia" panose="02040502050405020303" pitchFamily="18" charset="0"/>
              </a:rPr>
              <a:t> Gain &gt; Gamma, </a:t>
            </a:r>
            <a:r>
              <a:rPr lang="en-US" sz="2000" dirty="0">
                <a:latin typeface="Georgia" panose="02040502050405020303" pitchFamily="18" charset="0"/>
              </a:rPr>
              <a:t>the improvement in the tree structure is </a:t>
            </a:r>
            <a:r>
              <a:rPr lang="en-US" sz="2000" b="1" dirty="0">
                <a:latin typeface="Georgia" panose="02040502050405020303" pitchFamily="18" charset="0"/>
              </a:rPr>
              <a:t>significant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  <a:endParaRPr lang="it-IT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148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F753A239-B9B7-710B-7CBC-06CC5DFD02FD}"/>
              </a:ext>
            </a:extLst>
          </p:cNvPr>
          <p:cNvSpPr txBox="1"/>
          <p:nvPr/>
        </p:nvSpPr>
        <p:spPr>
          <a:xfrm>
            <a:off x="12950046" y="5581412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Gain = 0.33 + 1 – 0 = 1.33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13630953" y="6056267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8CC7F00A-0041-3176-B605-4430D18C4A17}"/>
              </a:ext>
            </a:extLst>
          </p:cNvPr>
          <p:cNvSpPr txBox="1"/>
          <p:nvPr/>
        </p:nvSpPr>
        <p:spPr>
          <a:xfrm>
            <a:off x="10720894" y="4562538"/>
            <a:ext cx="9448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We</a:t>
            </a:r>
            <a:r>
              <a:rPr lang="it-IT" dirty="0">
                <a:latin typeface="Georgia" panose="02040502050405020303" pitchFamily="18" charset="0"/>
              </a:rPr>
              <a:t> compare </a:t>
            </a:r>
            <a:r>
              <a:rPr lang="it-IT" dirty="0" err="1">
                <a:latin typeface="Georgia" panose="02040502050405020303" pitchFamily="18" charset="0"/>
              </a:rPr>
              <a:t>it</a:t>
            </a:r>
            <a:r>
              <a:rPr lang="it-IT" dirty="0">
                <a:latin typeface="Georgia" panose="02040502050405020303" pitchFamily="18" charset="0"/>
              </a:rPr>
              <a:t> with the </a:t>
            </a:r>
            <a:r>
              <a:rPr lang="it-IT" dirty="0" err="1">
                <a:latin typeface="Georgia" panose="02040502050405020303" pitchFamily="18" charset="0"/>
              </a:rPr>
              <a:t>treshold</a:t>
            </a:r>
            <a:r>
              <a:rPr lang="it-IT" dirty="0">
                <a:latin typeface="Georgia" panose="02040502050405020303" pitchFamily="18" charset="0"/>
              </a:rPr>
              <a:t> Gamma</a:t>
            </a:r>
          </a:p>
        </p:txBody>
      </p:sp>
      <p:pic>
        <p:nvPicPr>
          <p:cNvPr id="21" name="Elemento grafico 20" descr="Trasferimento contorno">
            <a:extLst>
              <a:ext uri="{FF2B5EF4-FFF2-40B4-BE49-F238E27FC236}">
                <a16:creationId xmlns:a16="http://schemas.microsoft.com/office/drawing/2014/main" id="{AF1237DC-CFC1-CEA0-2141-944205D9A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4573" y="6887670"/>
            <a:ext cx="699494" cy="699494"/>
          </a:xfrm>
          <a:prstGeom prst="rect">
            <a:avLst/>
          </a:prstGeom>
        </p:spPr>
      </p:pic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346782" y="4596567"/>
            <a:ext cx="10556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Gain &gt; Gamma</a:t>
            </a:r>
            <a:r>
              <a:rPr lang="it-IT" sz="2400" dirty="0">
                <a:latin typeface="Georgia" panose="02040502050405020303" pitchFamily="18" charset="0"/>
              </a:rPr>
              <a:t>, </a:t>
            </a:r>
            <a:r>
              <a:rPr lang="en-US" sz="2400" dirty="0">
                <a:latin typeface="Georgia" panose="02040502050405020303" pitchFamily="18" charset="0"/>
              </a:rPr>
              <a:t>the improvement in the tree structure is </a:t>
            </a:r>
            <a:r>
              <a:rPr lang="en-US" sz="2400" b="1" dirty="0">
                <a:latin typeface="Georgia" panose="02040502050405020303" pitchFamily="18" charset="0"/>
              </a:rPr>
              <a:t>significant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  <a:endParaRPr lang="it-IT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045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613353" y="4804982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8CC7F00A-0041-3176-B605-4430D18C4A17}"/>
              </a:ext>
            </a:extLst>
          </p:cNvPr>
          <p:cNvSpPr txBox="1"/>
          <p:nvPr/>
        </p:nvSpPr>
        <p:spPr>
          <a:xfrm>
            <a:off x="4531785" y="4559349"/>
            <a:ext cx="349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The split </a:t>
            </a:r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made !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277392" y="4554511"/>
            <a:ext cx="3826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Gain &gt; Gamma </a:t>
            </a:r>
            <a:endParaRPr lang="it-IT" sz="2400" dirty="0">
              <a:latin typeface="Georgia" panose="02040502050405020303" pitchFamily="18" charset="0"/>
            </a:endParaRP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0328" y="4449903"/>
            <a:ext cx="571111" cy="571111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8D9852AB-037F-09D5-52AD-1F89BA2C3ED3}"/>
              </a:ext>
            </a:extLst>
          </p:cNvPr>
          <p:cNvSpPr txBox="1"/>
          <p:nvPr/>
        </p:nvSpPr>
        <p:spPr>
          <a:xfrm>
            <a:off x="-11433345" y="5555228"/>
            <a:ext cx="11076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Gain &lt; Gamma, </a:t>
            </a:r>
            <a:r>
              <a:rPr lang="it-IT" sz="2400" dirty="0">
                <a:latin typeface="Georgia" panose="02040502050405020303" pitchFamily="18" charset="0"/>
              </a:rPr>
              <a:t>the </a:t>
            </a:r>
            <a:r>
              <a:rPr lang="it-IT" sz="2400" dirty="0" err="1">
                <a:latin typeface="Georgia" panose="02040502050405020303" pitchFamily="18" charset="0"/>
              </a:rPr>
              <a:t>improvement</a:t>
            </a:r>
            <a:r>
              <a:rPr lang="it-IT" sz="2400" dirty="0">
                <a:latin typeface="Georgia" panose="02040502050405020303" pitchFamily="18" charset="0"/>
              </a:rPr>
              <a:t> in the </a:t>
            </a:r>
            <a:r>
              <a:rPr lang="it-IT" sz="2400" dirty="0" err="1">
                <a:latin typeface="Georgia" panose="02040502050405020303" pitchFamily="18" charset="0"/>
              </a:rPr>
              <a:t>tree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structure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is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not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significant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7666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613353" y="4804982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8CC7F00A-0041-3176-B605-4430D18C4A17}"/>
              </a:ext>
            </a:extLst>
          </p:cNvPr>
          <p:cNvSpPr txBox="1"/>
          <p:nvPr/>
        </p:nvSpPr>
        <p:spPr>
          <a:xfrm>
            <a:off x="4531785" y="4559349"/>
            <a:ext cx="349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The split </a:t>
            </a:r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made !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277392" y="4554511"/>
            <a:ext cx="3826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Gain &gt; Gamma </a:t>
            </a:r>
            <a:endParaRPr lang="it-IT" sz="2400" dirty="0">
              <a:latin typeface="Georgia" panose="02040502050405020303" pitchFamily="18" charset="0"/>
            </a:endParaRP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0328" y="4449903"/>
            <a:ext cx="571111" cy="571111"/>
          </a:xfrm>
          <a:prstGeom prst="rect">
            <a:avLst/>
          </a:prstGeom>
        </p:spPr>
      </p:pic>
      <p:sp>
        <p:nvSpPr>
          <p:cNvPr id="15" name="TextBox 3">
            <a:extLst>
              <a:ext uri="{FF2B5EF4-FFF2-40B4-BE49-F238E27FC236}">
                <a16:creationId xmlns:a16="http://schemas.microsoft.com/office/drawing/2014/main" id="{A1171ED2-7605-B70F-3A72-FB8F04E1E02C}"/>
              </a:ext>
            </a:extLst>
          </p:cNvPr>
          <p:cNvSpPr txBox="1"/>
          <p:nvPr/>
        </p:nvSpPr>
        <p:spPr>
          <a:xfrm>
            <a:off x="277392" y="5410849"/>
            <a:ext cx="11076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Gain &lt; Gamma, </a:t>
            </a:r>
            <a:r>
              <a:rPr lang="it-IT" sz="2400" dirty="0">
                <a:latin typeface="Georgia" panose="02040502050405020303" pitchFamily="18" charset="0"/>
              </a:rPr>
              <a:t>the </a:t>
            </a:r>
            <a:r>
              <a:rPr lang="it-IT" sz="2400" dirty="0" err="1">
                <a:latin typeface="Georgia" panose="02040502050405020303" pitchFamily="18" charset="0"/>
              </a:rPr>
              <a:t>improvement</a:t>
            </a:r>
            <a:r>
              <a:rPr lang="it-IT" sz="2400" dirty="0">
                <a:latin typeface="Georgia" panose="02040502050405020303" pitchFamily="18" charset="0"/>
              </a:rPr>
              <a:t> in the </a:t>
            </a:r>
            <a:r>
              <a:rPr lang="it-IT" sz="2400" dirty="0" err="1">
                <a:latin typeface="Georgia" panose="02040502050405020303" pitchFamily="18" charset="0"/>
              </a:rPr>
              <a:t>tree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structure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is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not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significant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</a:p>
        </p:txBody>
      </p: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A196E87-F9CE-DF4F-9099-0F3B48475400}"/>
              </a:ext>
            </a:extLst>
          </p:cNvPr>
          <p:cNvCxnSpPr>
            <a:cxnSpLocks/>
          </p:cNvCxnSpPr>
          <p:nvPr/>
        </p:nvCxnSpPr>
        <p:spPr>
          <a:xfrm>
            <a:off x="4504090" y="7571727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3">
            <a:extLst>
              <a:ext uri="{FF2B5EF4-FFF2-40B4-BE49-F238E27FC236}">
                <a16:creationId xmlns:a16="http://schemas.microsoft.com/office/drawing/2014/main" id="{5EB8ECC3-DF0C-39F5-49B5-7ADA9D4BA3A3}"/>
              </a:ext>
            </a:extLst>
          </p:cNvPr>
          <p:cNvSpPr txBox="1"/>
          <p:nvPr/>
        </p:nvSpPr>
        <p:spPr>
          <a:xfrm>
            <a:off x="12025906" y="5410848"/>
            <a:ext cx="349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The split </a:t>
            </a:r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not</a:t>
            </a:r>
            <a:r>
              <a:rPr lang="it-IT" sz="2400" dirty="0">
                <a:latin typeface="Georgia" panose="02040502050405020303" pitchFamily="18" charset="0"/>
              </a:rPr>
              <a:t> made !</a:t>
            </a:r>
          </a:p>
        </p:txBody>
      </p:sp>
      <p:pic>
        <p:nvPicPr>
          <p:cNvPr id="21" name="Elemento grafico 20" descr="Chiudi con riempimento a tinta unita">
            <a:extLst>
              <a:ext uri="{FF2B5EF4-FFF2-40B4-BE49-F238E27FC236}">
                <a16:creationId xmlns:a16="http://schemas.microsoft.com/office/drawing/2014/main" id="{C9A9854F-6D03-BCE5-8DFC-B1C89E9930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469728" y="5398757"/>
            <a:ext cx="571111" cy="57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1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613353" y="4804982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8CC7F00A-0041-3176-B605-4430D18C4A17}"/>
              </a:ext>
            </a:extLst>
          </p:cNvPr>
          <p:cNvSpPr txBox="1"/>
          <p:nvPr/>
        </p:nvSpPr>
        <p:spPr>
          <a:xfrm>
            <a:off x="4531785" y="4559349"/>
            <a:ext cx="349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The split </a:t>
            </a:r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made !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277392" y="4554511"/>
            <a:ext cx="3826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Gain &gt; Gamma </a:t>
            </a:r>
            <a:endParaRPr lang="it-IT" sz="2400" dirty="0">
              <a:latin typeface="Georgia" panose="02040502050405020303" pitchFamily="18" charset="0"/>
            </a:endParaRP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0328" y="4449903"/>
            <a:ext cx="571111" cy="571111"/>
          </a:xfrm>
          <a:prstGeom prst="rect">
            <a:avLst/>
          </a:prstGeom>
        </p:spPr>
      </p:pic>
      <p:sp>
        <p:nvSpPr>
          <p:cNvPr id="15" name="TextBox 3">
            <a:extLst>
              <a:ext uri="{FF2B5EF4-FFF2-40B4-BE49-F238E27FC236}">
                <a16:creationId xmlns:a16="http://schemas.microsoft.com/office/drawing/2014/main" id="{A1171ED2-7605-B70F-3A72-FB8F04E1E02C}"/>
              </a:ext>
            </a:extLst>
          </p:cNvPr>
          <p:cNvSpPr txBox="1"/>
          <p:nvPr/>
        </p:nvSpPr>
        <p:spPr>
          <a:xfrm>
            <a:off x="277391" y="5438274"/>
            <a:ext cx="33359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 err="1">
                <a:latin typeface="Georgia" panose="02040502050405020303" pitchFamily="18" charset="0"/>
              </a:rPr>
              <a:t>If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b="1" dirty="0">
                <a:latin typeface="Georgia" panose="02040502050405020303" pitchFamily="18" charset="0"/>
              </a:rPr>
              <a:t>Gain &lt; Gamma </a:t>
            </a:r>
          </a:p>
        </p:txBody>
      </p: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A196E87-F9CE-DF4F-9099-0F3B48475400}"/>
              </a:ext>
            </a:extLst>
          </p:cNvPr>
          <p:cNvCxnSpPr>
            <a:cxnSpLocks/>
          </p:cNvCxnSpPr>
          <p:nvPr/>
        </p:nvCxnSpPr>
        <p:spPr>
          <a:xfrm>
            <a:off x="3613352" y="5680009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3">
            <a:extLst>
              <a:ext uri="{FF2B5EF4-FFF2-40B4-BE49-F238E27FC236}">
                <a16:creationId xmlns:a16="http://schemas.microsoft.com/office/drawing/2014/main" id="{509CF628-1C69-BAC8-8E4D-6DBB23C6E44D}"/>
              </a:ext>
            </a:extLst>
          </p:cNvPr>
          <p:cNvSpPr txBox="1"/>
          <p:nvPr/>
        </p:nvSpPr>
        <p:spPr>
          <a:xfrm>
            <a:off x="4713520" y="5407062"/>
            <a:ext cx="3495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The split </a:t>
            </a:r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not</a:t>
            </a:r>
            <a:r>
              <a:rPr lang="it-IT" sz="2400" dirty="0">
                <a:latin typeface="Georgia" panose="02040502050405020303" pitchFamily="18" charset="0"/>
              </a:rPr>
              <a:t> made !</a:t>
            </a:r>
          </a:p>
        </p:txBody>
      </p:sp>
      <p:pic>
        <p:nvPicPr>
          <p:cNvPr id="18" name="Elemento grafico 17" descr="Chiudi con riempimento a tinta unita">
            <a:extLst>
              <a:ext uri="{FF2B5EF4-FFF2-40B4-BE49-F238E27FC236}">
                <a16:creationId xmlns:a16="http://schemas.microsoft.com/office/drawing/2014/main" id="{329C1365-0298-36E1-C8F1-807EA22B1F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3346" y="5352338"/>
            <a:ext cx="571111" cy="571111"/>
          </a:xfrm>
          <a:prstGeom prst="rect">
            <a:avLst/>
          </a:prstGeom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3774B1C9-D042-9EFB-89FA-31C6E1E82A13}"/>
              </a:ext>
            </a:extLst>
          </p:cNvPr>
          <p:cNvSpPr txBox="1"/>
          <p:nvPr/>
        </p:nvSpPr>
        <p:spPr>
          <a:xfrm>
            <a:off x="-3745476" y="4576065"/>
            <a:ext cx="3826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400" dirty="0">
              <a:latin typeface="Georgia" panose="02040502050405020303" pitchFamily="18" charset="0"/>
            </a:endParaRPr>
          </a:p>
          <a:p>
            <a:r>
              <a:rPr lang="it-IT" sz="2400" dirty="0">
                <a:latin typeface="Georgia" panose="02040502050405020303" pitchFamily="18" charset="0"/>
              </a:rPr>
              <a:t>Gain = 1.33 &gt; Gamma = 1 </a:t>
            </a:r>
          </a:p>
        </p:txBody>
      </p:sp>
    </p:spTree>
    <p:extLst>
      <p:ext uri="{BB962C8B-B14F-4D97-AF65-F5344CB8AC3E}">
        <p14:creationId xmlns:p14="http://schemas.microsoft.com/office/powerpoint/2010/main" val="164390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365343" y="4453635"/>
            <a:ext cx="3826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400" dirty="0">
              <a:latin typeface="Georgia" panose="02040502050405020303" pitchFamily="18" charset="0"/>
            </a:endParaRPr>
          </a:p>
          <a:p>
            <a:r>
              <a:rPr lang="it-IT" sz="2400" dirty="0">
                <a:latin typeface="Georgia" panose="02040502050405020303" pitchFamily="18" charset="0"/>
              </a:rPr>
              <a:t>Gain = 1.33 &gt; Gamma = 1 </a:t>
            </a: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12442" y="6130484"/>
            <a:ext cx="571111" cy="571111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5EB8ECC3-DF0C-39F5-49B5-7ADA9D4BA3A3}"/>
              </a:ext>
            </a:extLst>
          </p:cNvPr>
          <p:cNvSpPr txBox="1"/>
          <p:nvPr/>
        </p:nvSpPr>
        <p:spPr>
          <a:xfrm>
            <a:off x="12025906" y="4891609"/>
            <a:ext cx="606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split the root </a:t>
            </a:r>
            <a:r>
              <a:rPr lang="it-IT" sz="2400" dirty="0" err="1">
                <a:latin typeface="Georgia" panose="02040502050405020303" pitchFamily="18" charset="0"/>
              </a:rPr>
              <a:t>at</a:t>
            </a:r>
            <a:r>
              <a:rPr lang="it-IT" sz="2400" dirty="0">
                <a:latin typeface="Georgia" panose="02040502050405020303" pitchFamily="18" charset="0"/>
              </a:rPr>
              <a:t> X &lt; 15 and </a:t>
            </a:r>
            <a:r>
              <a:rPr lang="it-IT" sz="2400" dirty="0" err="1">
                <a:latin typeface="Georgia" panose="02040502050405020303" pitchFamily="18" charset="0"/>
              </a:rPr>
              <a:t>keep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above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tree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structure</a:t>
            </a:r>
            <a:endParaRPr lang="it-IT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968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E382A73E-1FD5-E14C-826E-40D3CB60F951}"/>
              </a:ext>
            </a:extLst>
          </p:cNvPr>
          <p:cNvSpPr txBox="1"/>
          <p:nvPr/>
        </p:nvSpPr>
        <p:spPr>
          <a:xfrm>
            <a:off x="7252722" y="2062405"/>
            <a:ext cx="4249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root = 0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202A795-06F4-9985-F81C-4B94CB3773A2}"/>
              </a:ext>
            </a:extLst>
          </p:cNvPr>
          <p:cNvSpPr txBox="1"/>
          <p:nvPr/>
        </p:nvSpPr>
        <p:spPr>
          <a:xfrm>
            <a:off x="72141" y="3547501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left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0.33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3E849F2-9ACD-28CB-5CDB-D80639D117A4}"/>
              </a:ext>
            </a:extLst>
          </p:cNvPr>
          <p:cNvSpPr txBox="1"/>
          <p:nvPr/>
        </p:nvSpPr>
        <p:spPr>
          <a:xfrm>
            <a:off x="7147420" y="3573136"/>
            <a:ext cx="411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Similarity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right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leaf</a:t>
            </a:r>
            <a:r>
              <a:rPr lang="it-IT" b="1" dirty="0">
                <a:latin typeface="Georgia" panose="02040502050405020303" pitchFamily="18" charset="0"/>
              </a:rPr>
              <a:t> = 1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4191715" y="5503456"/>
            <a:ext cx="73728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2796" y="5667307"/>
            <a:ext cx="571111" cy="571111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5EB8ECC3-DF0C-39F5-49B5-7ADA9D4BA3A3}"/>
              </a:ext>
            </a:extLst>
          </p:cNvPr>
          <p:cNvSpPr txBox="1"/>
          <p:nvPr/>
        </p:nvSpPr>
        <p:spPr>
          <a:xfrm>
            <a:off x="4839965" y="5251809"/>
            <a:ext cx="606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split the root </a:t>
            </a:r>
            <a:r>
              <a:rPr lang="it-IT" sz="2400" dirty="0" err="1">
                <a:latin typeface="Georgia" panose="02040502050405020303" pitchFamily="18" charset="0"/>
              </a:rPr>
              <a:t>at</a:t>
            </a:r>
            <a:r>
              <a:rPr lang="it-IT" sz="2400" dirty="0">
                <a:latin typeface="Georgia" panose="02040502050405020303" pitchFamily="18" charset="0"/>
              </a:rPr>
              <a:t> X &lt; 15 and </a:t>
            </a:r>
            <a:r>
              <a:rPr lang="it-IT" sz="2400" dirty="0" err="1">
                <a:latin typeface="Georgia" panose="02040502050405020303" pitchFamily="18" charset="0"/>
              </a:rPr>
              <a:t>keep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above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tree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structure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1BC3B978-A32F-B525-2F04-3BFA61750C94}"/>
              </a:ext>
            </a:extLst>
          </p:cNvPr>
          <p:cNvSpPr txBox="1"/>
          <p:nvPr/>
        </p:nvSpPr>
        <p:spPr>
          <a:xfrm>
            <a:off x="365343" y="4869133"/>
            <a:ext cx="3826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400" dirty="0">
              <a:latin typeface="Georgia" panose="02040502050405020303" pitchFamily="18" charset="0"/>
            </a:endParaRPr>
          </a:p>
          <a:p>
            <a:r>
              <a:rPr lang="it-IT" sz="2400" dirty="0">
                <a:latin typeface="Georgia" panose="02040502050405020303" pitchFamily="18" charset="0"/>
              </a:rPr>
              <a:t>Gain = 1.33 &gt; Gamma = 1 </a:t>
            </a:r>
          </a:p>
        </p:txBody>
      </p:sp>
    </p:spTree>
    <p:extLst>
      <p:ext uri="{BB962C8B-B14F-4D97-AF65-F5344CB8AC3E}">
        <p14:creationId xmlns:p14="http://schemas.microsoft.com/office/powerpoint/2010/main" val="728724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38786" y="2967335"/>
            <a:ext cx="3826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Georgia" panose="02040502050405020303" pitchFamily="18" charset="0"/>
              </a:rPr>
              <a:t>Focus on the </a:t>
            </a:r>
            <a:r>
              <a:rPr lang="it-IT" sz="2400" dirty="0" err="1">
                <a:latin typeface="Georgia" panose="02040502050405020303" pitchFamily="18" charset="0"/>
              </a:rPr>
              <a:t>left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leave</a:t>
            </a:r>
            <a:endParaRPr lang="it-IT" sz="2400" dirty="0">
              <a:latin typeface="Georgia" panose="02040502050405020303" pitchFamily="18" charset="0"/>
            </a:endParaRPr>
          </a:p>
          <a:p>
            <a:endParaRPr lang="it-IT" sz="2400" dirty="0">
              <a:latin typeface="Georgia" panose="02040502050405020303" pitchFamily="18" charset="0"/>
            </a:endParaRPr>
          </a:p>
          <a:p>
            <a:r>
              <a:rPr lang="it-IT" sz="2400" dirty="0">
                <a:latin typeface="Georgia" panose="02040502050405020303" pitchFamily="18" charset="0"/>
              </a:rPr>
              <a:t>And </a:t>
            </a:r>
            <a:r>
              <a:rPr lang="it-IT" sz="2400" dirty="0" err="1">
                <a:latin typeface="Georgia" panose="02040502050405020303" pitchFamily="18" charset="0"/>
              </a:rPr>
              <a:t>try</a:t>
            </a:r>
            <a:r>
              <a:rPr lang="it-IT" sz="2400" dirty="0">
                <a:latin typeface="Georgia" panose="02040502050405020303" pitchFamily="18" charset="0"/>
              </a:rPr>
              <a:t> to split </a:t>
            </a:r>
            <a:r>
              <a:rPr lang="it-IT" sz="2400" dirty="0" err="1">
                <a:latin typeface="Georgia" panose="02040502050405020303" pitchFamily="18" charset="0"/>
              </a:rPr>
              <a:t>these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residuals</a:t>
            </a:r>
            <a:r>
              <a:rPr lang="it-IT" sz="2400" dirty="0">
                <a:latin typeface="Georgia" panose="02040502050405020303" pitchFamily="18" charset="0"/>
              </a:rPr>
              <a:t> in </a:t>
            </a:r>
            <a:r>
              <a:rPr lang="it-IT" sz="2400" dirty="0" err="1">
                <a:latin typeface="Georgia" panose="02040502050405020303" pitchFamily="18" charset="0"/>
              </a:rPr>
              <a:t>two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leafs</a:t>
            </a:r>
            <a:r>
              <a:rPr lang="it-IT" sz="2400" dirty="0">
                <a:latin typeface="Georgia" panose="02040502050405020303" pitchFamily="18" charset="0"/>
              </a:rPr>
              <a:t> !</a:t>
            </a: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12442" y="6130484"/>
            <a:ext cx="571111" cy="571111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5EB8ECC3-DF0C-39F5-49B5-7ADA9D4BA3A3}"/>
              </a:ext>
            </a:extLst>
          </p:cNvPr>
          <p:cNvSpPr txBox="1"/>
          <p:nvPr/>
        </p:nvSpPr>
        <p:spPr>
          <a:xfrm>
            <a:off x="12025906" y="4891609"/>
            <a:ext cx="606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split the root </a:t>
            </a:r>
            <a:r>
              <a:rPr lang="it-IT" sz="2400" dirty="0" err="1">
                <a:latin typeface="Georgia" panose="02040502050405020303" pitchFamily="18" charset="0"/>
              </a:rPr>
              <a:t>at</a:t>
            </a:r>
            <a:r>
              <a:rPr lang="it-IT" sz="2400" dirty="0">
                <a:latin typeface="Georgia" panose="02040502050405020303" pitchFamily="18" charset="0"/>
              </a:rPr>
              <a:t> X &lt; 15 and </a:t>
            </a:r>
            <a:r>
              <a:rPr lang="it-IT" sz="2400" dirty="0" err="1">
                <a:latin typeface="Georgia" panose="02040502050405020303" pitchFamily="18" charset="0"/>
              </a:rPr>
              <a:t>keep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above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tree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structure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13" name="Oval 31">
            <a:extLst>
              <a:ext uri="{FF2B5EF4-FFF2-40B4-BE49-F238E27FC236}">
                <a16:creationId xmlns:a16="http://schemas.microsoft.com/office/drawing/2014/main" id="{9DF9EF2A-593D-671F-08AF-E4F12CC13FD5}"/>
              </a:ext>
            </a:extLst>
          </p:cNvPr>
          <p:cNvSpPr/>
          <p:nvPr/>
        </p:nvSpPr>
        <p:spPr>
          <a:xfrm>
            <a:off x="3437591" y="2926291"/>
            <a:ext cx="2671083" cy="1700389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047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9324" y="2699024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-0.5, 0.5, 05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55110" y="2570237"/>
            <a:ext cx="34441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Focus on the </a:t>
            </a:r>
            <a:r>
              <a:rPr lang="it-IT" sz="2400" dirty="0" err="1">
                <a:latin typeface="Georgia" panose="02040502050405020303" pitchFamily="18" charset="0"/>
              </a:rPr>
              <a:t>left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leave</a:t>
            </a:r>
            <a:endParaRPr lang="it-IT" sz="2400" dirty="0">
              <a:latin typeface="Georgia" panose="02040502050405020303" pitchFamily="18" charset="0"/>
            </a:endParaRPr>
          </a:p>
          <a:p>
            <a:pPr algn="ctr"/>
            <a:endParaRPr lang="it-IT" sz="2400" dirty="0">
              <a:latin typeface="Georgia" panose="02040502050405020303" pitchFamily="18" charset="0"/>
            </a:endParaRPr>
          </a:p>
          <a:p>
            <a:pPr algn="ctr"/>
            <a:r>
              <a:rPr lang="it-IT" sz="2400" dirty="0" err="1">
                <a:latin typeface="Georgia" panose="02040502050405020303" pitchFamily="18" charset="0"/>
              </a:rPr>
              <a:t>Now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try</a:t>
            </a:r>
            <a:r>
              <a:rPr lang="it-IT" sz="2400" dirty="0">
                <a:latin typeface="Georgia" panose="02040502050405020303" pitchFamily="18" charset="0"/>
              </a:rPr>
              <a:t> to split </a:t>
            </a:r>
            <a:r>
              <a:rPr lang="it-IT" sz="2400" dirty="0" err="1">
                <a:latin typeface="Georgia" panose="02040502050405020303" pitchFamily="18" charset="0"/>
              </a:rPr>
              <a:t>these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residuals</a:t>
            </a:r>
            <a:r>
              <a:rPr lang="it-IT" sz="2400" dirty="0">
                <a:latin typeface="Georgia" panose="02040502050405020303" pitchFamily="18" charset="0"/>
              </a:rPr>
              <a:t> in </a:t>
            </a:r>
            <a:r>
              <a:rPr lang="it-IT" sz="2400" dirty="0" err="1">
                <a:latin typeface="Georgia" panose="02040502050405020303" pitchFamily="18" charset="0"/>
              </a:rPr>
              <a:t>two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leafs</a:t>
            </a:r>
            <a:r>
              <a:rPr lang="it-IT" sz="2400" dirty="0">
                <a:latin typeface="Georgia" panose="02040502050405020303" pitchFamily="18" charset="0"/>
              </a:rPr>
              <a:t> !</a:t>
            </a: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12442" y="6130484"/>
            <a:ext cx="571111" cy="571111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5EB8ECC3-DF0C-39F5-49B5-7ADA9D4BA3A3}"/>
              </a:ext>
            </a:extLst>
          </p:cNvPr>
          <p:cNvSpPr txBox="1"/>
          <p:nvPr/>
        </p:nvSpPr>
        <p:spPr>
          <a:xfrm>
            <a:off x="12025906" y="4891609"/>
            <a:ext cx="606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split the root </a:t>
            </a:r>
            <a:r>
              <a:rPr lang="it-IT" sz="2400" dirty="0" err="1">
                <a:latin typeface="Georgia" panose="02040502050405020303" pitchFamily="18" charset="0"/>
              </a:rPr>
              <a:t>at</a:t>
            </a:r>
            <a:r>
              <a:rPr lang="it-IT" sz="2400" dirty="0">
                <a:latin typeface="Georgia" panose="02040502050405020303" pitchFamily="18" charset="0"/>
              </a:rPr>
              <a:t> X &lt; 15 and </a:t>
            </a:r>
            <a:r>
              <a:rPr lang="it-IT" sz="2400" dirty="0" err="1">
                <a:latin typeface="Georgia" panose="02040502050405020303" pitchFamily="18" charset="0"/>
              </a:rPr>
              <a:t>keep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above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tree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structure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B256F10D-B3DB-A2A3-9165-AA13438336F7}"/>
              </a:ext>
            </a:extLst>
          </p:cNvPr>
          <p:cNvSpPr txBox="1"/>
          <p:nvPr/>
        </p:nvSpPr>
        <p:spPr>
          <a:xfrm>
            <a:off x="138786" y="4990944"/>
            <a:ext cx="3826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try</a:t>
            </a:r>
            <a:r>
              <a:rPr lang="it-IT" sz="2400" dirty="0">
                <a:latin typeface="Georgia" panose="02040502050405020303" pitchFamily="18" charset="0"/>
              </a:rPr>
              <a:t>  </a:t>
            </a:r>
            <a:r>
              <a:rPr lang="it-IT" sz="2400" dirty="0" err="1">
                <a:latin typeface="Georgia" panose="02040502050405020303" pitchFamily="18" charset="0"/>
              </a:rPr>
              <a:t>treshold</a:t>
            </a:r>
            <a:r>
              <a:rPr lang="it-IT" sz="2400" dirty="0">
                <a:latin typeface="Georgia" panose="02040502050405020303" pitchFamily="18" charset="0"/>
              </a:rPr>
              <a:t> X &lt; 5</a:t>
            </a:r>
          </a:p>
        </p:txBody>
      </p:sp>
      <p:sp>
        <p:nvSpPr>
          <p:cNvPr id="7" name="Oval 31">
            <a:extLst>
              <a:ext uri="{FF2B5EF4-FFF2-40B4-BE49-F238E27FC236}">
                <a16:creationId xmlns:a16="http://schemas.microsoft.com/office/drawing/2014/main" id="{72FF6352-5D0D-F928-866A-0409675FEC60}"/>
              </a:ext>
            </a:extLst>
          </p:cNvPr>
          <p:cNvSpPr/>
          <p:nvPr/>
        </p:nvSpPr>
        <p:spPr>
          <a:xfrm>
            <a:off x="3437591" y="2926291"/>
            <a:ext cx="2671083" cy="1700389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42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5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70846" y="2103094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Georgia" panose="02040502050405020303" pitchFamily="18" charset="0"/>
              </a:rPr>
              <a:t>We</a:t>
            </a:r>
            <a:r>
              <a:rPr lang="it-IT" sz="2000" dirty="0">
                <a:latin typeface="Georgia" panose="02040502050405020303" pitchFamily="18" charset="0"/>
              </a:rPr>
              <a:t> compute the </a:t>
            </a:r>
            <a:r>
              <a:rPr lang="it-IT" sz="2000" dirty="0" err="1">
                <a:latin typeface="Georgia" panose="02040502050405020303" pitchFamily="18" charset="0"/>
              </a:rPr>
              <a:t>similarity</a:t>
            </a:r>
            <a:r>
              <a:rPr lang="it-IT" sz="2000" dirty="0">
                <a:latin typeface="Georgia" panose="02040502050405020303" pitchFamily="18" charset="0"/>
              </a:rPr>
              <a:t> score</a:t>
            </a: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12442" y="6130484"/>
            <a:ext cx="571111" cy="571111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5EB8ECC3-DF0C-39F5-49B5-7ADA9D4BA3A3}"/>
              </a:ext>
            </a:extLst>
          </p:cNvPr>
          <p:cNvSpPr txBox="1"/>
          <p:nvPr/>
        </p:nvSpPr>
        <p:spPr>
          <a:xfrm>
            <a:off x="12025906" y="4891609"/>
            <a:ext cx="606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split the root </a:t>
            </a:r>
            <a:r>
              <a:rPr lang="it-IT" sz="2400" dirty="0" err="1">
                <a:latin typeface="Georgia" panose="02040502050405020303" pitchFamily="18" charset="0"/>
              </a:rPr>
              <a:t>at</a:t>
            </a:r>
            <a:r>
              <a:rPr lang="it-IT" sz="2400" dirty="0">
                <a:latin typeface="Georgia" panose="02040502050405020303" pitchFamily="18" charset="0"/>
              </a:rPr>
              <a:t> X &lt; 15 and </a:t>
            </a:r>
            <a:r>
              <a:rPr lang="it-IT" sz="2400" dirty="0" err="1">
                <a:latin typeface="Georgia" panose="02040502050405020303" pitchFamily="18" charset="0"/>
              </a:rPr>
              <a:t>keep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above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tree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structure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5107938" y="4583093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2949744" y="4558985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>
            <a:off x="4760333" y="4067615"/>
            <a:ext cx="1335666" cy="515478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 flipH="1">
            <a:off x="3413869" y="4067615"/>
            <a:ext cx="1346464" cy="49137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3">
            <a:extLst>
              <a:ext uri="{FF2B5EF4-FFF2-40B4-BE49-F238E27FC236}">
                <a16:creationId xmlns:a16="http://schemas.microsoft.com/office/drawing/2014/main" id="{553DA564-0B24-7CD2-AE06-09D74C3CE5F3}"/>
              </a:ext>
            </a:extLst>
          </p:cNvPr>
          <p:cNvSpPr txBox="1"/>
          <p:nvPr/>
        </p:nvSpPr>
        <p:spPr>
          <a:xfrm>
            <a:off x="1332857" y="3533440"/>
            <a:ext cx="2392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Root = 0.33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D172AC3C-254A-79DD-0317-2E892E3870E7}"/>
              </a:ext>
            </a:extLst>
          </p:cNvPr>
          <p:cNvSpPr txBox="1"/>
          <p:nvPr/>
        </p:nvSpPr>
        <p:spPr>
          <a:xfrm>
            <a:off x="7183096" y="4672538"/>
            <a:ext cx="3231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</a:t>
            </a:r>
            <a:r>
              <a:rPr lang="it-IT" sz="2000" b="1" dirty="0" err="1">
                <a:latin typeface="Georgia" panose="02040502050405020303" pitchFamily="18" charset="0"/>
              </a:rPr>
              <a:t>Right</a:t>
            </a:r>
            <a:r>
              <a:rPr lang="it-IT" sz="2000" b="1" dirty="0">
                <a:latin typeface="Georgia" panose="02040502050405020303" pitchFamily="18" charset="0"/>
              </a:rPr>
              <a:t> </a:t>
            </a:r>
            <a:r>
              <a:rPr lang="it-IT" sz="2000" b="1" dirty="0" err="1">
                <a:latin typeface="Georgia" panose="02040502050405020303" pitchFamily="18" charset="0"/>
              </a:rPr>
              <a:t>Leaf</a:t>
            </a:r>
            <a:r>
              <a:rPr lang="it-IT" sz="2000" b="1" dirty="0">
                <a:latin typeface="Georgia" panose="02040502050405020303" pitchFamily="18" charset="0"/>
              </a:rPr>
              <a:t> = 2</a:t>
            </a: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A6572861-DE99-6F23-7656-C493812B2835}"/>
              </a:ext>
            </a:extLst>
          </p:cNvPr>
          <p:cNvSpPr txBox="1"/>
          <p:nvPr/>
        </p:nvSpPr>
        <p:spPr>
          <a:xfrm>
            <a:off x="281778" y="4672538"/>
            <a:ext cx="3215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Left </a:t>
            </a:r>
            <a:r>
              <a:rPr lang="it-IT" sz="2000" b="1" dirty="0" err="1">
                <a:latin typeface="Georgia" panose="02040502050405020303" pitchFamily="18" charset="0"/>
              </a:rPr>
              <a:t>Leaf</a:t>
            </a:r>
            <a:r>
              <a:rPr lang="it-IT" sz="2000" b="1" dirty="0">
                <a:latin typeface="Georgia" panose="02040502050405020303" pitchFamily="18" charset="0"/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2677750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5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242684" y="2103358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Georgia" panose="02040502050405020303" pitchFamily="18" charset="0"/>
              </a:rPr>
              <a:t>We</a:t>
            </a:r>
            <a:r>
              <a:rPr lang="it-IT" sz="2000" dirty="0">
                <a:latin typeface="Georgia" panose="02040502050405020303" pitchFamily="18" charset="0"/>
              </a:rPr>
              <a:t> compute the gain</a:t>
            </a:r>
          </a:p>
        </p:txBody>
      </p:sp>
      <p:pic>
        <p:nvPicPr>
          <p:cNvPr id="6" name="Elemento grafico 5" descr="Segno di spunta con riempimento a tinta unita">
            <a:extLst>
              <a:ext uri="{FF2B5EF4-FFF2-40B4-BE49-F238E27FC236}">
                <a16:creationId xmlns:a16="http://schemas.microsoft.com/office/drawing/2014/main" id="{720AE213-DC29-9B22-A059-FADF8A367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12442" y="6130484"/>
            <a:ext cx="571111" cy="571111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5EB8ECC3-DF0C-39F5-49B5-7ADA9D4BA3A3}"/>
              </a:ext>
            </a:extLst>
          </p:cNvPr>
          <p:cNvSpPr txBox="1"/>
          <p:nvPr/>
        </p:nvSpPr>
        <p:spPr>
          <a:xfrm>
            <a:off x="12025906" y="4891609"/>
            <a:ext cx="606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split the root </a:t>
            </a:r>
            <a:r>
              <a:rPr lang="it-IT" sz="2400" dirty="0" err="1">
                <a:latin typeface="Georgia" panose="02040502050405020303" pitchFamily="18" charset="0"/>
              </a:rPr>
              <a:t>at</a:t>
            </a:r>
            <a:r>
              <a:rPr lang="it-IT" sz="2400" dirty="0">
                <a:latin typeface="Georgia" panose="02040502050405020303" pitchFamily="18" charset="0"/>
              </a:rPr>
              <a:t> X &lt; 15 and </a:t>
            </a:r>
            <a:r>
              <a:rPr lang="it-IT" sz="2400" dirty="0" err="1">
                <a:latin typeface="Georgia" panose="02040502050405020303" pitchFamily="18" charset="0"/>
              </a:rPr>
              <a:t>keep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above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tree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structure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5107938" y="4583093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2949744" y="4558985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>
            <a:off x="4760333" y="4067615"/>
            <a:ext cx="1335666" cy="515478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 flipH="1">
            <a:off x="3413869" y="4067615"/>
            <a:ext cx="1346464" cy="49137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3">
            <a:extLst>
              <a:ext uri="{FF2B5EF4-FFF2-40B4-BE49-F238E27FC236}">
                <a16:creationId xmlns:a16="http://schemas.microsoft.com/office/drawing/2014/main" id="{553DA564-0B24-7CD2-AE06-09D74C3CE5F3}"/>
              </a:ext>
            </a:extLst>
          </p:cNvPr>
          <p:cNvSpPr txBox="1"/>
          <p:nvPr/>
        </p:nvSpPr>
        <p:spPr>
          <a:xfrm>
            <a:off x="1332857" y="3533440"/>
            <a:ext cx="2392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Root = 0.33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D285185-0DCD-5F32-BE13-FDB2870710A5}"/>
              </a:ext>
            </a:extLst>
          </p:cNvPr>
          <p:cNvSpPr txBox="1"/>
          <p:nvPr/>
        </p:nvSpPr>
        <p:spPr>
          <a:xfrm>
            <a:off x="88392" y="5522551"/>
            <a:ext cx="3215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Gain </a:t>
            </a:r>
            <a:r>
              <a:rPr lang="it-IT" sz="2000" dirty="0">
                <a:latin typeface="Georgia" panose="02040502050405020303" pitchFamily="18" charset="0"/>
              </a:rPr>
              <a:t>= 1 + 2 – 0.33 = 2.66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0F5296A1-2930-DA1D-6EAF-C37B1064B576}"/>
              </a:ext>
            </a:extLst>
          </p:cNvPr>
          <p:cNvSpPr txBox="1"/>
          <p:nvPr/>
        </p:nvSpPr>
        <p:spPr>
          <a:xfrm>
            <a:off x="281778" y="4706203"/>
            <a:ext cx="3215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Left </a:t>
            </a:r>
            <a:r>
              <a:rPr lang="it-IT" sz="2000" b="1" dirty="0" err="1">
                <a:latin typeface="Georgia" panose="02040502050405020303" pitchFamily="18" charset="0"/>
              </a:rPr>
              <a:t>Leaf</a:t>
            </a:r>
            <a:r>
              <a:rPr lang="it-IT" sz="2000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6624632E-0B15-FBA7-023E-A3BF7CF4E116}"/>
              </a:ext>
            </a:extLst>
          </p:cNvPr>
          <p:cNvSpPr txBox="1"/>
          <p:nvPr/>
        </p:nvSpPr>
        <p:spPr>
          <a:xfrm>
            <a:off x="7183096" y="4672538"/>
            <a:ext cx="3231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</a:t>
            </a:r>
            <a:r>
              <a:rPr lang="it-IT" sz="2000" b="1" dirty="0" err="1">
                <a:latin typeface="Georgia" panose="02040502050405020303" pitchFamily="18" charset="0"/>
              </a:rPr>
              <a:t>Right</a:t>
            </a:r>
            <a:r>
              <a:rPr lang="it-IT" sz="2000" b="1" dirty="0">
                <a:latin typeface="Georgia" panose="02040502050405020303" pitchFamily="18" charset="0"/>
              </a:rPr>
              <a:t> </a:t>
            </a:r>
            <a:r>
              <a:rPr lang="it-IT" sz="2000" b="1" dirty="0" err="1">
                <a:latin typeface="Georgia" panose="02040502050405020303" pitchFamily="18" charset="0"/>
              </a:rPr>
              <a:t>Leaf</a:t>
            </a:r>
            <a:r>
              <a:rPr lang="it-IT" sz="2000" b="1" dirty="0">
                <a:latin typeface="Georgia" panose="02040502050405020303" pitchFamily="18" charset="0"/>
              </a:rPr>
              <a:t> = 2</a:t>
            </a:r>
          </a:p>
        </p:txBody>
      </p:sp>
    </p:spTree>
    <p:extLst>
      <p:ext uri="{BB962C8B-B14F-4D97-AF65-F5344CB8AC3E}">
        <p14:creationId xmlns:p14="http://schemas.microsoft.com/office/powerpoint/2010/main" val="2889033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10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71744" y="1829201"/>
            <a:ext cx="38263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Georgia" panose="02040502050405020303" pitchFamily="18" charset="0"/>
              </a:rPr>
              <a:t>Before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moving</a:t>
            </a:r>
            <a:r>
              <a:rPr lang="it-IT" sz="2000" dirty="0">
                <a:latin typeface="Georgia" panose="02040502050405020303" pitchFamily="18" charset="0"/>
              </a:rPr>
              <a:t> on, </a:t>
            </a:r>
            <a:r>
              <a:rPr lang="it-IT" sz="2000" dirty="0" err="1">
                <a:latin typeface="Georgia" panose="02040502050405020303" pitchFamily="18" charset="0"/>
              </a:rPr>
              <a:t>we</a:t>
            </a:r>
            <a:r>
              <a:rPr lang="it-IT" sz="2000" dirty="0">
                <a:latin typeface="Georgia" panose="02040502050405020303" pitchFamily="18" charset="0"/>
              </a:rPr>
              <a:t> test </a:t>
            </a:r>
            <a:r>
              <a:rPr lang="it-IT" sz="2000" dirty="0" err="1">
                <a:latin typeface="Georgia" panose="02040502050405020303" pitchFamily="18" charset="0"/>
              </a:rPr>
              <a:t>another</a:t>
            </a:r>
            <a:r>
              <a:rPr lang="it-IT" sz="2000" dirty="0">
                <a:latin typeface="Georgia" panose="02040502050405020303" pitchFamily="18" charset="0"/>
              </a:rPr>
              <a:t> split: X &lt; 10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2696632" y="4535087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5482293" y="453508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 flipH="1">
            <a:off x="3684693" y="4067615"/>
            <a:ext cx="1075640" cy="46747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>
            <a:off x="4760333" y="4067615"/>
            <a:ext cx="1186085" cy="46747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F9E62957-D3BA-6FC1-97FE-69C3BC8B4A22}"/>
              </a:ext>
            </a:extLst>
          </p:cNvPr>
          <p:cNvSpPr txBox="1"/>
          <p:nvPr/>
        </p:nvSpPr>
        <p:spPr>
          <a:xfrm>
            <a:off x="171744" y="2947463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Tree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changes</a:t>
            </a:r>
            <a:r>
              <a:rPr lang="it-IT" sz="2000" dirty="0">
                <a:latin typeface="Georgia" panose="02040502050405020303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48395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10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71744" y="1829201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Georgia" panose="02040502050405020303" pitchFamily="18" charset="0"/>
              </a:rPr>
              <a:t>Try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another</a:t>
            </a:r>
            <a:r>
              <a:rPr lang="it-IT" sz="2000" dirty="0">
                <a:latin typeface="Georgia" panose="02040502050405020303" pitchFamily="18" charset="0"/>
              </a:rPr>
              <a:t> split: X &lt; 10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2696632" y="4535087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5482293" y="453508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 flipH="1">
            <a:off x="3684693" y="4067615"/>
            <a:ext cx="1075640" cy="46747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>
            <a:off x="4760333" y="4067615"/>
            <a:ext cx="1186085" cy="46747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F9E62957-D3BA-6FC1-97FE-69C3BC8B4A22}"/>
              </a:ext>
            </a:extLst>
          </p:cNvPr>
          <p:cNvSpPr txBox="1"/>
          <p:nvPr/>
        </p:nvSpPr>
        <p:spPr>
          <a:xfrm>
            <a:off x="171744" y="2446637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Tree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is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changing</a:t>
            </a:r>
            <a:r>
              <a:rPr lang="it-IT" sz="2000" dirty="0">
                <a:latin typeface="Georgia" panose="02040502050405020303" pitchFamily="18" charset="0"/>
              </a:rPr>
              <a:t> !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30ECCBD-3B5A-7DA5-6A95-435E5F8B632F}"/>
              </a:ext>
            </a:extLst>
          </p:cNvPr>
          <p:cNvSpPr txBox="1"/>
          <p:nvPr/>
        </p:nvSpPr>
        <p:spPr>
          <a:xfrm>
            <a:off x="1332857" y="3533440"/>
            <a:ext cx="2392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Root = 0.33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947DDC3-9B19-4B13-B0AC-DC2642D17BE7}"/>
              </a:ext>
            </a:extLst>
          </p:cNvPr>
          <p:cNvSpPr txBox="1"/>
          <p:nvPr/>
        </p:nvSpPr>
        <p:spPr>
          <a:xfrm>
            <a:off x="171744" y="4645373"/>
            <a:ext cx="2962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Left </a:t>
            </a:r>
            <a:r>
              <a:rPr lang="it-IT" sz="2000" b="1" dirty="0" err="1">
                <a:latin typeface="Georgia" panose="02040502050405020303" pitchFamily="18" charset="0"/>
              </a:rPr>
              <a:t>leave</a:t>
            </a:r>
            <a:r>
              <a:rPr lang="it-IT" sz="2000" b="1" dirty="0">
                <a:latin typeface="Georgia" panose="02040502050405020303" pitchFamily="18" charset="0"/>
              </a:rPr>
              <a:t>= 0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DB8501B4-C425-91C3-5C4B-ABCDAD88BAD7}"/>
              </a:ext>
            </a:extLst>
          </p:cNvPr>
          <p:cNvSpPr txBox="1"/>
          <p:nvPr/>
        </p:nvSpPr>
        <p:spPr>
          <a:xfrm>
            <a:off x="6410542" y="4645373"/>
            <a:ext cx="3236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</a:t>
            </a:r>
            <a:r>
              <a:rPr lang="it-IT" sz="2000" b="1" dirty="0" err="1">
                <a:latin typeface="Georgia" panose="02040502050405020303" pitchFamily="18" charset="0"/>
              </a:rPr>
              <a:t>Right</a:t>
            </a:r>
            <a:r>
              <a:rPr lang="it-IT" sz="2000" b="1" dirty="0">
                <a:latin typeface="Georgia" panose="02040502050405020303" pitchFamily="18" charset="0"/>
              </a:rPr>
              <a:t> </a:t>
            </a:r>
            <a:r>
              <a:rPr lang="it-IT" sz="2000" b="1" dirty="0" err="1">
                <a:latin typeface="Georgia" panose="02040502050405020303" pitchFamily="18" charset="0"/>
              </a:rPr>
              <a:t>leave</a:t>
            </a:r>
            <a:r>
              <a:rPr lang="it-IT" sz="2000" b="1" dirty="0">
                <a:latin typeface="Georgia" panose="02040502050405020303" pitchFamily="18" charset="0"/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1760373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10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71744" y="1829201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Georgia" panose="02040502050405020303" pitchFamily="18" charset="0"/>
              </a:rPr>
              <a:t>Try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another</a:t>
            </a:r>
            <a:r>
              <a:rPr lang="it-IT" sz="2000" dirty="0">
                <a:latin typeface="Georgia" panose="02040502050405020303" pitchFamily="18" charset="0"/>
              </a:rPr>
              <a:t> split: X &lt; 10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2696632" y="4535087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5482293" y="453508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 flipH="1">
            <a:off x="3684693" y="4067615"/>
            <a:ext cx="1075640" cy="46747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>
            <a:off x="4760333" y="4067615"/>
            <a:ext cx="1186085" cy="46747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F9E62957-D3BA-6FC1-97FE-69C3BC8B4A22}"/>
              </a:ext>
            </a:extLst>
          </p:cNvPr>
          <p:cNvSpPr txBox="1"/>
          <p:nvPr/>
        </p:nvSpPr>
        <p:spPr>
          <a:xfrm>
            <a:off x="171744" y="2446637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Tree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is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changing</a:t>
            </a:r>
            <a:r>
              <a:rPr lang="it-IT" sz="2000" dirty="0">
                <a:latin typeface="Georgia" panose="02040502050405020303" pitchFamily="18" charset="0"/>
              </a:rPr>
              <a:t> !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30ECCBD-3B5A-7DA5-6A95-435E5F8B632F}"/>
              </a:ext>
            </a:extLst>
          </p:cNvPr>
          <p:cNvSpPr txBox="1"/>
          <p:nvPr/>
        </p:nvSpPr>
        <p:spPr>
          <a:xfrm>
            <a:off x="1332857" y="3533440"/>
            <a:ext cx="2392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Root = 0.33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947DDC3-9B19-4B13-B0AC-DC2642D17BE7}"/>
              </a:ext>
            </a:extLst>
          </p:cNvPr>
          <p:cNvSpPr txBox="1"/>
          <p:nvPr/>
        </p:nvSpPr>
        <p:spPr>
          <a:xfrm>
            <a:off x="171744" y="4645373"/>
            <a:ext cx="2962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Left </a:t>
            </a:r>
            <a:r>
              <a:rPr lang="it-IT" sz="2000" b="1" dirty="0" err="1">
                <a:latin typeface="Georgia" panose="02040502050405020303" pitchFamily="18" charset="0"/>
              </a:rPr>
              <a:t>leave</a:t>
            </a:r>
            <a:r>
              <a:rPr lang="it-IT" sz="2000" b="1" dirty="0">
                <a:latin typeface="Georgia" panose="02040502050405020303" pitchFamily="18" charset="0"/>
              </a:rPr>
              <a:t>= 0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DB8501B4-C425-91C3-5C4B-ABCDAD88BAD7}"/>
              </a:ext>
            </a:extLst>
          </p:cNvPr>
          <p:cNvSpPr txBox="1"/>
          <p:nvPr/>
        </p:nvSpPr>
        <p:spPr>
          <a:xfrm>
            <a:off x="6410542" y="4645373"/>
            <a:ext cx="3236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</a:t>
            </a:r>
            <a:r>
              <a:rPr lang="it-IT" sz="2000" b="1" dirty="0" err="1">
                <a:latin typeface="Georgia" panose="02040502050405020303" pitchFamily="18" charset="0"/>
              </a:rPr>
              <a:t>Right</a:t>
            </a:r>
            <a:r>
              <a:rPr lang="it-IT" sz="2000" b="1" dirty="0">
                <a:latin typeface="Georgia" panose="02040502050405020303" pitchFamily="18" charset="0"/>
              </a:rPr>
              <a:t> </a:t>
            </a:r>
            <a:r>
              <a:rPr lang="it-IT" sz="2000" b="1" dirty="0" err="1">
                <a:latin typeface="Georgia" panose="02040502050405020303" pitchFamily="18" charset="0"/>
              </a:rPr>
              <a:t>leave</a:t>
            </a:r>
            <a:r>
              <a:rPr lang="it-IT" sz="2000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8B6ABCB3-33D7-1872-EE87-C90A269DBF26}"/>
              </a:ext>
            </a:extLst>
          </p:cNvPr>
          <p:cNvSpPr txBox="1"/>
          <p:nvPr/>
        </p:nvSpPr>
        <p:spPr>
          <a:xfrm>
            <a:off x="171744" y="5582900"/>
            <a:ext cx="3512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Gain </a:t>
            </a:r>
            <a:r>
              <a:rPr lang="it-IT" sz="2000" dirty="0">
                <a:latin typeface="Georgia" panose="02040502050405020303" pitchFamily="18" charset="0"/>
              </a:rPr>
              <a:t>= 0 + 1 – 0.33 = </a:t>
            </a:r>
            <a:r>
              <a:rPr lang="it-IT" sz="2000" b="1" dirty="0">
                <a:latin typeface="Georgia" panose="02040502050405020303" pitchFamily="18" charset="0"/>
              </a:rPr>
              <a:t>0.77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D35CE76-AEE2-51BF-BC60-B314DCC82A83}"/>
              </a:ext>
            </a:extLst>
          </p:cNvPr>
          <p:cNvSpPr txBox="1"/>
          <p:nvPr/>
        </p:nvSpPr>
        <p:spPr>
          <a:xfrm>
            <a:off x="12382476" y="5778372"/>
            <a:ext cx="3512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&lt; Gain = 2.66</a:t>
            </a:r>
          </a:p>
        </p:txBody>
      </p:sp>
    </p:spTree>
    <p:extLst>
      <p:ext uri="{BB962C8B-B14F-4D97-AF65-F5344CB8AC3E}">
        <p14:creationId xmlns:p14="http://schemas.microsoft.com/office/powerpoint/2010/main" val="262136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10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673876" y="5844832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71744" y="1829201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Georgia" panose="02040502050405020303" pitchFamily="18" charset="0"/>
              </a:rPr>
              <a:t>Try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another</a:t>
            </a:r>
            <a:r>
              <a:rPr lang="it-IT" sz="2000" dirty="0">
                <a:latin typeface="Georgia" panose="02040502050405020303" pitchFamily="18" charset="0"/>
              </a:rPr>
              <a:t> split: X &lt; 10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2696632" y="4535087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5482293" y="453508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 flipH="1">
            <a:off x="3684693" y="4067615"/>
            <a:ext cx="1075640" cy="46747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>
            <a:off x="4760333" y="4067615"/>
            <a:ext cx="1186085" cy="46747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F9E62957-D3BA-6FC1-97FE-69C3BC8B4A22}"/>
              </a:ext>
            </a:extLst>
          </p:cNvPr>
          <p:cNvSpPr txBox="1"/>
          <p:nvPr/>
        </p:nvSpPr>
        <p:spPr>
          <a:xfrm>
            <a:off x="171744" y="2446637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Tree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is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changing</a:t>
            </a:r>
            <a:r>
              <a:rPr lang="it-IT" sz="2000" dirty="0">
                <a:latin typeface="Georgia" panose="02040502050405020303" pitchFamily="18" charset="0"/>
              </a:rPr>
              <a:t> !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30ECCBD-3B5A-7DA5-6A95-435E5F8B632F}"/>
              </a:ext>
            </a:extLst>
          </p:cNvPr>
          <p:cNvSpPr txBox="1"/>
          <p:nvPr/>
        </p:nvSpPr>
        <p:spPr>
          <a:xfrm>
            <a:off x="1332857" y="3533440"/>
            <a:ext cx="2392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Root = 0.33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947DDC3-9B19-4B13-B0AC-DC2642D17BE7}"/>
              </a:ext>
            </a:extLst>
          </p:cNvPr>
          <p:cNvSpPr txBox="1"/>
          <p:nvPr/>
        </p:nvSpPr>
        <p:spPr>
          <a:xfrm>
            <a:off x="171744" y="4645373"/>
            <a:ext cx="2962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Left </a:t>
            </a:r>
            <a:r>
              <a:rPr lang="it-IT" sz="2000" b="1" dirty="0" err="1">
                <a:latin typeface="Georgia" panose="02040502050405020303" pitchFamily="18" charset="0"/>
              </a:rPr>
              <a:t>leave</a:t>
            </a:r>
            <a:r>
              <a:rPr lang="it-IT" sz="2000" b="1" dirty="0">
                <a:latin typeface="Georgia" panose="02040502050405020303" pitchFamily="18" charset="0"/>
              </a:rPr>
              <a:t>= 0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DB8501B4-C425-91C3-5C4B-ABCDAD88BAD7}"/>
              </a:ext>
            </a:extLst>
          </p:cNvPr>
          <p:cNvSpPr txBox="1"/>
          <p:nvPr/>
        </p:nvSpPr>
        <p:spPr>
          <a:xfrm>
            <a:off x="6410542" y="4645373"/>
            <a:ext cx="3236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</a:t>
            </a:r>
            <a:r>
              <a:rPr lang="it-IT" sz="2000" b="1" dirty="0" err="1">
                <a:latin typeface="Georgia" panose="02040502050405020303" pitchFamily="18" charset="0"/>
              </a:rPr>
              <a:t>Right</a:t>
            </a:r>
            <a:r>
              <a:rPr lang="it-IT" sz="2000" b="1" dirty="0">
                <a:latin typeface="Georgia" panose="02040502050405020303" pitchFamily="18" charset="0"/>
              </a:rPr>
              <a:t> </a:t>
            </a:r>
            <a:r>
              <a:rPr lang="it-IT" sz="2000" b="1" dirty="0" err="1">
                <a:latin typeface="Georgia" panose="02040502050405020303" pitchFamily="18" charset="0"/>
              </a:rPr>
              <a:t>leave</a:t>
            </a:r>
            <a:r>
              <a:rPr lang="it-IT" sz="2000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8B6ABCB3-33D7-1872-EE87-C90A269DBF26}"/>
              </a:ext>
            </a:extLst>
          </p:cNvPr>
          <p:cNvSpPr txBox="1"/>
          <p:nvPr/>
        </p:nvSpPr>
        <p:spPr>
          <a:xfrm>
            <a:off x="171744" y="5582900"/>
            <a:ext cx="3512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Gain </a:t>
            </a:r>
            <a:r>
              <a:rPr lang="it-IT" sz="2000" dirty="0">
                <a:latin typeface="Georgia" panose="02040502050405020303" pitchFamily="18" charset="0"/>
              </a:rPr>
              <a:t>= 0 + 1 – 0.33 = </a:t>
            </a:r>
            <a:r>
              <a:rPr lang="it-IT" sz="2000" b="1" dirty="0">
                <a:latin typeface="Georgia" panose="02040502050405020303" pitchFamily="18" charset="0"/>
              </a:rPr>
              <a:t>0.77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1DF2535-C950-5EF4-D250-2F5FFF1272E8}"/>
              </a:ext>
            </a:extLst>
          </p:cNvPr>
          <p:cNvSpPr txBox="1"/>
          <p:nvPr/>
        </p:nvSpPr>
        <p:spPr>
          <a:xfrm>
            <a:off x="4991076" y="5616690"/>
            <a:ext cx="3512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&lt; Gain = 2.66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05E67CB2-8CF2-ED08-B0E6-E840DAECFDF0}"/>
              </a:ext>
            </a:extLst>
          </p:cNvPr>
          <p:cNvSpPr txBox="1"/>
          <p:nvPr/>
        </p:nvSpPr>
        <p:spPr>
          <a:xfrm>
            <a:off x="12320087" y="5521345"/>
            <a:ext cx="4077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Georgia" panose="02040502050405020303" pitchFamily="18" charset="0"/>
              </a:rPr>
              <a:t>X &lt; 5 split works </a:t>
            </a:r>
            <a:r>
              <a:rPr lang="it-IT" sz="2400" b="1" dirty="0" err="1">
                <a:latin typeface="Georgia" panose="02040502050405020303" pitchFamily="18" charset="0"/>
              </a:rPr>
              <a:t>better</a:t>
            </a:r>
            <a:r>
              <a:rPr lang="it-IT" sz="2400" b="1" dirty="0">
                <a:latin typeface="Georgia" panose="02040502050405020303" pitchFamily="18" charset="0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714586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10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673876" y="5844832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71744" y="1829201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Georgia" panose="02040502050405020303" pitchFamily="18" charset="0"/>
              </a:rPr>
              <a:t>Try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another</a:t>
            </a:r>
            <a:r>
              <a:rPr lang="it-IT" sz="2000" dirty="0">
                <a:latin typeface="Georgia" panose="02040502050405020303" pitchFamily="18" charset="0"/>
              </a:rPr>
              <a:t> split: X &lt; 10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2696632" y="4535087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5482293" y="453508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 flipH="1">
            <a:off x="3684693" y="4067615"/>
            <a:ext cx="1075640" cy="46747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>
            <a:off x="4760333" y="4067615"/>
            <a:ext cx="1186085" cy="467473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">
            <a:extLst>
              <a:ext uri="{FF2B5EF4-FFF2-40B4-BE49-F238E27FC236}">
                <a16:creationId xmlns:a16="http://schemas.microsoft.com/office/drawing/2014/main" id="{F9E62957-D3BA-6FC1-97FE-69C3BC8B4A22}"/>
              </a:ext>
            </a:extLst>
          </p:cNvPr>
          <p:cNvSpPr txBox="1"/>
          <p:nvPr/>
        </p:nvSpPr>
        <p:spPr>
          <a:xfrm>
            <a:off x="171744" y="2446637"/>
            <a:ext cx="3826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Tree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is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changing</a:t>
            </a:r>
            <a:r>
              <a:rPr lang="it-IT" sz="2000" dirty="0">
                <a:latin typeface="Georgia" panose="02040502050405020303" pitchFamily="18" charset="0"/>
              </a:rPr>
              <a:t> !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30ECCBD-3B5A-7DA5-6A95-435E5F8B632F}"/>
              </a:ext>
            </a:extLst>
          </p:cNvPr>
          <p:cNvSpPr txBox="1"/>
          <p:nvPr/>
        </p:nvSpPr>
        <p:spPr>
          <a:xfrm>
            <a:off x="1332857" y="3533440"/>
            <a:ext cx="23925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Root = 0.33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947DDC3-9B19-4B13-B0AC-DC2642D17BE7}"/>
              </a:ext>
            </a:extLst>
          </p:cNvPr>
          <p:cNvSpPr txBox="1"/>
          <p:nvPr/>
        </p:nvSpPr>
        <p:spPr>
          <a:xfrm>
            <a:off x="171744" y="4645373"/>
            <a:ext cx="2962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Left </a:t>
            </a:r>
            <a:r>
              <a:rPr lang="it-IT" sz="2000" b="1" dirty="0" err="1">
                <a:latin typeface="Georgia" panose="02040502050405020303" pitchFamily="18" charset="0"/>
              </a:rPr>
              <a:t>leave</a:t>
            </a:r>
            <a:r>
              <a:rPr lang="it-IT" sz="2000" b="1" dirty="0">
                <a:latin typeface="Georgia" panose="02040502050405020303" pitchFamily="18" charset="0"/>
              </a:rPr>
              <a:t>= 0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DB8501B4-C425-91C3-5C4B-ABCDAD88BAD7}"/>
              </a:ext>
            </a:extLst>
          </p:cNvPr>
          <p:cNvSpPr txBox="1"/>
          <p:nvPr/>
        </p:nvSpPr>
        <p:spPr>
          <a:xfrm>
            <a:off x="6410542" y="4645373"/>
            <a:ext cx="3236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Sim. </a:t>
            </a:r>
            <a:r>
              <a:rPr lang="it-IT" sz="2000" b="1" dirty="0" err="1">
                <a:latin typeface="Georgia" panose="02040502050405020303" pitchFamily="18" charset="0"/>
              </a:rPr>
              <a:t>Right</a:t>
            </a:r>
            <a:r>
              <a:rPr lang="it-IT" sz="2000" b="1" dirty="0">
                <a:latin typeface="Georgia" panose="02040502050405020303" pitchFamily="18" charset="0"/>
              </a:rPr>
              <a:t> </a:t>
            </a:r>
            <a:r>
              <a:rPr lang="it-IT" sz="2000" b="1" dirty="0" err="1">
                <a:latin typeface="Georgia" panose="02040502050405020303" pitchFamily="18" charset="0"/>
              </a:rPr>
              <a:t>leave</a:t>
            </a:r>
            <a:r>
              <a:rPr lang="it-IT" sz="2000" b="1" dirty="0">
                <a:latin typeface="Georgia" panose="02040502050405020303" pitchFamily="18" charset="0"/>
              </a:rPr>
              <a:t> = 1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8B6ABCB3-33D7-1872-EE87-C90A269DBF26}"/>
              </a:ext>
            </a:extLst>
          </p:cNvPr>
          <p:cNvSpPr txBox="1"/>
          <p:nvPr/>
        </p:nvSpPr>
        <p:spPr>
          <a:xfrm>
            <a:off x="171744" y="5582900"/>
            <a:ext cx="3512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Gain </a:t>
            </a:r>
            <a:r>
              <a:rPr lang="it-IT" sz="2000" dirty="0">
                <a:latin typeface="Georgia" panose="02040502050405020303" pitchFamily="18" charset="0"/>
              </a:rPr>
              <a:t>= 0 + 1 – 0.33 = </a:t>
            </a:r>
            <a:r>
              <a:rPr lang="it-IT" sz="2000" b="1" dirty="0">
                <a:latin typeface="Georgia" panose="02040502050405020303" pitchFamily="18" charset="0"/>
              </a:rPr>
              <a:t>0.77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F1DF2535-C950-5EF4-D250-2F5FFF1272E8}"/>
              </a:ext>
            </a:extLst>
          </p:cNvPr>
          <p:cNvSpPr txBox="1"/>
          <p:nvPr/>
        </p:nvSpPr>
        <p:spPr>
          <a:xfrm>
            <a:off x="4991076" y="5616690"/>
            <a:ext cx="3512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&lt; Gain = 2.66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BB065159-BAAD-ECA2-D6ED-300994D8FF69}"/>
              </a:ext>
            </a:extLst>
          </p:cNvPr>
          <p:cNvSpPr txBox="1"/>
          <p:nvPr/>
        </p:nvSpPr>
        <p:spPr>
          <a:xfrm>
            <a:off x="7443287" y="5582900"/>
            <a:ext cx="4077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Georgia" panose="02040502050405020303" pitchFamily="18" charset="0"/>
              </a:rPr>
              <a:t>X &lt; 5 split works </a:t>
            </a:r>
            <a:r>
              <a:rPr lang="it-IT" sz="2400" b="1" dirty="0" err="1">
                <a:latin typeface="Georgia" panose="02040502050405020303" pitchFamily="18" charset="0"/>
              </a:rPr>
              <a:t>better</a:t>
            </a:r>
            <a:r>
              <a:rPr lang="it-IT" sz="2400" b="1" dirty="0">
                <a:latin typeface="Georgia" panose="02040502050405020303" pitchFamily="18" charset="0"/>
              </a:rPr>
              <a:t> !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DCE83A35-F843-D379-A30F-10164487D98A}"/>
              </a:ext>
            </a:extLst>
          </p:cNvPr>
          <p:cNvSpPr txBox="1"/>
          <p:nvPr/>
        </p:nvSpPr>
        <p:spPr>
          <a:xfrm>
            <a:off x="-4086025" y="2097224"/>
            <a:ext cx="426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Back to the </a:t>
            </a:r>
            <a:r>
              <a:rPr lang="it-IT" sz="2000" dirty="0" err="1">
                <a:latin typeface="Georgia" panose="02040502050405020303" pitchFamily="18" charset="0"/>
              </a:rPr>
              <a:t>previous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tree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926AEA18-1B9B-055F-5F1D-876D173AF2E9}"/>
              </a:ext>
            </a:extLst>
          </p:cNvPr>
          <p:cNvSpPr txBox="1"/>
          <p:nvPr/>
        </p:nvSpPr>
        <p:spPr>
          <a:xfrm>
            <a:off x="-4706808" y="5521345"/>
            <a:ext cx="459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improvement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significant</a:t>
            </a:r>
            <a:r>
              <a:rPr lang="it-IT" sz="2400" dirty="0">
                <a:latin typeface="Georgia" panose="02040502050405020303" pitchFamily="18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89100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5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69993" y="2092647"/>
            <a:ext cx="426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Back to the </a:t>
            </a:r>
            <a:r>
              <a:rPr lang="it-IT" sz="2000" dirty="0" err="1">
                <a:latin typeface="Georgia" panose="02040502050405020303" pitchFamily="18" charset="0"/>
              </a:rPr>
              <a:t>previous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tree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5107938" y="4583093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2949744" y="4558985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>
            <a:off x="4760333" y="4067615"/>
            <a:ext cx="1335666" cy="515478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 flipH="1">
            <a:off x="3413869" y="4067615"/>
            <a:ext cx="1346464" cy="49137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CD285185-0DCD-5F32-BE13-FDB2870710A5}"/>
              </a:ext>
            </a:extLst>
          </p:cNvPr>
          <p:cNvSpPr txBox="1"/>
          <p:nvPr/>
        </p:nvSpPr>
        <p:spPr>
          <a:xfrm>
            <a:off x="5655470" y="7157704"/>
            <a:ext cx="3215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Gain </a:t>
            </a:r>
            <a:r>
              <a:rPr lang="it-IT" sz="2000" dirty="0">
                <a:latin typeface="Georgia" panose="02040502050405020303" pitchFamily="18" charset="0"/>
              </a:rPr>
              <a:t>= 2.66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662D915C-CC5F-D663-106B-C22D85E4731A}"/>
              </a:ext>
            </a:extLst>
          </p:cNvPr>
          <p:cNvSpPr txBox="1"/>
          <p:nvPr/>
        </p:nvSpPr>
        <p:spPr>
          <a:xfrm>
            <a:off x="169992" y="5610623"/>
            <a:ext cx="459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improvement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significant</a:t>
            </a:r>
            <a:r>
              <a:rPr lang="it-IT" sz="2400" dirty="0">
                <a:latin typeface="Georgia" panose="02040502050405020303" pitchFamily="18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163989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5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4760415" y="58590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69993" y="2092647"/>
            <a:ext cx="426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Back to the </a:t>
            </a:r>
            <a:r>
              <a:rPr lang="it-IT" sz="2000" dirty="0" err="1">
                <a:latin typeface="Georgia" panose="02040502050405020303" pitchFamily="18" charset="0"/>
              </a:rPr>
              <a:t>previous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tree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5107938" y="4583093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2949744" y="4558985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>
            <a:off x="4760333" y="4067615"/>
            <a:ext cx="1335666" cy="515478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 flipH="1">
            <a:off x="3413869" y="4067615"/>
            <a:ext cx="1346464" cy="49137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CD285185-0DCD-5F32-BE13-FDB2870710A5}"/>
              </a:ext>
            </a:extLst>
          </p:cNvPr>
          <p:cNvSpPr txBox="1"/>
          <p:nvPr/>
        </p:nvSpPr>
        <p:spPr>
          <a:xfrm>
            <a:off x="6023184" y="5641400"/>
            <a:ext cx="439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Gain </a:t>
            </a:r>
            <a:r>
              <a:rPr lang="it-IT" sz="2000" dirty="0">
                <a:latin typeface="Georgia" panose="02040502050405020303" pitchFamily="18" charset="0"/>
              </a:rPr>
              <a:t>= 2.66 &gt; </a:t>
            </a:r>
            <a:r>
              <a:rPr lang="it-IT" sz="2000" b="1" dirty="0">
                <a:latin typeface="Georgia" panose="02040502050405020303" pitchFamily="18" charset="0"/>
              </a:rPr>
              <a:t>Gamma </a:t>
            </a:r>
            <a:r>
              <a:rPr lang="it-IT" sz="2000" dirty="0">
                <a:latin typeface="Georgia" panose="02040502050405020303" pitchFamily="18" charset="0"/>
              </a:rPr>
              <a:t>= 1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662D915C-CC5F-D663-106B-C22D85E4731A}"/>
              </a:ext>
            </a:extLst>
          </p:cNvPr>
          <p:cNvSpPr txBox="1"/>
          <p:nvPr/>
        </p:nvSpPr>
        <p:spPr>
          <a:xfrm>
            <a:off x="169992" y="5610623"/>
            <a:ext cx="459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improvement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significant</a:t>
            </a:r>
            <a:r>
              <a:rPr lang="it-IT" sz="2400" dirty="0">
                <a:latin typeface="Georgia" panose="02040502050405020303" pitchFamily="18" charset="0"/>
              </a:rPr>
              <a:t> ?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9DAE85A-C137-D404-F111-39AE1E6DA71F}"/>
              </a:ext>
            </a:extLst>
          </p:cNvPr>
          <p:cNvSpPr txBox="1"/>
          <p:nvPr/>
        </p:nvSpPr>
        <p:spPr>
          <a:xfrm>
            <a:off x="12952306" y="2410709"/>
            <a:ext cx="4590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Georgia" panose="02040502050405020303" pitchFamily="18" charset="0"/>
              </a:rPr>
              <a:t>Split X &lt; 5 </a:t>
            </a:r>
            <a:r>
              <a:rPr lang="it-IT" sz="2800" dirty="0" err="1">
                <a:latin typeface="Georgia" panose="02040502050405020303" pitchFamily="18" charset="0"/>
              </a:rPr>
              <a:t>is</a:t>
            </a:r>
            <a:r>
              <a:rPr lang="it-IT" sz="2800" dirty="0">
                <a:latin typeface="Georgia" panose="02040502050405020303" pitchFamily="18" charset="0"/>
              </a:rPr>
              <a:t> made !</a:t>
            </a:r>
          </a:p>
        </p:txBody>
      </p:sp>
      <p:pic>
        <p:nvPicPr>
          <p:cNvPr id="17" name="Elemento grafico 16" descr="Segno di spunta con riempimento a tinta unita">
            <a:extLst>
              <a:ext uri="{FF2B5EF4-FFF2-40B4-BE49-F238E27FC236}">
                <a16:creationId xmlns:a16="http://schemas.microsoft.com/office/drawing/2014/main" id="{B022A0CE-43C9-B30E-E92E-6EAE5A2C06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07694" y="2410709"/>
            <a:ext cx="571111" cy="57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07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5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4760415" y="58590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169993" y="2092647"/>
            <a:ext cx="42676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Back to the </a:t>
            </a:r>
            <a:r>
              <a:rPr lang="it-IT" sz="2000" dirty="0" err="1">
                <a:latin typeface="Georgia" panose="02040502050405020303" pitchFamily="18" charset="0"/>
              </a:rPr>
              <a:t>previous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tree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structure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5107938" y="4583093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2949744" y="4558985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>
            <a:off x="4760333" y="4067615"/>
            <a:ext cx="1335666" cy="515478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 flipH="1">
            <a:off x="3413869" y="4067615"/>
            <a:ext cx="1346464" cy="49137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CD285185-0DCD-5F32-BE13-FDB2870710A5}"/>
              </a:ext>
            </a:extLst>
          </p:cNvPr>
          <p:cNvSpPr txBox="1"/>
          <p:nvPr/>
        </p:nvSpPr>
        <p:spPr>
          <a:xfrm>
            <a:off x="6095998" y="5631954"/>
            <a:ext cx="3581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Gain </a:t>
            </a:r>
            <a:r>
              <a:rPr lang="it-IT" sz="2000" dirty="0">
                <a:latin typeface="Georgia" panose="02040502050405020303" pitchFamily="18" charset="0"/>
              </a:rPr>
              <a:t>= 2.66 &gt; </a:t>
            </a:r>
            <a:r>
              <a:rPr lang="it-IT" sz="2000" b="1" dirty="0">
                <a:latin typeface="Georgia" panose="02040502050405020303" pitchFamily="18" charset="0"/>
              </a:rPr>
              <a:t>Gamma </a:t>
            </a:r>
            <a:r>
              <a:rPr lang="it-IT" sz="2000" dirty="0">
                <a:latin typeface="Georgia" panose="02040502050405020303" pitchFamily="18" charset="0"/>
              </a:rPr>
              <a:t>= 1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662D915C-CC5F-D663-106B-C22D85E4731A}"/>
              </a:ext>
            </a:extLst>
          </p:cNvPr>
          <p:cNvSpPr txBox="1"/>
          <p:nvPr/>
        </p:nvSpPr>
        <p:spPr>
          <a:xfrm>
            <a:off x="8507306" y="2492757"/>
            <a:ext cx="4590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Georgia" panose="02040502050405020303" pitchFamily="18" charset="0"/>
              </a:rPr>
              <a:t>Split X &lt; 5 </a:t>
            </a:r>
            <a:r>
              <a:rPr lang="it-IT" sz="2800" dirty="0" err="1">
                <a:latin typeface="Georgia" panose="02040502050405020303" pitchFamily="18" charset="0"/>
              </a:rPr>
              <a:t>is</a:t>
            </a:r>
            <a:r>
              <a:rPr lang="it-IT" sz="2800" dirty="0">
                <a:latin typeface="Georgia" panose="02040502050405020303" pitchFamily="18" charset="0"/>
              </a:rPr>
              <a:t> made !</a:t>
            </a:r>
          </a:p>
        </p:txBody>
      </p:sp>
      <p:cxnSp>
        <p:nvCxnSpPr>
          <p:cNvPr id="6" name="Connector: Curved 4">
            <a:extLst>
              <a:ext uri="{FF2B5EF4-FFF2-40B4-BE49-F238E27FC236}">
                <a16:creationId xmlns:a16="http://schemas.microsoft.com/office/drawing/2014/main" id="{7E2B1A10-D41A-6213-AF1A-1D90702AA34E}"/>
              </a:ext>
            </a:extLst>
          </p:cNvPr>
          <p:cNvCxnSpPr>
            <a:cxnSpLocks/>
            <a:stCxn id="10" idx="3"/>
            <a:endCxn id="15" idx="2"/>
          </p:cNvCxnSpPr>
          <p:nvPr/>
        </p:nvCxnSpPr>
        <p:spPr>
          <a:xfrm flipV="1">
            <a:off x="9677400" y="3015977"/>
            <a:ext cx="1125011" cy="2816032"/>
          </a:xfrm>
          <a:prstGeom prst="curvedConnector2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3">
            <a:extLst>
              <a:ext uri="{FF2B5EF4-FFF2-40B4-BE49-F238E27FC236}">
                <a16:creationId xmlns:a16="http://schemas.microsoft.com/office/drawing/2014/main" id="{5790D201-8DC8-11CF-E6AF-B40BB10BC491}"/>
              </a:ext>
            </a:extLst>
          </p:cNvPr>
          <p:cNvSpPr txBox="1"/>
          <p:nvPr/>
        </p:nvSpPr>
        <p:spPr>
          <a:xfrm>
            <a:off x="217563" y="5628223"/>
            <a:ext cx="4590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Georgia" panose="02040502050405020303" pitchFamily="18" charset="0"/>
              </a:rPr>
              <a:t>Is</a:t>
            </a:r>
            <a:r>
              <a:rPr lang="it-IT" sz="2400" dirty="0">
                <a:latin typeface="Georgia" panose="02040502050405020303" pitchFamily="18" charset="0"/>
              </a:rPr>
              <a:t> the </a:t>
            </a:r>
            <a:r>
              <a:rPr lang="it-IT" sz="2400" dirty="0" err="1">
                <a:latin typeface="Georgia" panose="02040502050405020303" pitchFamily="18" charset="0"/>
              </a:rPr>
              <a:t>improvement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significant</a:t>
            </a:r>
            <a:r>
              <a:rPr lang="it-IT" sz="2400" dirty="0">
                <a:latin typeface="Georgia" panose="02040502050405020303" pitchFamily="18" charset="0"/>
              </a:rPr>
              <a:t> ?</a:t>
            </a:r>
          </a:p>
        </p:txBody>
      </p:sp>
      <p:pic>
        <p:nvPicPr>
          <p:cNvPr id="29" name="Elemento grafico 28" descr="Segno di spunta con riempimento a tinta unita">
            <a:extLst>
              <a:ext uri="{FF2B5EF4-FFF2-40B4-BE49-F238E27FC236}">
                <a16:creationId xmlns:a16="http://schemas.microsoft.com/office/drawing/2014/main" id="{E48777AD-5B79-985C-3E0F-8D6CB56F5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1614" y="2492757"/>
            <a:ext cx="571111" cy="57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31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THEORY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777179" y="802073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Extreme </a:t>
            </a:r>
            <a:r>
              <a:rPr lang="it-IT" sz="2800" dirty="0" err="1">
                <a:latin typeface="Georgia" panose="02040502050405020303" pitchFamily="18" charset="0"/>
              </a:rPr>
              <a:t>Gradient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Boosting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FFEED9-8BC4-5BE3-5C91-0BDE6F57D590}"/>
              </a:ext>
            </a:extLst>
          </p:cNvPr>
          <p:cNvSpPr txBox="1"/>
          <p:nvPr/>
        </p:nvSpPr>
        <p:spPr>
          <a:xfrm>
            <a:off x="1819174" y="291164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cxnSp>
        <p:nvCxnSpPr>
          <p:cNvPr id="49" name="Straight Arrow Connector 62">
            <a:extLst>
              <a:ext uri="{FF2B5EF4-FFF2-40B4-BE49-F238E27FC236}">
                <a16:creationId xmlns:a16="http://schemas.microsoft.com/office/drawing/2014/main" id="{1966934C-560A-6972-1B56-A77E45F54519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991076" y="2672319"/>
            <a:ext cx="928249" cy="7071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B40FE4D-9E6C-2F9D-5FF7-2149AD610FAA}"/>
              </a:ext>
            </a:extLst>
          </p:cNvPr>
          <p:cNvSpPr/>
          <p:nvPr/>
        </p:nvSpPr>
        <p:spPr>
          <a:xfrm>
            <a:off x="4619914" y="2025988"/>
            <a:ext cx="25988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15</a:t>
            </a:r>
          </a:p>
        </p:txBody>
      </p:sp>
      <p:cxnSp>
        <p:nvCxnSpPr>
          <p:cNvPr id="12" name="Straight Arrow Connector 62">
            <a:extLst>
              <a:ext uri="{FF2B5EF4-FFF2-40B4-BE49-F238E27FC236}">
                <a16:creationId xmlns:a16="http://schemas.microsoft.com/office/drawing/2014/main" id="{4C6BA823-B6D1-5703-2D46-3F85B3DCD4AC}"/>
              </a:ext>
            </a:extLst>
          </p:cNvPr>
          <p:cNvCxnSpPr>
            <a:cxnSpLocks/>
          </p:cNvCxnSpPr>
          <p:nvPr/>
        </p:nvCxnSpPr>
        <p:spPr>
          <a:xfrm>
            <a:off x="5917138" y="2677460"/>
            <a:ext cx="1228096" cy="69555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51B7038A-F960-48A9-A137-F432AAD5BE44}"/>
              </a:ext>
            </a:extLst>
          </p:cNvPr>
          <p:cNvSpPr/>
          <p:nvPr/>
        </p:nvSpPr>
        <p:spPr>
          <a:xfrm>
            <a:off x="6754610" y="3435708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72563C02-CB68-91BF-6E07-41D57056BDA0}"/>
              </a:ext>
            </a:extLst>
          </p:cNvPr>
          <p:cNvSpPr/>
          <p:nvPr/>
        </p:nvSpPr>
        <p:spPr>
          <a:xfrm>
            <a:off x="3772272" y="3421284"/>
            <a:ext cx="1976121" cy="6463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X &lt; 5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1042FFF8-BFCE-A1C1-561B-DE5346B3E08A}"/>
              </a:ext>
            </a:extLst>
          </p:cNvPr>
          <p:cNvCxnSpPr>
            <a:cxnSpLocks/>
          </p:cNvCxnSpPr>
          <p:nvPr/>
        </p:nvCxnSpPr>
        <p:spPr>
          <a:xfrm>
            <a:off x="3772272" y="7179856"/>
            <a:ext cx="115672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3">
            <a:extLst>
              <a:ext uri="{FF2B5EF4-FFF2-40B4-BE49-F238E27FC236}">
                <a16:creationId xmlns:a16="http://schemas.microsoft.com/office/drawing/2014/main" id="{B635B7F4-8C80-6BB3-D759-0E36EDFAD8B0}"/>
              </a:ext>
            </a:extLst>
          </p:cNvPr>
          <p:cNvSpPr txBox="1"/>
          <p:nvPr/>
        </p:nvSpPr>
        <p:spPr>
          <a:xfrm>
            <a:off x="7491844" y="4855598"/>
            <a:ext cx="47603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then</a:t>
            </a:r>
            <a:r>
              <a:rPr lang="it-IT" sz="2400" dirty="0">
                <a:latin typeface="Georgia" panose="02040502050405020303" pitchFamily="18" charset="0"/>
              </a:rPr>
              <a:t> continue and focus of </a:t>
            </a:r>
            <a:r>
              <a:rPr lang="it-IT" sz="2400" dirty="0" err="1">
                <a:latin typeface="Georgia" panose="02040502050405020303" pitchFamily="18" charset="0"/>
              </a:rPr>
              <a:t>how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we</a:t>
            </a:r>
            <a:r>
              <a:rPr lang="it-IT" sz="2400" dirty="0">
                <a:latin typeface="Georgia" panose="02040502050405020303" pitchFamily="18" charset="0"/>
              </a:rPr>
              <a:t> can split </a:t>
            </a:r>
            <a:r>
              <a:rPr lang="it-IT" sz="2400" dirty="0" err="1">
                <a:latin typeface="Georgia" panose="02040502050405020303" pitchFamily="18" charset="0"/>
              </a:rPr>
              <a:t>this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leave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into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two</a:t>
            </a:r>
            <a:r>
              <a:rPr lang="it-IT" sz="2400" dirty="0">
                <a:latin typeface="Georgia" panose="02040502050405020303" pitchFamily="18" charset="0"/>
              </a:rPr>
              <a:t> new </a:t>
            </a:r>
            <a:r>
              <a:rPr lang="it-IT" sz="2400" dirty="0" err="1">
                <a:latin typeface="Georgia" panose="02040502050405020303" pitchFamily="18" charset="0"/>
              </a:rPr>
              <a:t>leaves</a:t>
            </a:r>
            <a:r>
              <a:rPr lang="it-IT" sz="2400" dirty="0">
                <a:latin typeface="Georgia" panose="02040502050405020303" pitchFamily="18" charset="0"/>
              </a:rPr>
              <a:t> ….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A3D4920-25AE-E78F-D707-D576778F5A6C}"/>
              </a:ext>
            </a:extLst>
          </p:cNvPr>
          <p:cNvSpPr/>
          <p:nvPr/>
        </p:nvSpPr>
        <p:spPr>
          <a:xfrm>
            <a:off x="5107938" y="4583093"/>
            <a:ext cx="1976121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0.5, 0.5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AAF6ED1-70A6-3011-184B-3FE0560D998E}"/>
              </a:ext>
            </a:extLst>
          </p:cNvPr>
          <p:cNvSpPr/>
          <p:nvPr/>
        </p:nvSpPr>
        <p:spPr>
          <a:xfrm>
            <a:off x="2949744" y="4558985"/>
            <a:ext cx="928250" cy="64633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accent1">
                    <a:lumMod val="75000"/>
                  </a:schemeClr>
                </a:solidFill>
              </a:rPr>
              <a:t>-0.5</a:t>
            </a: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06421DC3-2F3B-CF88-31A4-99A54B337182}"/>
              </a:ext>
            </a:extLst>
          </p:cNvPr>
          <p:cNvCxnSpPr>
            <a:cxnSpLocks/>
            <a:stCxn id="41" idx="2"/>
            <a:endCxn id="2" idx="0"/>
          </p:cNvCxnSpPr>
          <p:nvPr/>
        </p:nvCxnSpPr>
        <p:spPr>
          <a:xfrm>
            <a:off x="4760333" y="4067615"/>
            <a:ext cx="1335666" cy="515478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3D61CCB2-6361-6F73-1D99-5B8960CAD346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 flipH="1">
            <a:off x="3413869" y="4067615"/>
            <a:ext cx="1346464" cy="49137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>
            <a:extLst>
              <a:ext uri="{FF2B5EF4-FFF2-40B4-BE49-F238E27FC236}">
                <a16:creationId xmlns:a16="http://schemas.microsoft.com/office/drawing/2014/main" id="{CD285185-0DCD-5F32-BE13-FDB2870710A5}"/>
              </a:ext>
            </a:extLst>
          </p:cNvPr>
          <p:cNvSpPr txBox="1"/>
          <p:nvPr/>
        </p:nvSpPr>
        <p:spPr>
          <a:xfrm>
            <a:off x="5655470" y="7157704"/>
            <a:ext cx="3215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Georgia" panose="02040502050405020303" pitchFamily="18" charset="0"/>
              </a:rPr>
              <a:t>Gain </a:t>
            </a:r>
            <a:r>
              <a:rPr lang="it-IT" sz="2000" dirty="0">
                <a:latin typeface="Georgia" panose="02040502050405020303" pitchFamily="18" charset="0"/>
              </a:rPr>
              <a:t>= 2.66</a:t>
            </a:r>
          </a:p>
        </p:txBody>
      </p:sp>
      <p:sp>
        <p:nvSpPr>
          <p:cNvPr id="6" name="Oval 31">
            <a:extLst>
              <a:ext uri="{FF2B5EF4-FFF2-40B4-BE49-F238E27FC236}">
                <a16:creationId xmlns:a16="http://schemas.microsoft.com/office/drawing/2014/main" id="{0B202F75-BD4A-C8F3-7A35-A0C35E143720}"/>
              </a:ext>
            </a:extLst>
          </p:cNvPr>
          <p:cNvSpPr/>
          <p:nvPr/>
        </p:nvSpPr>
        <p:spPr>
          <a:xfrm>
            <a:off x="4751602" y="4239158"/>
            <a:ext cx="2671083" cy="151870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874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F6EA-96FC-9696-B0F9-0264D0C6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Calendario mensile contorno">
            <a:extLst>
              <a:ext uri="{FF2B5EF4-FFF2-40B4-BE49-F238E27FC236}">
                <a16:creationId xmlns:a16="http://schemas.microsoft.com/office/drawing/2014/main" id="{F022CE31-B8B9-E6EF-E8A7-7ECBF8FB5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06944" y="1192643"/>
            <a:ext cx="841743" cy="841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246F4-F8E3-1927-AE7C-584FB11EBDD1}"/>
              </a:ext>
            </a:extLst>
          </p:cNvPr>
          <p:cNvSpPr txBox="1"/>
          <p:nvPr/>
        </p:nvSpPr>
        <p:spPr>
          <a:xfrm>
            <a:off x="1456030" y="1621495"/>
            <a:ext cx="176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97D359-6D7A-0586-18D8-AF91B34BEA7B}"/>
              </a:ext>
            </a:extLst>
          </p:cNvPr>
          <p:cNvCxnSpPr>
            <a:cxnSpLocks/>
          </p:cNvCxnSpPr>
          <p:nvPr/>
        </p:nvCxnSpPr>
        <p:spPr>
          <a:xfrm>
            <a:off x="1127816" y="196546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0705FB-13FE-39D1-54FF-623531C2CAF4}"/>
              </a:ext>
            </a:extLst>
          </p:cNvPr>
          <p:cNvCxnSpPr>
            <a:cxnSpLocks/>
          </p:cNvCxnSpPr>
          <p:nvPr/>
        </p:nvCxnSpPr>
        <p:spPr>
          <a:xfrm>
            <a:off x="1127816" y="250834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4C56-C5EA-22E2-B87D-0ABE572C04A4}"/>
              </a:ext>
            </a:extLst>
          </p:cNvPr>
          <p:cNvCxnSpPr>
            <a:cxnSpLocks/>
          </p:cNvCxnSpPr>
          <p:nvPr/>
        </p:nvCxnSpPr>
        <p:spPr>
          <a:xfrm>
            <a:off x="1127816" y="305123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D5A328-C1FB-BCC7-9619-CD48A9877B1C}"/>
              </a:ext>
            </a:extLst>
          </p:cNvPr>
          <p:cNvCxnSpPr>
            <a:cxnSpLocks/>
          </p:cNvCxnSpPr>
          <p:nvPr/>
        </p:nvCxnSpPr>
        <p:spPr>
          <a:xfrm>
            <a:off x="1127816" y="3594112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329A30-1998-9CD4-D575-0DF0AF8F2991}"/>
              </a:ext>
            </a:extLst>
          </p:cNvPr>
          <p:cNvCxnSpPr>
            <a:cxnSpLocks/>
          </p:cNvCxnSpPr>
          <p:nvPr/>
        </p:nvCxnSpPr>
        <p:spPr>
          <a:xfrm>
            <a:off x="1127816" y="231660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ula contorno">
            <a:extLst>
              <a:ext uri="{FF2B5EF4-FFF2-40B4-BE49-F238E27FC236}">
                <a16:creationId xmlns:a16="http://schemas.microsoft.com/office/drawing/2014/main" id="{BE5D3497-AD55-37B7-13E5-BE72C5CEA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57950" y="1968925"/>
            <a:ext cx="513525" cy="5135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92CD77-A684-D628-C094-B4666E2C0BEA}"/>
              </a:ext>
            </a:extLst>
          </p:cNvPr>
          <p:cNvSpPr txBox="1"/>
          <p:nvPr/>
        </p:nvSpPr>
        <p:spPr>
          <a:xfrm>
            <a:off x="3200115" y="2130079"/>
            <a:ext cx="2432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Subject</a:t>
            </a:r>
            <a:r>
              <a:rPr lang="it-IT" sz="1600" dirty="0">
                <a:latin typeface="Georgia" panose="02040502050405020303" pitchFamily="18" charset="0"/>
              </a:rPr>
              <a:t> area: </a:t>
            </a:r>
            <a:r>
              <a:rPr lang="it-IT" sz="1600" dirty="0" err="1">
                <a:latin typeface="Georgia" panose="02040502050405020303" pitchFamily="18" charset="0"/>
              </a:rPr>
              <a:t>Education</a:t>
            </a:r>
            <a:endParaRPr lang="it-IT" sz="1600" dirty="0">
              <a:latin typeface="Georgia" panose="02040502050405020303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468566-61B2-152E-3F09-F60ACCF06107}"/>
              </a:ext>
            </a:extLst>
          </p:cNvPr>
          <p:cNvCxnSpPr>
            <a:cxnSpLocks/>
          </p:cNvCxnSpPr>
          <p:nvPr/>
        </p:nvCxnSpPr>
        <p:spPr>
          <a:xfrm>
            <a:off x="1127816" y="285948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Gruppo di persone contorno">
            <a:extLst>
              <a:ext uri="{FF2B5EF4-FFF2-40B4-BE49-F238E27FC236}">
                <a16:creationId xmlns:a16="http://schemas.microsoft.com/office/drawing/2014/main" id="{70165F74-79DB-A4B0-84BE-AB2E340E0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28627" y="2537258"/>
            <a:ext cx="572172" cy="57217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8717B2-135A-A6F0-0B10-51070CD5B359}"/>
              </a:ext>
            </a:extLst>
          </p:cNvPr>
          <p:cNvSpPr txBox="1"/>
          <p:nvPr/>
        </p:nvSpPr>
        <p:spPr>
          <a:xfrm>
            <a:off x="3200115" y="2661632"/>
            <a:ext cx="2722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</a:t>
            </a:r>
            <a:r>
              <a:rPr lang="it-IT" sz="1600" dirty="0" err="1">
                <a:latin typeface="Georgia" panose="02040502050405020303" pitchFamily="18" charset="0"/>
              </a:rPr>
              <a:t>instances</a:t>
            </a:r>
            <a:r>
              <a:rPr lang="it-IT" sz="1600" dirty="0">
                <a:latin typeface="Georgia" panose="02040502050405020303" pitchFamily="18" charset="0"/>
              </a:rPr>
              <a:t>:  4424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4FE6B7-77B8-E919-DE9F-0D2D9819891C}"/>
              </a:ext>
            </a:extLst>
          </p:cNvPr>
          <p:cNvCxnSpPr>
            <a:cxnSpLocks/>
          </p:cNvCxnSpPr>
          <p:nvPr/>
        </p:nvCxnSpPr>
        <p:spPr>
          <a:xfrm>
            <a:off x="1127816" y="340236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E6DA3E-8F72-41FC-0F66-53CA0BE89B28}"/>
              </a:ext>
            </a:extLst>
          </p:cNvPr>
          <p:cNvCxnSpPr>
            <a:cxnSpLocks/>
          </p:cNvCxnSpPr>
          <p:nvPr/>
        </p:nvCxnSpPr>
        <p:spPr>
          <a:xfrm>
            <a:off x="1127816" y="3945246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Tabella contorno">
            <a:extLst>
              <a:ext uri="{FF2B5EF4-FFF2-40B4-BE49-F238E27FC236}">
                <a16:creationId xmlns:a16="http://schemas.microsoft.com/office/drawing/2014/main" id="{AC477856-B7EC-7C89-CB28-F2FE4AF360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641927" y="3144553"/>
            <a:ext cx="545569" cy="54556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E7EA453-6E69-6524-DE1F-89DC6CDCE1E4}"/>
              </a:ext>
            </a:extLst>
          </p:cNvPr>
          <p:cNvSpPr txBox="1"/>
          <p:nvPr/>
        </p:nvSpPr>
        <p:spPr>
          <a:xfrm>
            <a:off x="3200115" y="3193185"/>
            <a:ext cx="2460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features:  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B1C07A-B030-8BDE-457F-371C62BF76AB}"/>
              </a:ext>
            </a:extLst>
          </p:cNvPr>
          <p:cNvSpPr txBox="1"/>
          <p:nvPr/>
        </p:nvSpPr>
        <p:spPr>
          <a:xfrm>
            <a:off x="3200116" y="3724738"/>
            <a:ext cx="7588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Georgia" panose="02040502050405020303" pitchFamily="18" charset="0"/>
              </a:rPr>
              <a:t>Target </a:t>
            </a:r>
            <a:r>
              <a:rPr lang="it-IT" sz="1600" dirty="0" err="1">
                <a:latin typeface="Georgia" panose="02040502050405020303" pitchFamily="18" charset="0"/>
              </a:rPr>
              <a:t>Variable</a:t>
            </a:r>
            <a:r>
              <a:rPr lang="it-IT" sz="1600" dirty="0">
                <a:latin typeface="Georgia" panose="02040502050405020303" pitchFamily="18" charset="0"/>
              </a:rPr>
              <a:t>.</a:t>
            </a:r>
          </a:p>
        </p:txBody>
      </p:sp>
      <p:pic>
        <p:nvPicPr>
          <p:cNvPr id="36" name="Graphic 35" descr="Cappello di laurea contorno">
            <a:extLst>
              <a:ext uri="{FF2B5EF4-FFF2-40B4-BE49-F238E27FC236}">
                <a16:creationId xmlns:a16="http://schemas.microsoft.com/office/drawing/2014/main" id="{A486DCAD-C37D-6689-96DD-95EDE1366F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652076" y="3597560"/>
            <a:ext cx="572173" cy="572173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6230D25F-39A7-F9D8-5FBC-7FAB2BFD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530" y="-79188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B5F71-FF88-442E-D961-57C308991A6A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Dataset</a:t>
            </a:r>
            <a:endParaRPr lang="it-IT" sz="28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F1AF958-7ABE-FEAF-1258-CD7C001792FC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23C044-0B51-9D08-76E8-FD48BDBF6859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17A10A0-6E8C-3952-2916-4465FE5E57E2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E4807D-1E25-79A5-D41B-E0DA100408DA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7ADEA59-C362-78FC-D96B-DD3240423583}"/>
              </a:ext>
            </a:extLst>
          </p:cNvPr>
          <p:cNvGrpSpPr/>
          <p:nvPr/>
        </p:nvGrpSpPr>
        <p:grpSpPr>
          <a:xfrm>
            <a:off x="15400746" y="3926514"/>
            <a:ext cx="6394513" cy="2208992"/>
            <a:chOff x="4758788" y="4046281"/>
            <a:chExt cx="6394513" cy="220899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88E0CB7-1D4B-B600-08CD-DCD1050C8080}"/>
                </a:ext>
              </a:extLst>
            </p:cNvPr>
            <p:cNvCxnSpPr/>
            <p:nvPr/>
          </p:nvCxnSpPr>
          <p:spPr>
            <a:xfrm>
              <a:off x="6563921" y="4729008"/>
              <a:ext cx="3480813" cy="10234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365ED8E9-B21E-207B-36BC-CF65E18D37B2}"/>
                </a:ext>
              </a:extLst>
            </p:cNvPr>
            <p:cNvCxnSpPr>
              <a:cxnSpLocks/>
              <a:stCxn id="61" idx="6"/>
              <a:endCxn id="62" idx="2"/>
            </p:cNvCxnSpPr>
            <p:nvPr/>
          </p:nvCxnSpPr>
          <p:spPr>
            <a:xfrm>
              <a:off x="7657347" y="4749477"/>
              <a:ext cx="935616" cy="82958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Curved 59">
              <a:extLst>
                <a:ext uri="{FF2B5EF4-FFF2-40B4-BE49-F238E27FC236}">
                  <a16:creationId xmlns:a16="http://schemas.microsoft.com/office/drawing/2014/main" id="{E7DE5EFF-C6D7-B312-7C9F-174754DE5A3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00732" y="4742453"/>
              <a:ext cx="935616" cy="829585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D2CA98F-E3E8-EFCE-EC63-804D4630F791}"/>
                </a:ext>
              </a:extLst>
            </p:cNvPr>
            <p:cNvSpPr/>
            <p:nvPr/>
          </p:nvSpPr>
          <p:spPr>
            <a:xfrm>
              <a:off x="7141192" y="4491399"/>
              <a:ext cx="516155" cy="5161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5108628-2697-54D0-1064-F3602B8BA27F}"/>
                </a:ext>
              </a:extLst>
            </p:cNvPr>
            <p:cNvSpPr/>
            <p:nvPr/>
          </p:nvSpPr>
          <p:spPr>
            <a:xfrm>
              <a:off x="8592963" y="5320984"/>
              <a:ext cx="516155" cy="5161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54B5EA6A-C67A-6970-FD02-BEEB9EE3490C}"/>
                </a:ext>
              </a:extLst>
            </p:cNvPr>
            <p:cNvSpPr/>
            <p:nvPr/>
          </p:nvSpPr>
          <p:spPr>
            <a:xfrm>
              <a:off x="10044734" y="4481165"/>
              <a:ext cx="516155" cy="5161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408EF2F-614E-38DB-10FB-B0ABA97ABDDF}"/>
                </a:ext>
              </a:extLst>
            </p:cNvPr>
            <p:cNvSpPr txBox="1"/>
            <p:nvPr/>
          </p:nvSpPr>
          <p:spPr>
            <a:xfrm>
              <a:off x="4758788" y="4504962"/>
              <a:ext cx="1700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dirty="0">
                  <a:latin typeface="Georgia" panose="02040502050405020303" pitchFamily="18" charset="0"/>
                </a:rPr>
                <a:t>Master</a:t>
              </a:r>
            </a:p>
            <a:p>
              <a:pPr algn="ctr"/>
              <a:r>
                <a:rPr lang="it-IT" sz="1200" dirty="0">
                  <a:latin typeface="Georgia" panose="02040502050405020303" pitchFamily="18" charset="0"/>
                </a:rPr>
                <a:t>(the </a:t>
              </a:r>
              <a:r>
                <a:rPr lang="it-IT" sz="1200" dirty="0" err="1">
                  <a:latin typeface="Georgia" panose="02040502050405020303" pitchFamily="18" charset="0"/>
                </a:rPr>
                <a:t>main</a:t>
              </a:r>
              <a:r>
                <a:rPr lang="it-IT" sz="1200" dirty="0">
                  <a:latin typeface="Georgia" panose="02040502050405020303" pitchFamily="18" charset="0"/>
                </a:rPr>
                <a:t> </a:t>
              </a:r>
              <a:r>
                <a:rPr lang="it-IT" sz="1200" dirty="0" err="1">
                  <a:latin typeface="Georgia" panose="02040502050405020303" pitchFamily="18" charset="0"/>
                </a:rPr>
                <a:t>branch</a:t>
              </a:r>
              <a:r>
                <a:rPr lang="it-IT" sz="1200" dirty="0">
                  <a:latin typeface="Georgia" panose="02040502050405020303" pitchFamily="18" charset="0"/>
                </a:rPr>
                <a:t>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6F9D470-B036-4FE1-432C-A11E32DA353C}"/>
                </a:ext>
              </a:extLst>
            </p:cNvPr>
            <p:cNvSpPr txBox="1"/>
            <p:nvPr/>
          </p:nvSpPr>
          <p:spPr>
            <a:xfrm>
              <a:off x="4791357" y="5348228"/>
              <a:ext cx="1700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dirty="0" err="1">
                  <a:latin typeface="Georgia" panose="02040502050405020303" pitchFamily="18" charset="0"/>
                </a:rPr>
                <a:t>Navbar</a:t>
              </a:r>
              <a:endParaRPr lang="it-IT" sz="1200" dirty="0">
                <a:latin typeface="Georgia" panose="02040502050405020303" pitchFamily="18" charset="0"/>
              </a:endParaRPr>
            </a:p>
            <a:p>
              <a:pPr algn="ctr"/>
              <a:r>
                <a:rPr lang="it-IT" sz="1200" dirty="0">
                  <a:latin typeface="Georgia" panose="02040502050405020303" pitchFamily="18" charset="0"/>
                </a:rPr>
                <a:t>(the feature </a:t>
              </a:r>
              <a:r>
                <a:rPr lang="it-IT" sz="1200" dirty="0" err="1">
                  <a:latin typeface="Georgia" panose="02040502050405020303" pitchFamily="18" charset="0"/>
                </a:rPr>
                <a:t>branch</a:t>
              </a:r>
              <a:r>
                <a:rPr lang="it-IT" sz="1200" dirty="0">
                  <a:latin typeface="Georgia" panose="02040502050405020303" pitchFamily="18" charset="0"/>
                </a:rPr>
                <a:t>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1F6C5E3-BF27-5CCD-8EF7-903A88038B98}"/>
                </a:ext>
              </a:extLst>
            </p:cNvPr>
            <p:cNvSpPr txBox="1"/>
            <p:nvPr/>
          </p:nvSpPr>
          <p:spPr>
            <a:xfrm>
              <a:off x="6548779" y="4046540"/>
              <a:ext cx="1700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dirty="0" err="1">
                  <a:latin typeface="Georgia" panose="02040502050405020303" pitchFamily="18" charset="0"/>
                </a:rPr>
                <a:t>Initial</a:t>
              </a:r>
              <a:r>
                <a:rPr lang="it-IT" sz="1200" dirty="0">
                  <a:latin typeface="Georgia" panose="02040502050405020303" pitchFamily="18" charset="0"/>
                </a:rPr>
                <a:t> </a:t>
              </a:r>
              <a:r>
                <a:rPr lang="it-IT" sz="1200" dirty="0" err="1">
                  <a:latin typeface="Georgia" panose="02040502050405020303" pitchFamily="18" charset="0"/>
                </a:rPr>
                <a:t>commit</a:t>
              </a:r>
              <a:endParaRPr lang="it-IT" sz="1200" dirty="0">
                <a:latin typeface="Georgia" panose="02040502050405020303" pitchFamily="18" charset="0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C6006D0-F7B2-B39C-1094-23AAA3501E89}"/>
                </a:ext>
              </a:extLst>
            </p:cNvPr>
            <p:cNvSpPr txBox="1"/>
            <p:nvPr/>
          </p:nvSpPr>
          <p:spPr>
            <a:xfrm>
              <a:off x="9452321" y="4046281"/>
              <a:ext cx="1700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dirty="0">
                  <a:latin typeface="Georgia" panose="02040502050405020303" pitchFamily="18" charset="0"/>
                </a:rPr>
                <a:t>Merge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D2BC8F5-4F0D-F040-B46A-AAD55919DF95}"/>
                </a:ext>
              </a:extLst>
            </p:cNvPr>
            <p:cNvSpPr txBox="1"/>
            <p:nvPr/>
          </p:nvSpPr>
          <p:spPr>
            <a:xfrm>
              <a:off x="8000550" y="5978274"/>
              <a:ext cx="17009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200" dirty="0" err="1">
                  <a:latin typeface="Georgia" panose="02040502050405020303" pitchFamily="18" charset="0"/>
                </a:rPr>
                <a:t>Add</a:t>
              </a:r>
              <a:r>
                <a:rPr lang="it-IT" sz="1200" dirty="0">
                  <a:latin typeface="Georgia" panose="02040502050405020303" pitchFamily="18" charset="0"/>
                </a:rPr>
                <a:t> </a:t>
              </a:r>
              <a:r>
                <a:rPr lang="it-IT" sz="1200" dirty="0" err="1">
                  <a:latin typeface="Georgia" panose="02040502050405020303" pitchFamily="18" charset="0"/>
                </a:rPr>
                <a:t>navbar</a:t>
              </a:r>
              <a:endParaRPr lang="it-IT" sz="1200" dirty="0">
                <a:latin typeface="Georgia" panose="02040502050405020303" pitchFamily="18" charset="0"/>
              </a:endParaRPr>
            </a:p>
          </p:txBody>
        </p:sp>
      </p:grp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249BD4D2-EAC0-2983-D3F9-D02C1B819B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grpSp>
        <p:nvGrpSpPr>
          <p:cNvPr id="2" name="Group 48">
            <a:extLst>
              <a:ext uri="{FF2B5EF4-FFF2-40B4-BE49-F238E27FC236}">
                <a16:creationId xmlns:a16="http://schemas.microsoft.com/office/drawing/2014/main" id="{63602583-589E-2522-53FD-4C675ED5F272}"/>
              </a:ext>
            </a:extLst>
          </p:cNvPr>
          <p:cNvGrpSpPr/>
          <p:nvPr/>
        </p:nvGrpSpPr>
        <p:grpSpPr>
          <a:xfrm>
            <a:off x="12421042" y="3171954"/>
            <a:ext cx="1124147" cy="844315"/>
            <a:chOff x="4445434" y="3643813"/>
            <a:chExt cx="1124147" cy="844315"/>
          </a:xfrm>
        </p:grpSpPr>
        <p:cxnSp>
          <p:nvCxnSpPr>
            <p:cNvPr id="48" name="Straight Connector 49">
              <a:extLst>
                <a:ext uri="{FF2B5EF4-FFF2-40B4-BE49-F238E27FC236}">
                  <a16:creationId xmlns:a16="http://schemas.microsoft.com/office/drawing/2014/main" id="{3CF6749B-36FD-8CFE-6000-4F00E2ACAEC4}"/>
                </a:ext>
              </a:extLst>
            </p:cNvPr>
            <p:cNvCxnSpPr>
              <a:cxnSpLocks/>
            </p:cNvCxnSpPr>
            <p:nvPr/>
          </p:nvCxnSpPr>
          <p:spPr>
            <a:xfrm>
              <a:off x="4445434" y="4066006"/>
              <a:ext cx="3288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64">
              <a:extLst>
                <a:ext uri="{FF2B5EF4-FFF2-40B4-BE49-F238E27FC236}">
                  <a16:creationId xmlns:a16="http://schemas.microsoft.com/office/drawing/2014/main" id="{27F43971-1F6B-DEF9-55FB-8022356297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804" y="3648224"/>
              <a:ext cx="0" cy="8399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69">
              <a:extLst>
                <a:ext uri="{FF2B5EF4-FFF2-40B4-BE49-F238E27FC236}">
                  <a16:creationId xmlns:a16="http://schemas.microsoft.com/office/drawing/2014/main" id="{53631E48-7A61-BE4F-D046-BF4A8399F10A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03" y="4069853"/>
              <a:ext cx="6967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70">
              <a:extLst>
                <a:ext uri="{FF2B5EF4-FFF2-40B4-BE49-F238E27FC236}">
                  <a16:creationId xmlns:a16="http://schemas.microsoft.com/office/drawing/2014/main" id="{3C277770-EB26-F762-7CB1-4B67C6095A79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04" y="3643813"/>
              <a:ext cx="6967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71">
              <a:extLst>
                <a:ext uri="{FF2B5EF4-FFF2-40B4-BE49-F238E27FC236}">
                  <a16:creationId xmlns:a16="http://schemas.microsoft.com/office/drawing/2014/main" id="{254EE404-083D-943C-E52A-36C39B419171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04" y="4485164"/>
              <a:ext cx="6967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28">
            <a:extLst>
              <a:ext uri="{FF2B5EF4-FFF2-40B4-BE49-F238E27FC236}">
                <a16:creationId xmlns:a16="http://schemas.microsoft.com/office/drawing/2014/main" id="{2C826839-B464-75BB-0931-7F3670B80E55}"/>
              </a:ext>
            </a:extLst>
          </p:cNvPr>
          <p:cNvSpPr txBox="1"/>
          <p:nvPr/>
        </p:nvSpPr>
        <p:spPr>
          <a:xfrm>
            <a:off x="13633560" y="2963602"/>
            <a:ext cx="2460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Georgia" panose="02040502050405020303" pitchFamily="18" charset="0"/>
              </a:rPr>
              <a:t>Real</a:t>
            </a:r>
          </a:p>
        </p:txBody>
      </p:sp>
      <p:sp>
        <p:nvSpPr>
          <p:cNvPr id="83" name="TextBox 28">
            <a:extLst>
              <a:ext uri="{FF2B5EF4-FFF2-40B4-BE49-F238E27FC236}">
                <a16:creationId xmlns:a16="http://schemas.microsoft.com/office/drawing/2014/main" id="{8435C6DB-C596-C9DC-CC54-4EBBCAB1A0F9}"/>
              </a:ext>
            </a:extLst>
          </p:cNvPr>
          <p:cNvSpPr txBox="1"/>
          <p:nvPr/>
        </p:nvSpPr>
        <p:spPr>
          <a:xfrm>
            <a:off x="13643737" y="3340203"/>
            <a:ext cx="1205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Categorical</a:t>
            </a:r>
            <a:endParaRPr lang="it-IT" sz="1600" dirty="0">
              <a:latin typeface="Georgia" panose="02040502050405020303" pitchFamily="18" charset="0"/>
            </a:endParaRPr>
          </a:p>
        </p:txBody>
      </p:sp>
      <p:sp>
        <p:nvSpPr>
          <p:cNvPr id="84" name="TextBox 28">
            <a:extLst>
              <a:ext uri="{FF2B5EF4-FFF2-40B4-BE49-F238E27FC236}">
                <a16:creationId xmlns:a16="http://schemas.microsoft.com/office/drawing/2014/main" id="{F181A58A-C9AA-C478-8258-836C00DC0D20}"/>
              </a:ext>
            </a:extLst>
          </p:cNvPr>
          <p:cNvSpPr txBox="1"/>
          <p:nvPr/>
        </p:nvSpPr>
        <p:spPr>
          <a:xfrm>
            <a:off x="13689970" y="3784822"/>
            <a:ext cx="912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Integer</a:t>
            </a:r>
            <a:endParaRPr lang="it-IT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01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F6EA-96FC-9696-B0F9-0264D0C6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Calendario mensile contorno">
            <a:extLst>
              <a:ext uri="{FF2B5EF4-FFF2-40B4-BE49-F238E27FC236}">
                <a16:creationId xmlns:a16="http://schemas.microsoft.com/office/drawing/2014/main" id="{F022CE31-B8B9-E6EF-E8A7-7ECBF8FB5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06944" y="1192643"/>
            <a:ext cx="841743" cy="841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246F4-F8E3-1927-AE7C-584FB11EBDD1}"/>
              </a:ext>
            </a:extLst>
          </p:cNvPr>
          <p:cNvSpPr txBox="1"/>
          <p:nvPr/>
        </p:nvSpPr>
        <p:spPr>
          <a:xfrm>
            <a:off x="1456030" y="1621495"/>
            <a:ext cx="176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97D359-6D7A-0586-18D8-AF91B34BEA7B}"/>
              </a:ext>
            </a:extLst>
          </p:cNvPr>
          <p:cNvCxnSpPr>
            <a:cxnSpLocks/>
          </p:cNvCxnSpPr>
          <p:nvPr/>
        </p:nvCxnSpPr>
        <p:spPr>
          <a:xfrm>
            <a:off x="1127816" y="196546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0705FB-13FE-39D1-54FF-623531C2CAF4}"/>
              </a:ext>
            </a:extLst>
          </p:cNvPr>
          <p:cNvCxnSpPr>
            <a:cxnSpLocks/>
          </p:cNvCxnSpPr>
          <p:nvPr/>
        </p:nvCxnSpPr>
        <p:spPr>
          <a:xfrm>
            <a:off x="1127816" y="250834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4C56-C5EA-22E2-B87D-0ABE572C04A4}"/>
              </a:ext>
            </a:extLst>
          </p:cNvPr>
          <p:cNvCxnSpPr>
            <a:cxnSpLocks/>
          </p:cNvCxnSpPr>
          <p:nvPr/>
        </p:nvCxnSpPr>
        <p:spPr>
          <a:xfrm>
            <a:off x="1127816" y="305123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D5A328-C1FB-BCC7-9619-CD48A9877B1C}"/>
              </a:ext>
            </a:extLst>
          </p:cNvPr>
          <p:cNvCxnSpPr>
            <a:cxnSpLocks/>
          </p:cNvCxnSpPr>
          <p:nvPr/>
        </p:nvCxnSpPr>
        <p:spPr>
          <a:xfrm>
            <a:off x="1127816" y="3594112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329A30-1998-9CD4-D575-0DF0AF8F2991}"/>
              </a:ext>
            </a:extLst>
          </p:cNvPr>
          <p:cNvCxnSpPr>
            <a:cxnSpLocks/>
          </p:cNvCxnSpPr>
          <p:nvPr/>
        </p:nvCxnSpPr>
        <p:spPr>
          <a:xfrm>
            <a:off x="1127816" y="231660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ula contorno">
            <a:extLst>
              <a:ext uri="{FF2B5EF4-FFF2-40B4-BE49-F238E27FC236}">
                <a16:creationId xmlns:a16="http://schemas.microsoft.com/office/drawing/2014/main" id="{BE5D3497-AD55-37B7-13E5-BE72C5CEA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57950" y="1968925"/>
            <a:ext cx="513525" cy="5135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92CD77-A684-D628-C094-B4666E2C0BEA}"/>
              </a:ext>
            </a:extLst>
          </p:cNvPr>
          <p:cNvSpPr txBox="1"/>
          <p:nvPr/>
        </p:nvSpPr>
        <p:spPr>
          <a:xfrm>
            <a:off x="3200115" y="2130079"/>
            <a:ext cx="2432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Subject</a:t>
            </a:r>
            <a:r>
              <a:rPr lang="it-IT" sz="1600" dirty="0">
                <a:latin typeface="Georgia" panose="02040502050405020303" pitchFamily="18" charset="0"/>
              </a:rPr>
              <a:t> area: </a:t>
            </a:r>
            <a:r>
              <a:rPr lang="it-IT" sz="1600" dirty="0" err="1">
                <a:latin typeface="Georgia" panose="02040502050405020303" pitchFamily="18" charset="0"/>
              </a:rPr>
              <a:t>Education</a:t>
            </a:r>
            <a:endParaRPr lang="it-IT" sz="1600" dirty="0">
              <a:latin typeface="Georgia" panose="02040502050405020303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468566-61B2-152E-3F09-F60ACCF06107}"/>
              </a:ext>
            </a:extLst>
          </p:cNvPr>
          <p:cNvCxnSpPr>
            <a:cxnSpLocks/>
          </p:cNvCxnSpPr>
          <p:nvPr/>
        </p:nvCxnSpPr>
        <p:spPr>
          <a:xfrm>
            <a:off x="1127816" y="285948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Gruppo di persone contorno">
            <a:extLst>
              <a:ext uri="{FF2B5EF4-FFF2-40B4-BE49-F238E27FC236}">
                <a16:creationId xmlns:a16="http://schemas.microsoft.com/office/drawing/2014/main" id="{70165F74-79DB-A4B0-84BE-AB2E340E0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28627" y="2537258"/>
            <a:ext cx="572172" cy="57217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8717B2-135A-A6F0-0B10-51070CD5B359}"/>
              </a:ext>
            </a:extLst>
          </p:cNvPr>
          <p:cNvSpPr txBox="1"/>
          <p:nvPr/>
        </p:nvSpPr>
        <p:spPr>
          <a:xfrm>
            <a:off x="3200115" y="2661632"/>
            <a:ext cx="2722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</a:t>
            </a:r>
            <a:r>
              <a:rPr lang="it-IT" sz="1600" dirty="0" err="1">
                <a:latin typeface="Georgia" panose="02040502050405020303" pitchFamily="18" charset="0"/>
              </a:rPr>
              <a:t>instances</a:t>
            </a:r>
            <a:r>
              <a:rPr lang="it-IT" sz="1600" dirty="0">
                <a:latin typeface="Georgia" panose="02040502050405020303" pitchFamily="18" charset="0"/>
              </a:rPr>
              <a:t>:  4424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4FE6B7-77B8-E919-DE9F-0D2D9819891C}"/>
              </a:ext>
            </a:extLst>
          </p:cNvPr>
          <p:cNvCxnSpPr>
            <a:cxnSpLocks/>
          </p:cNvCxnSpPr>
          <p:nvPr/>
        </p:nvCxnSpPr>
        <p:spPr>
          <a:xfrm>
            <a:off x="1127816" y="3402364"/>
            <a:ext cx="43266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E6DA3E-8F72-41FC-0F66-53CA0BE89B28}"/>
              </a:ext>
            </a:extLst>
          </p:cNvPr>
          <p:cNvCxnSpPr>
            <a:cxnSpLocks/>
          </p:cNvCxnSpPr>
          <p:nvPr/>
        </p:nvCxnSpPr>
        <p:spPr>
          <a:xfrm>
            <a:off x="1127816" y="3945246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Tabella contorno">
            <a:extLst>
              <a:ext uri="{FF2B5EF4-FFF2-40B4-BE49-F238E27FC236}">
                <a16:creationId xmlns:a16="http://schemas.microsoft.com/office/drawing/2014/main" id="{AC477856-B7EC-7C89-CB28-F2FE4AF360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799967" y="3132879"/>
            <a:ext cx="545569" cy="54556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E7EA453-6E69-6524-DE1F-89DC6CDCE1E4}"/>
              </a:ext>
            </a:extLst>
          </p:cNvPr>
          <p:cNvSpPr txBox="1"/>
          <p:nvPr/>
        </p:nvSpPr>
        <p:spPr>
          <a:xfrm>
            <a:off x="6433907" y="3226797"/>
            <a:ext cx="2460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features:  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B1C07A-B030-8BDE-457F-371C62BF76AB}"/>
              </a:ext>
            </a:extLst>
          </p:cNvPr>
          <p:cNvSpPr txBox="1"/>
          <p:nvPr/>
        </p:nvSpPr>
        <p:spPr>
          <a:xfrm>
            <a:off x="3200116" y="3724738"/>
            <a:ext cx="6858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Georgia" panose="02040502050405020303" pitchFamily="18" charset="0"/>
              </a:rPr>
              <a:t>Target </a:t>
            </a:r>
            <a:r>
              <a:rPr lang="it-IT" sz="1600" dirty="0" err="1">
                <a:latin typeface="Georgia" panose="02040502050405020303" pitchFamily="18" charset="0"/>
              </a:rPr>
              <a:t>Variable</a:t>
            </a:r>
            <a:endParaRPr lang="it-IT" sz="1400" dirty="0">
              <a:latin typeface="Georgia" panose="02040502050405020303" pitchFamily="18" charset="0"/>
            </a:endParaRPr>
          </a:p>
        </p:txBody>
      </p:sp>
      <p:pic>
        <p:nvPicPr>
          <p:cNvPr id="36" name="Graphic 35" descr="Cappello di laurea contorno">
            <a:extLst>
              <a:ext uri="{FF2B5EF4-FFF2-40B4-BE49-F238E27FC236}">
                <a16:creationId xmlns:a16="http://schemas.microsoft.com/office/drawing/2014/main" id="{A486DCAD-C37D-6689-96DD-95EDE1366F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652076" y="3597560"/>
            <a:ext cx="572173" cy="572173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6230D25F-39A7-F9D8-5FBC-7FAB2BFD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DASHBOARD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B5F71-FF88-442E-D961-57C308991A6A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project schema</a:t>
            </a:r>
            <a:endParaRPr lang="it-IT" sz="28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F1AF958-7ABE-FEAF-1258-CD7C001792FC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23C044-0B51-9D08-76E8-FD48BDBF6859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17A10A0-6E8C-3952-2916-4465FE5E57E2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E4807D-1E25-79A5-D41B-E0DA100408DA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249BD4D2-EAC0-2983-D3F9-D02C1B819B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76" name="TextBox 28">
            <a:extLst>
              <a:ext uri="{FF2B5EF4-FFF2-40B4-BE49-F238E27FC236}">
                <a16:creationId xmlns:a16="http://schemas.microsoft.com/office/drawing/2014/main" id="{2C826839-B464-75BB-0931-7F3670B80E55}"/>
              </a:ext>
            </a:extLst>
          </p:cNvPr>
          <p:cNvSpPr txBox="1"/>
          <p:nvPr/>
        </p:nvSpPr>
        <p:spPr>
          <a:xfrm>
            <a:off x="9979903" y="2859482"/>
            <a:ext cx="2460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Georgia" panose="02040502050405020303" pitchFamily="18" charset="0"/>
              </a:rPr>
              <a:t>Real</a:t>
            </a:r>
          </a:p>
        </p:txBody>
      </p:sp>
      <p:grpSp>
        <p:nvGrpSpPr>
          <p:cNvPr id="13" name="Group 48">
            <a:extLst>
              <a:ext uri="{FF2B5EF4-FFF2-40B4-BE49-F238E27FC236}">
                <a16:creationId xmlns:a16="http://schemas.microsoft.com/office/drawing/2014/main" id="{88A1361E-F7AC-1915-13DA-5E88275DB656}"/>
              </a:ext>
            </a:extLst>
          </p:cNvPr>
          <p:cNvGrpSpPr/>
          <p:nvPr/>
        </p:nvGrpSpPr>
        <p:grpSpPr>
          <a:xfrm>
            <a:off x="8786674" y="3039331"/>
            <a:ext cx="1124147" cy="844315"/>
            <a:chOff x="4445434" y="3643813"/>
            <a:chExt cx="1124147" cy="844315"/>
          </a:xfrm>
        </p:grpSpPr>
        <p:cxnSp>
          <p:nvCxnSpPr>
            <p:cNvPr id="14" name="Straight Connector 49">
              <a:extLst>
                <a:ext uri="{FF2B5EF4-FFF2-40B4-BE49-F238E27FC236}">
                  <a16:creationId xmlns:a16="http://schemas.microsoft.com/office/drawing/2014/main" id="{62F3E4DA-6FC2-CE74-AE56-8035F76106D6}"/>
                </a:ext>
              </a:extLst>
            </p:cNvPr>
            <p:cNvCxnSpPr>
              <a:cxnSpLocks/>
            </p:cNvCxnSpPr>
            <p:nvPr/>
          </p:nvCxnSpPr>
          <p:spPr>
            <a:xfrm>
              <a:off x="4445434" y="4066006"/>
              <a:ext cx="32882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4">
              <a:extLst>
                <a:ext uri="{FF2B5EF4-FFF2-40B4-BE49-F238E27FC236}">
                  <a16:creationId xmlns:a16="http://schemas.microsoft.com/office/drawing/2014/main" id="{E5CE4887-A887-AB85-AB42-B55AD7C67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2804" y="3648224"/>
              <a:ext cx="0" cy="83990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9">
              <a:extLst>
                <a:ext uri="{FF2B5EF4-FFF2-40B4-BE49-F238E27FC236}">
                  <a16:creationId xmlns:a16="http://schemas.microsoft.com/office/drawing/2014/main" id="{D321C48C-D0A5-54CC-E0C5-BB5750AA6865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03" y="4069853"/>
              <a:ext cx="6967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>
              <a:extLst>
                <a:ext uri="{FF2B5EF4-FFF2-40B4-BE49-F238E27FC236}">
                  <a16:creationId xmlns:a16="http://schemas.microsoft.com/office/drawing/2014/main" id="{047F989F-4C95-EBDB-2A95-9A904C3FE310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04" y="3643813"/>
              <a:ext cx="6967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>
              <a:extLst>
                <a:ext uri="{FF2B5EF4-FFF2-40B4-BE49-F238E27FC236}">
                  <a16:creationId xmlns:a16="http://schemas.microsoft.com/office/drawing/2014/main" id="{7E53B7DA-C30B-A078-3144-2950FDC1256E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04" y="4485164"/>
              <a:ext cx="69677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28">
            <a:extLst>
              <a:ext uri="{FF2B5EF4-FFF2-40B4-BE49-F238E27FC236}">
                <a16:creationId xmlns:a16="http://schemas.microsoft.com/office/drawing/2014/main" id="{96849117-957C-F353-FA65-3A0615B06528}"/>
              </a:ext>
            </a:extLst>
          </p:cNvPr>
          <p:cNvSpPr txBox="1"/>
          <p:nvPr/>
        </p:nvSpPr>
        <p:spPr>
          <a:xfrm>
            <a:off x="10009369" y="3255558"/>
            <a:ext cx="1205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Categorical</a:t>
            </a:r>
            <a:endParaRPr lang="it-IT" sz="1600" dirty="0">
              <a:latin typeface="Georgia" panose="02040502050405020303" pitchFamily="18" charset="0"/>
            </a:endParaRPr>
          </a:p>
        </p:txBody>
      </p:sp>
      <p:sp>
        <p:nvSpPr>
          <p:cNvPr id="32" name="TextBox 28">
            <a:extLst>
              <a:ext uri="{FF2B5EF4-FFF2-40B4-BE49-F238E27FC236}">
                <a16:creationId xmlns:a16="http://schemas.microsoft.com/office/drawing/2014/main" id="{AB58B8AB-81FC-B8EF-EBD4-1B8A3BC2B395}"/>
              </a:ext>
            </a:extLst>
          </p:cNvPr>
          <p:cNvSpPr txBox="1"/>
          <p:nvPr/>
        </p:nvSpPr>
        <p:spPr>
          <a:xfrm>
            <a:off x="10022676" y="3674751"/>
            <a:ext cx="9129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Integer</a:t>
            </a:r>
            <a:endParaRPr lang="it-IT" sz="1600" dirty="0">
              <a:latin typeface="Georgia" panose="02040502050405020303" pitchFamily="18" charset="0"/>
            </a:endParaRPr>
          </a:p>
        </p:txBody>
      </p:sp>
      <p:sp>
        <p:nvSpPr>
          <p:cNvPr id="49" name="Parentesi graffa aperta 48">
            <a:extLst>
              <a:ext uri="{FF2B5EF4-FFF2-40B4-BE49-F238E27FC236}">
                <a16:creationId xmlns:a16="http://schemas.microsoft.com/office/drawing/2014/main" id="{970BB417-07F3-45DF-3D0D-29AF94F60EB3}"/>
              </a:ext>
            </a:extLst>
          </p:cNvPr>
          <p:cNvSpPr/>
          <p:nvPr/>
        </p:nvSpPr>
        <p:spPr>
          <a:xfrm>
            <a:off x="12373093" y="3489573"/>
            <a:ext cx="313590" cy="1373276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50" name="Elemento grafico 49" descr="Chiudi con riempimento a tinta unita">
            <a:extLst>
              <a:ext uri="{FF2B5EF4-FFF2-40B4-BE49-F238E27FC236}">
                <a16:creationId xmlns:a16="http://schemas.microsoft.com/office/drawing/2014/main" id="{1AE28718-4650-DD3A-1946-947A045CFA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976419" y="4664342"/>
            <a:ext cx="406072" cy="406072"/>
          </a:xfrm>
          <a:prstGeom prst="rect">
            <a:avLst/>
          </a:prstGeom>
        </p:spPr>
      </p:pic>
      <p:pic>
        <p:nvPicPr>
          <p:cNvPr id="51" name="Elemento grafico 50" descr="Libro aperto contorno">
            <a:extLst>
              <a:ext uri="{FF2B5EF4-FFF2-40B4-BE49-F238E27FC236}">
                <a16:creationId xmlns:a16="http://schemas.microsoft.com/office/drawing/2014/main" id="{35C4FF48-0073-A86D-2A6B-2ED4C653F2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976419" y="3886460"/>
            <a:ext cx="465439" cy="465439"/>
          </a:xfrm>
          <a:prstGeom prst="rect">
            <a:avLst/>
          </a:prstGeom>
        </p:spPr>
      </p:pic>
      <p:pic>
        <p:nvPicPr>
          <p:cNvPr id="52" name="Elemento grafico 51" descr="Cappello di laurea contorno">
            <a:extLst>
              <a:ext uri="{FF2B5EF4-FFF2-40B4-BE49-F238E27FC236}">
                <a16:creationId xmlns:a16="http://schemas.microsoft.com/office/drawing/2014/main" id="{E3804B2A-1172-AF0C-FDDD-DC688FFA720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880580" y="3192196"/>
            <a:ext cx="602657" cy="602657"/>
          </a:xfrm>
          <a:prstGeom prst="rect">
            <a:avLst/>
          </a:prstGeom>
        </p:spPr>
      </p:pic>
      <p:sp>
        <p:nvSpPr>
          <p:cNvPr id="53" name="TextBox 3">
            <a:extLst>
              <a:ext uri="{FF2B5EF4-FFF2-40B4-BE49-F238E27FC236}">
                <a16:creationId xmlns:a16="http://schemas.microsoft.com/office/drawing/2014/main" id="{A29CA9A3-5433-C2FC-2231-81487C935077}"/>
              </a:ext>
            </a:extLst>
          </p:cNvPr>
          <p:cNvSpPr txBox="1"/>
          <p:nvPr/>
        </p:nvSpPr>
        <p:spPr>
          <a:xfrm>
            <a:off x="14516345" y="3294605"/>
            <a:ext cx="861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50%</a:t>
            </a:r>
          </a:p>
        </p:txBody>
      </p:sp>
      <p:sp>
        <p:nvSpPr>
          <p:cNvPr id="54" name="TextBox 3">
            <a:extLst>
              <a:ext uri="{FF2B5EF4-FFF2-40B4-BE49-F238E27FC236}">
                <a16:creationId xmlns:a16="http://schemas.microsoft.com/office/drawing/2014/main" id="{2A44ADE7-9068-8523-5E0E-0FC6CC2CD403}"/>
              </a:ext>
            </a:extLst>
          </p:cNvPr>
          <p:cNvSpPr txBox="1"/>
          <p:nvPr/>
        </p:nvSpPr>
        <p:spPr>
          <a:xfrm>
            <a:off x="14478843" y="3964183"/>
            <a:ext cx="91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18%</a:t>
            </a:r>
          </a:p>
        </p:txBody>
      </p:sp>
      <p:sp>
        <p:nvSpPr>
          <p:cNvPr id="56" name="TextBox 3">
            <a:extLst>
              <a:ext uri="{FF2B5EF4-FFF2-40B4-BE49-F238E27FC236}">
                <a16:creationId xmlns:a16="http://schemas.microsoft.com/office/drawing/2014/main" id="{1C483202-8163-0837-56BA-8C91C58135D3}"/>
              </a:ext>
            </a:extLst>
          </p:cNvPr>
          <p:cNvSpPr txBox="1"/>
          <p:nvPr/>
        </p:nvSpPr>
        <p:spPr>
          <a:xfrm>
            <a:off x="14468486" y="4636404"/>
            <a:ext cx="91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32%</a:t>
            </a:r>
          </a:p>
        </p:txBody>
      </p:sp>
      <p:sp>
        <p:nvSpPr>
          <p:cNvPr id="57" name="TextBox 67">
            <a:extLst>
              <a:ext uri="{FF2B5EF4-FFF2-40B4-BE49-F238E27FC236}">
                <a16:creationId xmlns:a16="http://schemas.microsoft.com/office/drawing/2014/main" id="{4D5CB4F6-D682-AC2D-723F-9D9D66DED2F1}"/>
              </a:ext>
            </a:extLst>
          </p:cNvPr>
          <p:cNvSpPr txBox="1"/>
          <p:nvPr/>
        </p:nvSpPr>
        <p:spPr>
          <a:xfrm>
            <a:off x="12274751" y="5477955"/>
            <a:ext cx="6615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Final status of the student at the end of their university studies.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7D505E93-73B9-0B85-B2DC-ADB64068F87C}"/>
              </a:ext>
            </a:extLst>
          </p:cNvPr>
          <p:cNvSpPr txBox="1"/>
          <p:nvPr/>
        </p:nvSpPr>
        <p:spPr>
          <a:xfrm>
            <a:off x="12147327" y="3294253"/>
            <a:ext cx="237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Graduate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71" name="TextBox 3">
            <a:extLst>
              <a:ext uri="{FF2B5EF4-FFF2-40B4-BE49-F238E27FC236}">
                <a16:creationId xmlns:a16="http://schemas.microsoft.com/office/drawing/2014/main" id="{2E844295-EE3E-582B-C097-0D1605FA7297}"/>
              </a:ext>
            </a:extLst>
          </p:cNvPr>
          <p:cNvSpPr txBox="1"/>
          <p:nvPr/>
        </p:nvSpPr>
        <p:spPr>
          <a:xfrm>
            <a:off x="12150607" y="3986309"/>
            <a:ext cx="229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Enrolled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72" name="TextBox 3">
            <a:extLst>
              <a:ext uri="{FF2B5EF4-FFF2-40B4-BE49-F238E27FC236}">
                <a16:creationId xmlns:a16="http://schemas.microsoft.com/office/drawing/2014/main" id="{DF1E68DC-24B1-E409-3535-09197447E38A}"/>
              </a:ext>
            </a:extLst>
          </p:cNvPr>
          <p:cNvSpPr txBox="1"/>
          <p:nvPr/>
        </p:nvSpPr>
        <p:spPr>
          <a:xfrm>
            <a:off x="12271650" y="4643954"/>
            <a:ext cx="219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Dropout</a:t>
            </a:r>
            <a:endParaRPr lang="it-IT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000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F6EA-96FC-9696-B0F9-0264D0C6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Calendario mensile contorno">
            <a:extLst>
              <a:ext uri="{FF2B5EF4-FFF2-40B4-BE49-F238E27FC236}">
                <a16:creationId xmlns:a16="http://schemas.microsoft.com/office/drawing/2014/main" id="{F022CE31-B8B9-E6EF-E8A7-7ECBF8FB5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06944" y="1192643"/>
            <a:ext cx="841743" cy="841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246F4-F8E3-1927-AE7C-584FB11EBDD1}"/>
              </a:ext>
            </a:extLst>
          </p:cNvPr>
          <p:cNvSpPr txBox="1"/>
          <p:nvPr/>
        </p:nvSpPr>
        <p:spPr>
          <a:xfrm>
            <a:off x="1456030" y="1621495"/>
            <a:ext cx="176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97D359-6D7A-0586-18D8-AF91B34BEA7B}"/>
              </a:ext>
            </a:extLst>
          </p:cNvPr>
          <p:cNvCxnSpPr>
            <a:cxnSpLocks/>
          </p:cNvCxnSpPr>
          <p:nvPr/>
        </p:nvCxnSpPr>
        <p:spPr>
          <a:xfrm>
            <a:off x="1127816" y="196546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0705FB-13FE-39D1-54FF-623531C2CAF4}"/>
              </a:ext>
            </a:extLst>
          </p:cNvPr>
          <p:cNvCxnSpPr>
            <a:cxnSpLocks/>
          </p:cNvCxnSpPr>
          <p:nvPr/>
        </p:nvCxnSpPr>
        <p:spPr>
          <a:xfrm>
            <a:off x="1127816" y="250834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4C56-C5EA-22E2-B87D-0ABE572C04A4}"/>
              </a:ext>
            </a:extLst>
          </p:cNvPr>
          <p:cNvCxnSpPr>
            <a:cxnSpLocks/>
          </p:cNvCxnSpPr>
          <p:nvPr/>
        </p:nvCxnSpPr>
        <p:spPr>
          <a:xfrm>
            <a:off x="1127816" y="305123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D5A328-C1FB-BCC7-9619-CD48A9877B1C}"/>
              </a:ext>
            </a:extLst>
          </p:cNvPr>
          <p:cNvCxnSpPr>
            <a:cxnSpLocks/>
          </p:cNvCxnSpPr>
          <p:nvPr/>
        </p:nvCxnSpPr>
        <p:spPr>
          <a:xfrm>
            <a:off x="1127816" y="3594112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329A30-1998-9CD4-D575-0DF0AF8F2991}"/>
              </a:ext>
            </a:extLst>
          </p:cNvPr>
          <p:cNvCxnSpPr>
            <a:cxnSpLocks/>
          </p:cNvCxnSpPr>
          <p:nvPr/>
        </p:nvCxnSpPr>
        <p:spPr>
          <a:xfrm>
            <a:off x="1127816" y="231660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ula contorno">
            <a:extLst>
              <a:ext uri="{FF2B5EF4-FFF2-40B4-BE49-F238E27FC236}">
                <a16:creationId xmlns:a16="http://schemas.microsoft.com/office/drawing/2014/main" id="{BE5D3497-AD55-37B7-13E5-BE72C5CEA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57950" y="1968925"/>
            <a:ext cx="513525" cy="5135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92CD77-A684-D628-C094-B4666E2C0BEA}"/>
              </a:ext>
            </a:extLst>
          </p:cNvPr>
          <p:cNvSpPr txBox="1"/>
          <p:nvPr/>
        </p:nvSpPr>
        <p:spPr>
          <a:xfrm>
            <a:off x="3200115" y="2130079"/>
            <a:ext cx="2432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Subject</a:t>
            </a:r>
            <a:r>
              <a:rPr lang="it-IT" sz="1600" dirty="0">
                <a:latin typeface="Georgia" panose="02040502050405020303" pitchFamily="18" charset="0"/>
              </a:rPr>
              <a:t> area: </a:t>
            </a:r>
            <a:r>
              <a:rPr lang="it-IT" sz="1600" dirty="0" err="1">
                <a:latin typeface="Georgia" panose="02040502050405020303" pitchFamily="18" charset="0"/>
              </a:rPr>
              <a:t>Education</a:t>
            </a:r>
            <a:endParaRPr lang="it-IT" sz="1600" dirty="0">
              <a:latin typeface="Georgia" panose="02040502050405020303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468566-61B2-152E-3F09-F60ACCF06107}"/>
              </a:ext>
            </a:extLst>
          </p:cNvPr>
          <p:cNvCxnSpPr>
            <a:cxnSpLocks/>
          </p:cNvCxnSpPr>
          <p:nvPr/>
        </p:nvCxnSpPr>
        <p:spPr>
          <a:xfrm>
            <a:off x="1127816" y="285948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Gruppo di persone contorno">
            <a:extLst>
              <a:ext uri="{FF2B5EF4-FFF2-40B4-BE49-F238E27FC236}">
                <a16:creationId xmlns:a16="http://schemas.microsoft.com/office/drawing/2014/main" id="{70165F74-79DB-A4B0-84BE-AB2E340E0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28627" y="2537258"/>
            <a:ext cx="572172" cy="57217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8717B2-135A-A6F0-0B10-51070CD5B359}"/>
              </a:ext>
            </a:extLst>
          </p:cNvPr>
          <p:cNvSpPr txBox="1"/>
          <p:nvPr/>
        </p:nvSpPr>
        <p:spPr>
          <a:xfrm>
            <a:off x="3200115" y="2661632"/>
            <a:ext cx="2722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</a:t>
            </a:r>
            <a:r>
              <a:rPr lang="it-IT" sz="1600" dirty="0" err="1">
                <a:latin typeface="Georgia" panose="02040502050405020303" pitchFamily="18" charset="0"/>
              </a:rPr>
              <a:t>instances</a:t>
            </a:r>
            <a:r>
              <a:rPr lang="it-IT" sz="1600" dirty="0">
                <a:latin typeface="Georgia" panose="02040502050405020303" pitchFamily="18" charset="0"/>
              </a:rPr>
              <a:t>:  4424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4FE6B7-77B8-E919-DE9F-0D2D9819891C}"/>
              </a:ext>
            </a:extLst>
          </p:cNvPr>
          <p:cNvCxnSpPr>
            <a:cxnSpLocks/>
          </p:cNvCxnSpPr>
          <p:nvPr/>
        </p:nvCxnSpPr>
        <p:spPr>
          <a:xfrm>
            <a:off x="1127816" y="340236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E6DA3E-8F72-41FC-0F66-53CA0BE89B28}"/>
              </a:ext>
            </a:extLst>
          </p:cNvPr>
          <p:cNvCxnSpPr>
            <a:cxnSpLocks/>
          </p:cNvCxnSpPr>
          <p:nvPr/>
        </p:nvCxnSpPr>
        <p:spPr>
          <a:xfrm>
            <a:off x="1127815" y="3945246"/>
            <a:ext cx="32209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Tabella contorno">
            <a:extLst>
              <a:ext uri="{FF2B5EF4-FFF2-40B4-BE49-F238E27FC236}">
                <a16:creationId xmlns:a16="http://schemas.microsoft.com/office/drawing/2014/main" id="{AC477856-B7EC-7C89-CB28-F2FE4AF360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641927" y="3144553"/>
            <a:ext cx="545569" cy="54556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E7EA453-6E69-6524-DE1F-89DC6CDCE1E4}"/>
              </a:ext>
            </a:extLst>
          </p:cNvPr>
          <p:cNvSpPr txBox="1"/>
          <p:nvPr/>
        </p:nvSpPr>
        <p:spPr>
          <a:xfrm>
            <a:off x="3200115" y="3193185"/>
            <a:ext cx="2460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features:  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B1C07A-B030-8BDE-457F-371C62BF76AB}"/>
              </a:ext>
            </a:extLst>
          </p:cNvPr>
          <p:cNvSpPr txBox="1"/>
          <p:nvPr/>
        </p:nvSpPr>
        <p:spPr>
          <a:xfrm>
            <a:off x="2471386" y="3670188"/>
            <a:ext cx="685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Target </a:t>
            </a:r>
            <a:r>
              <a:rPr lang="it-IT" dirty="0" err="1">
                <a:latin typeface="Georgia" panose="02040502050405020303" pitchFamily="18" charset="0"/>
              </a:rPr>
              <a:t>Variable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36" name="Graphic 35" descr="Cappello di laurea contorno">
            <a:extLst>
              <a:ext uri="{FF2B5EF4-FFF2-40B4-BE49-F238E27FC236}">
                <a16:creationId xmlns:a16="http://schemas.microsoft.com/office/drawing/2014/main" id="{A486DCAD-C37D-6689-96DD-95EDE1366F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454590" y="3615494"/>
            <a:ext cx="572173" cy="572173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6230D25F-39A7-F9D8-5FBC-7FAB2BFD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DASHBOARD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B5F71-FF88-442E-D961-57C308991A6A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project schema</a:t>
            </a:r>
            <a:endParaRPr lang="it-IT" sz="28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F1AF958-7ABE-FEAF-1258-CD7C001792FC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23C044-0B51-9D08-76E8-FD48BDBF6859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17A10A0-6E8C-3952-2916-4465FE5E57E2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E4807D-1E25-79A5-D41B-E0DA100408DA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249BD4D2-EAC0-2983-D3F9-D02C1B819B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4" name="Parentesi graffa aperta 13">
            <a:extLst>
              <a:ext uri="{FF2B5EF4-FFF2-40B4-BE49-F238E27FC236}">
                <a16:creationId xmlns:a16="http://schemas.microsoft.com/office/drawing/2014/main" id="{DBB9D756-81C5-DEA7-80FD-F58812BA73B1}"/>
              </a:ext>
            </a:extLst>
          </p:cNvPr>
          <p:cNvSpPr/>
          <p:nvPr/>
        </p:nvSpPr>
        <p:spPr>
          <a:xfrm>
            <a:off x="6854707" y="3195154"/>
            <a:ext cx="313590" cy="1373276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AC54BB2D-B75D-66B6-A732-8C78D4A32806}"/>
              </a:ext>
            </a:extLst>
          </p:cNvPr>
          <p:cNvSpPr txBox="1"/>
          <p:nvPr/>
        </p:nvSpPr>
        <p:spPr>
          <a:xfrm>
            <a:off x="6590843" y="2988235"/>
            <a:ext cx="237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Graduate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B34F2813-B33A-50F8-C22A-C920A2A3531B}"/>
              </a:ext>
            </a:extLst>
          </p:cNvPr>
          <p:cNvSpPr txBox="1"/>
          <p:nvPr/>
        </p:nvSpPr>
        <p:spPr>
          <a:xfrm>
            <a:off x="6632221" y="3617082"/>
            <a:ext cx="229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Enrolled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C488B80A-4716-7D01-D479-39D73AEB9E45}"/>
              </a:ext>
            </a:extLst>
          </p:cNvPr>
          <p:cNvSpPr txBox="1"/>
          <p:nvPr/>
        </p:nvSpPr>
        <p:spPr>
          <a:xfrm>
            <a:off x="6668329" y="4357972"/>
            <a:ext cx="219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Dropout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26" name="Elemento grafico 25" descr="Chiudi con riempimento a tinta unita">
            <a:extLst>
              <a:ext uri="{FF2B5EF4-FFF2-40B4-BE49-F238E27FC236}">
                <a16:creationId xmlns:a16="http://schemas.microsoft.com/office/drawing/2014/main" id="{C66E8377-039C-1F67-0826-62A93E7D0D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58033" y="4369923"/>
            <a:ext cx="406072" cy="406072"/>
          </a:xfrm>
          <a:prstGeom prst="rect">
            <a:avLst/>
          </a:prstGeom>
        </p:spPr>
      </p:pic>
      <p:pic>
        <p:nvPicPr>
          <p:cNvPr id="27" name="Elemento grafico 26" descr="Libro aperto contorno">
            <a:extLst>
              <a:ext uri="{FF2B5EF4-FFF2-40B4-BE49-F238E27FC236}">
                <a16:creationId xmlns:a16="http://schemas.microsoft.com/office/drawing/2014/main" id="{CA13211E-860F-7E70-3AF8-6B2CB918CB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58033" y="3592041"/>
            <a:ext cx="465439" cy="465439"/>
          </a:xfrm>
          <a:prstGeom prst="rect">
            <a:avLst/>
          </a:prstGeom>
        </p:spPr>
      </p:pic>
      <p:pic>
        <p:nvPicPr>
          <p:cNvPr id="31" name="Elemento grafico 30" descr="Cappello di laurea contorno">
            <a:extLst>
              <a:ext uri="{FF2B5EF4-FFF2-40B4-BE49-F238E27FC236}">
                <a16:creationId xmlns:a16="http://schemas.microsoft.com/office/drawing/2014/main" id="{FA6858DE-A7E1-9AC1-61D0-5953620C58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62194" y="2897777"/>
            <a:ext cx="602657" cy="602657"/>
          </a:xfrm>
          <a:prstGeom prst="rect">
            <a:avLst/>
          </a:prstGeom>
        </p:spPr>
      </p:pic>
      <p:sp>
        <p:nvSpPr>
          <p:cNvPr id="32" name="TextBox 3">
            <a:extLst>
              <a:ext uri="{FF2B5EF4-FFF2-40B4-BE49-F238E27FC236}">
                <a16:creationId xmlns:a16="http://schemas.microsoft.com/office/drawing/2014/main" id="{A0248C75-884D-64B9-48A7-183479949D2A}"/>
              </a:ext>
            </a:extLst>
          </p:cNvPr>
          <p:cNvSpPr txBox="1"/>
          <p:nvPr/>
        </p:nvSpPr>
        <p:spPr>
          <a:xfrm>
            <a:off x="8997959" y="3000186"/>
            <a:ext cx="861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50%</a:t>
            </a: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D44CDCE2-FC60-C631-260C-3CEF3BB90648}"/>
              </a:ext>
            </a:extLst>
          </p:cNvPr>
          <p:cNvSpPr txBox="1"/>
          <p:nvPr/>
        </p:nvSpPr>
        <p:spPr>
          <a:xfrm>
            <a:off x="8960457" y="3669764"/>
            <a:ext cx="91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18%</a:t>
            </a: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B340940D-E6AC-368C-457D-59D4A2CA6003}"/>
              </a:ext>
            </a:extLst>
          </p:cNvPr>
          <p:cNvSpPr txBox="1"/>
          <p:nvPr/>
        </p:nvSpPr>
        <p:spPr>
          <a:xfrm>
            <a:off x="8950100" y="4341985"/>
            <a:ext cx="91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32%</a:t>
            </a:r>
          </a:p>
        </p:txBody>
      </p:sp>
      <p:sp>
        <p:nvSpPr>
          <p:cNvPr id="51" name="TextBox 67">
            <a:extLst>
              <a:ext uri="{FF2B5EF4-FFF2-40B4-BE49-F238E27FC236}">
                <a16:creationId xmlns:a16="http://schemas.microsoft.com/office/drawing/2014/main" id="{391B7D22-99A9-721A-0812-4EA2A29AB06C}"/>
              </a:ext>
            </a:extLst>
          </p:cNvPr>
          <p:cNvSpPr txBox="1"/>
          <p:nvPr/>
        </p:nvSpPr>
        <p:spPr>
          <a:xfrm>
            <a:off x="4740676" y="4949686"/>
            <a:ext cx="6717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Final status of the students at the end of their university studies.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52" name="TextBox 67">
            <a:extLst>
              <a:ext uri="{FF2B5EF4-FFF2-40B4-BE49-F238E27FC236}">
                <a16:creationId xmlns:a16="http://schemas.microsoft.com/office/drawing/2014/main" id="{4050A209-B3C6-8CD9-9AB7-77E7428E6D2C}"/>
              </a:ext>
            </a:extLst>
          </p:cNvPr>
          <p:cNvSpPr txBox="1"/>
          <p:nvPr/>
        </p:nvSpPr>
        <p:spPr>
          <a:xfrm>
            <a:off x="12466799" y="5555290"/>
            <a:ext cx="6615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latin typeface="Georgia" panose="02040502050405020303" pitchFamily="18" charset="0"/>
              </a:rPr>
              <a:t>Imbalanced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response</a:t>
            </a:r>
            <a:r>
              <a:rPr lang="it-IT" sz="2400" b="1" dirty="0">
                <a:latin typeface="Georgia" panose="02040502050405020303" pitchFamily="18" charset="0"/>
              </a:rPr>
              <a:t> classes !</a:t>
            </a:r>
          </a:p>
        </p:txBody>
      </p:sp>
      <p:pic>
        <p:nvPicPr>
          <p:cNvPr id="54" name="Elemento grafico 53" descr="Avviso contorno">
            <a:extLst>
              <a:ext uri="{FF2B5EF4-FFF2-40B4-BE49-F238E27FC236}">
                <a16:creationId xmlns:a16="http://schemas.microsoft.com/office/drawing/2014/main" id="{747331A1-0B3F-51C1-AAA8-0938FC74A3B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429806" y="5373846"/>
            <a:ext cx="643109" cy="6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13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F6EA-96FC-9696-B0F9-0264D0C6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Calendario mensile contorno">
            <a:extLst>
              <a:ext uri="{FF2B5EF4-FFF2-40B4-BE49-F238E27FC236}">
                <a16:creationId xmlns:a16="http://schemas.microsoft.com/office/drawing/2014/main" id="{F022CE31-B8B9-E6EF-E8A7-7ECBF8FB5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06944" y="1192643"/>
            <a:ext cx="841743" cy="841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246F4-F8E3-1927-AE7C-584FB11EBDD1}"/>
              </a:ext>
            </a:extLst>
          </p:cNvPr>
          <p:cNvSpPr txBox="1"/>
          <p:nvPr/>
        </p:nvSpPr>
        <p:spPr>
          <a:xfrm>
            <a:off x="1456030" y="1621495"/>
            <a:ext cx="176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97D359-6D7A-0586-18D8-AF91B34BEA7B}"/>
              </a:ext>
            </a:extLst>
          </p:cNvPr>
          <p:cNvCxnSpPr>
            <a:cxnSpLocks/>
          </p:cNvCxnSpPr>
          <p:nvPr/>
        </p:nvCxnSpPr>
        <p:spPr>
          <a:xfrm>
            <a:off x="1127816" y="196546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0705FB-13FE-39D1-54FF-623531C2CAF4}"/>
              </a:ext>
            </a:extLst>
          </p:cNvPr>
          <p:cNvCxnSpPr>
            <a:cxnSpLocks/>
          </p:cNvCxnSpPr>
          <p:nvPr/>
        </p:nvCxnSpPr>
        <p:spPr>
          <a:xfrm>
            <a:off x="1127816" y="250834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194C56-C5EA-22E2-B87D-0ABE572C04A4}"/>
              </a:ext>
            </a:extLst>
          </p:cNvPr>
          <p:cNvCxnSpPr>
            <a:cxnSpLocks/>
          </p:cNvCxnSpPr>
          <p:nvPr/>
        </p:nvCxnSpPr>
        <p:spPr>
          <a:xfrm>
            <a:off x="1127816" y="305123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D5A328-C1FB-BCC7-9619-CD48A9877B1C}"/>
              </a:ext>
            </a:extLst>
          </p:cNvPr>
          <p:cNvCxnSpPr>
            <a:cxnSpLocks/>
          </p:cNvCxnSpPr>
          <p:nvPr/>
        </p:nvCxnSpPr>
        <p:spPr>
          <a:xfrm>
            <a:off x="1127816" y="3594112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329A30-1998-9CD4-D575-0DF0AF8F2991}"/>
              </a:ext>
            </a:extLst>
          </p:cNvPr>
          <p:cNvCxnSpPr>
            <a:cxnSpLocks/>
          </p:cNvCxnSpPr>
          <p:nvPr/>
        </p:nvCxnSpPr>
        <p:spPr>
          <a:xfrm>
            <a:off x="1127816" y="231660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ula contorno">
            <a:extLst>
              <a:ext uri="{FF2B5EF4-FFF2-40B4-BE49-F238E27FC236}">
                <a16:creationId xmlns:a16="http://schemas.microsoft.com/office/drawing/2014/main" id="{BE5D3497-AD55-37B7-13E5-BE72C5CEA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57950" y="1968925"/>
            <a:ext cx="513525" cy="5135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92CD77-A684-D628-C094-B4666E2C0BEA}"/>
              </a:ext>
            </a:extLst>
          </p:cNvPr>
          <p:cNvSpPr txBox="1"/>
          <p:nvPr/>
        </p:nvSpPr>
        <p:spPr>
          <a:xfrm>
            <a:off x="3200115" y="2130079"/>
            <a:ext cx="2432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Subject</a:t>
            </a:r>
            <a:r>
              <a:rPr lang="it-IT" sz="1600" dirty="0">
                <a:latin typeface="Georgia" panose="02040502050405020303" pitchFamily="18" charset="0"/>
              </a:rPr>
              <a:t> area: </a:t>
            </a:r>
            <a:r>
              <a:rPr lang="it-IT" sz="1600" dirty="0" err="1">
                <a:latin typeface="Georgia" panose="02040502050405020303" pitchFamily="18" charset="0"/>
              </a:rPr>
              <a:t>Education</a:t>
            </a:r>
            <a:endParaRPr lang="it-IT" sz="1600" dirty="0">
              <a:latin typeface="Georgia" panose="02040502050405020303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468566-61B2-152E-3F09-F60ACCF06107}"/>
              </a:ext>
            </a:extLst>
          </p:cNvPr>
          <p:cNvCxnSpPr>
            <a:cxnSpLocks/>
          </p:cNvCxnSpPr>
          <p:nvPr/>
        </p:nvCxnSpPr>
        <p:spPr>
          <a:xfrm>
            <a:off x="1127816" y="285948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Gruppo di persone contorno">
            <a:extLst>
              <a:ext uri="{FF2B5EF4-FFF2-40B4-BE49-F238E27FC236}">
                <a16:creationId xmlns:a16="http://schemas.microsoft.com/office/drawing/2014/main" id="{70165F74-79DB-A4B0-84BE-AB2E340E0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28627" y="2537258"/>
            <a:ext cx="572172" cy="57217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8717B2-135A-A6F0-0B10-51070CD5B359}"/>
              </a:ext>
            </a:extLst>
          </p:cNvPr>
          <p:cNvSpPr txBox="1"/>
          <p:nvPr/>
        </p:nvSpPr>
        <p:spPr>
          <a:xfrm>
            <a:off x="3200115" y="2661632"/>
            <a:ext cx="2722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</a:t>
            </a:r>
            <a:r>
              <a:rPr lang="it-IT" sz="1600" dirty="0" err="1">
                <a:latin typeface="Georgia" panose="02040502050405020303" pitchFamily="18" charset="0"/>
              </a:rPr>
              <a:t>instances</a:t>
            </a:r>
            <a:r>
              <a:rPr lang="it-IT" sz="1600" dirty="0">
                <a:latin typeface="Georgia" panose="02040502050405020303" pitchFamily="18" charset="0"/>
              </a:rPr>
              <a:t>:  4424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4FE6B7-77B8-E919-DE9F-0D2D9819891C}"/>
              </a:ext>
            </a:extLst>
          </p:cNvPr>
          <p:cNvCxnSpPr>
            <a:cxnSpLocks/>
          </p:cNvCxnSpPr>
          <p:nvPr/>
        </p:nvCxnSpPr>
        <p:spPr>
          <a:xfrm>
            <a:off x="1127816" y="340236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E6DA3E-8F72-41FC-0F66-53CA0BE89B28}"/>
              </a:ext>
            </a:extLst>
          </p:cNvPr>
          <p:cNvCxnSpPr>
            <a:cxnSpLocks/>
          </p:cNvCxnSpPr>
          <p:nvPr/>
        </p:nvCxnSpPr>
        <p:spPr>
          <a:xfrm>
            <a:off x="1127815" y="3945246"/>
            <a:ext cx="32209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Tabella contorno">
            <a:extLst>
              <a:ext uri="{FF2B5EF4-FFF2-40B4-BE49-F238E27FC236}">
                <a16:creationId xmlns:a16="http://schemas.microsoft.com/office/drawing/2014/main" id="{AC477856-B7EC-7C89-CB28-F2FE4AF360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641927" y="3144553"/>
            <a:ext cx="545569" cy="54556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E7EA453-6E69-6524-DE1F-89DC6CDCE1E4}"/>
              </a:ext>
            </a:extLst>
          </p:cNvPr>
          <p:cNvSpPr txBox="1"/>
          <p:nvPr/>
        </p:nvSpPr>
        <p:spPr>
          <a:xfrm>
            <a:off x="3200115" y="3193185"/>
            <a:ext cx="2460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Number</a:t>
            </a:r>
            <a:r>
              <a:rPr lang="it-IT" sz="1600" dirty="0">
                <a:latin typeface="Georgia" panose="02040502050405020303" pitchFamily="18" charset="0"/>
              </a:rPr>
              <a:t> of features:  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B1C07A-B030-8BDE-457F-371C62BF76AB}"/>
              </a:ext>
            </a:extLst>
          </p:cNvPr>
          <p:cNvSpPr txBox="1"/>
          <p:nvPr/>
        </p:nvSpPr>
        <p:spPr>
          <a:xfrm>
            <a:off x="2471386" y="3670188"/>
            <a:ext cx="685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Target </a:t>
            </a:r>
            <a:r>
              <a:rPr lang="it-IT" dirty="0" err="1">
                <a:latin typeface="Georgia" panose="02040502050405020303" pitchFamily="18" charset="0"/>
              </a:rPr>
              <a:t>Variable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36" name="Graphic 35" descr="Cappello di laurea contorno">
            <a:extLst>
              <a:ext uri="{FF2B5EF4-FFF2-40B4-BE49-F238E27FC236}">
                <a16:creationId xmlns:a16="http://schemas.microsoft.com/office/drawing/2014/main" id="{A486DCAD-C37D-6689-96DD-95EDE1366F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454590" y="3615494"/>
            <a:ext cx="572173" cy="572173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6230D25F-39A7-F9D8-5FBC-7FAB2BFD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DASHBOARD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DB5F71-FF88-442E-D961-57C308991A6A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project schema</a:t>
            </a:r>
            <a:endParaRPr lang="it-IT" sz="28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F1AF958-7ABE-FEAF-1258-CD7C001792FC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23C044-0B51-9D08-76E8-FD48BDBF6859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17A10A0-6E8C-3952-2916-4465FE5E57E2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DE4807D-1E25-79A5-D41B-E0DA100408DA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249BD4D2-EAC0-2983-D3F9-D02C1B819B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4" name="Parentesi graffa aperta 13">
            <a:extLst>
              <a:ext uri="{FF2B5EF4-FFF2-40B4-BE49-F238E27FC236}">
                <a16:creationId xmlns:a16="http://schemas.microsoft.com/office/drawing/2014/main" id="{DBB9D756-81C5-DEA7-80FD-F58812BA73B1}"/>
              </a:ext>
            </a:extLst>
          </p:cNvPr>
          <p:cNvSpPr/>
          <p:nvPr/>
        </p:nvSpPr>
        <p:spPr>
          <a:xfrm>
            <a:off x="6854707" y="3195154"/>
            <a:ext cx="313590" cy="1373276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AC54BB2D-B75D-66B6-A732-8C78D4A32806}"/>
              </a:ext>
            </a:extLst>
          </p:cNvPr>
          <p:cNvSpPr txBox="1"/>
          <p:nvPr/>
        </p:nvSpPr>
        <p:spPr>
          <a:xfrm>
            <a:off x="6590843" y="2988235"/>
            <a:ext cx="237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Graduate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B34F2813-B33A-50F8-C22A-C920A2A3531B}"/>
              </a:ext>
            </a:extLst>
          </p:cNvPr>
          <p:cNvSpPr txBox="1"/>
          <p:nvPr/>
        </p:nvSpPr>
        <p:spPr>
          <a:xfrm>
            <a:off x="6632221" y="3617082"/>
            <a:ext cx="229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Enrolled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C488B80A-4716-7D01-D479-39D73AEB9E45}"/>
              </a:ext>
            </a:extLst>
          </p:cNvPr>
          <p:cNvSpPr txBox="1"/>
          <p:nvPr/>
        </p:nvSpPr>
        <p:spPr>
          <a:xfrm>
            <a:off x="6668329" y="4357972"/>
            <a:ext cx="219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Dropout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26" name="Elemento grafico 25" descr="Chiudi con riempimento a tinta unita">
            <a:extLst>
              <a:ext uri="{FF2B5EF4-FFF2-40B4-BE49-F238E27FC236}">
                <a16:creationId xmlns:a16="http://schemas.microsoft.com/office/drawing/2014/main" id="{C66E8377-039C-1F67-0826-62A93E7D0D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58033" y="4369923"/>
            <a:ext cx="406072" cy="406072"/>
          </a:xfrm>
          <a:prstGeom prst="rect">
            <a:avLst/>
          </a:prstGeom>
        </p:spPr>
      </p:pic>
      <p:pic>
        <p:nvPicPr>
          <p:cNvPr id="27" name="Elemento grafico 26" descr="Libro aperto contorno">
            <a:extLst>
              <a:ext uri="{FF2B5EF4-FFF2-40B4-BE49-F238E27FC236}">
                <a16:creationId xmlns:a16="http://schemas.microsoft.com/office/drawing/2014/main" id="{CA13211E-860F-7E70-3AF8-6B2CB918CB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58033" y="3592041"/>
            <a:ext cx="465439" cy="465439"/>
          </a:xfrm>
          <a:prstGeom prst="rect">
            <a:avLst/>
          </a:prstGeom>
        </p:spPr>
      </p:pic>
      <p:pic>
        <p:nvPicPr>
          <p:cNvPr id="31" name="Elemento grafico 30" descr="Cappello di laurea contorno">
            <a:extLst>
              <a:ext uri="{FF2B5EF4-FFF2-40B4-BE49-F238E27FC236}">
                <a16:creationId xmlns:a16="http://schemas.microsoft.com/office/drawing/2014/main" id="{FA6858DE-A7E1-9AC1-61D0-5953620C58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62194" y="2897777"/>
            <a:ext cx="602657" cy="602657"/>
          </a:xfrm>
          <a:prstGeom prst="rect">
            <a:avLst/>
          </a:prstGeom>
        </p:spPr>
      </p:pic>
      <p:sp>
        <p:nvSpPr>
          <p:cNvPr id="32" name="TextBox 3">
            <a:extLst>
              <a:ext uri="{FF2B5EF4-FFF2-40B4-BE49-F238E27FC236}">
                <a16:creationId xmlns:a16="http://schemas.microsoft.com/office/drawing/2014/main" id="{A0248C75-884D-64B9-48A7-183479949D2A}"/>
              </a:ext>
            </a:extLst>
          </p:cNvPr>
          <p:cNvSpPr txBox="1"/>
          <p:nvPr/>
        </p:nvSpPr>
        <p:spPr>
          <a:xfrm>
            <a:off x="8997959" y="3000186"/>
            <a:ext cx="861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51%</a:t>
            </a: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D44CDCE2-FC60-C631-260C-3CEF3BB90648}"/>
              </a:ext>
            </a:extLst>
          </p:cNvPr>
          <p:cNvSpPr txBox="1"/>
          <p:nvPr/>
        </p:nvSpPr>
        <p:spPr>
          <a:xfrm>
            <a:off x="8960457" y="3669764"/>
            <a:ext cx="91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17%</a:t>
            </a: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B340940D-E6AC-368C-457D-59D4A2CA6003}"/>
              </a:ext>
            </a:extLst>
          </p:cNvPr>
          <p:cNvSpPr txBox="1"/>
          <p:nvPr/>
        </p:nvSpPr>
        <p:spPr>
          <a:xfrm>
            <a:off x="8950100" y="4341985"/>
            <a:ext cx="913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32%</a:t>
            </a:r>
          </a:p>
        </p:txBody>
      </p:sp>
      <p:sp>
        <p:nvSpPr>
          <p:cNvPr id="51" name="TextBox 67">
            <a:extLst>
              <a:ext uri="{FF2B5EF4-FFF2-40B4-BE49-F238E27FC236}">
                <a16:creationId xmlns:a16="http://schemas.microsoft.com/office/drawing/2014/main" id="{391B7D22-99A9-721A-0812-4EA2A29AB06C}"/>
              </a:ext>
            </a:extLst>
          </p:cNvPr>
          <p:cNvSpPr txBox="1"/>
          <p:nvPr/>
        </p:nvSpPr>
        <p:spPr>
          <a:xfrm>
            <a:off x="4822736" y="5033922"/>
            <a:ext cx="6858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Final status of the students at the end of their university studies.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52" name="TextBox 67">
            <a:extLst>
              <a:ext uri="{FF2B5EF4-FFF2-40B4-BE49-F238E27FC236}">
                <a16:creationId xmlns:a16="http://schemas.microsoft.com/office/drawing/2014/main" id="{4050A209-B3C6-8CD9-9AB7-77E7428E6D2C}"/>
              </a:ext>
            </a:extLst>
          </p:cNvPr>
          <p:cNvSpPr txBox="1"/>
          <p:nvPr/>
        </p:nvSpPr>
        <p:spPr>
          <a:xfrm>
            <a:off x="4849259" y="5555146"/>
            <a:ext cx="6615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latin typeface="Georgia" panose="02040502050405020303" pitchFamily="18" charset="0"/>
              </a:rPr>
              <a:t>Imbalanced</a:t>
            </a:r>
            <a:r>
              <a:rPr lang="it-IT" sz="2400" b="1" dirty="0">
                <a:latin typeface="Georgia" panose="02040502050405020303" pitchFamily="18" charset="0"/>
              </a:rPr>
              <a:t> </a:t>
            </a:r>
            <a:r>
              <a:rPr lang="it-IT" sz="2400" b="1" dirty="0" err="1">
                <a:latin typeface="Georgia" panose="02040502050405020303" pitchFamily="18" charset="0"/>
              </a:rPr>
              <a:t>response</a:t>
            </a:r>
            <a:r>
              <a:rPr lang="it-IT" sz="2400" b="1" dirty="0">
                <a:latin typeface="Georgia" panose="02040502050405020303" pitchFamily="18" charset="0"/>
              </a:rPr>
              <a:t> classes !</a:t>
            </a:r>
          </a:p>
        </p:txBody>
      </p:sp>
      <p:pic>
        <p:nvPicPr>
          <p:cNvPr id="4" name="Elemento grafico 3" descr="Avviso contorno">
            <a:extLst>
              <a:ext uri="{FF2B5EF4-FFF2-40B4-BE49-F238E27FC236}">
                <a16:creationId xmlns:a16="http://schemas.microsoft.com/office/drawing/2014/main" id="{F4B763CD-7D20-DB11-F446-4E1A810A113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873974" y="5412820"/>
            <a:ext cx="643109" cy="64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34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0BFF-5A1E-FEA1-6D3D-7501B466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198BC3-5553-E4AC-4A0D-327C54B4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62" y="-100092"/>
            <a:ext cx="10966738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BE9DD-FCFB-7BF9-2073-05B8E3801986}"/>
              </a:ext>
            </a:extLst>
          </p:cNvPr>
          <p:cNvSpPr txBox="1"/>
          <p:nvPr/>
        </p:nvSpPr>
        <p:spPr>
          <a:xfrm>
            <a:off x="1777179" y="802071"/>
            <a:ext cx="86376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EXPERIMENTS WORKFLOW</a:t>
            </a:r>
          </a:p>
          <a:p>
            <a:pPr algn="ctr"/>
            <a:endParaRPr lang="it-IT" sz="2400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F8D85D5B-5DCD-B352-3D02-D9DA76DA3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Intermediary Role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Facilitates communication between the Presentation and Data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A8577F-9E92-FA20-01F5-EFF13B417363}"/>
              </a:ext>
            </a:extLst>
          </p:cNvPr>
          <p:cNvSpPr/>
          <p:nvPr/>
        </p:nvSpPr>
        <p:spPr>
          <a:xfrm>
            <a:off x="3303049" y="1975318"/>
            <a:ext cx="760691" cy="775224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000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3B81342-9B13-762A-3C35-75EBA9B42753}"/>
              </a:ext>
            </a:extLst>
          </p:cNvPr>
          <p:cNvSpPr/>
          <p:nvPr/>
        </p:nvSpPr>
        <p:spPr>
          <a:xfrm>
            <a:off x="8657680" y="4325814"/>
            <a:ext cx="720000" cy="72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20FD85A-DE37-C3A1-B6F1-D5A08DE2459C}"/>
              </a:ext>
            </a:extLst>
          </p:cNvPr>
          <p:cNvSpPr/>
          <p:nvPr/>
        </p:nvSpPr>
        <p:spPr>
          <a:xfrm>
            <a:off x="5192487" y="4313504"/>
            <a:ext cx="720000" cy="72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7ADCE26-B9D1-A649-FCD5-AC1C9385E67C}"/>
              </a:ext>
            </a:extLst>
          </p:cNvPr>
          <p:cNvSpPr/>
          <p:nvPr/>
        </p:nvSpPr>
        <p:spPr>
          <a:xfrm>
            <a:off x="7159246" y="1968497"/>
            <a:ext cx="720000" cy="72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E434C8-71EC-0665-B2BC-075291AD6A56}"/>
              </a:ext>
            </a:extLst>
          </p:cNvPr>
          <p:cNvSpPr txBox="1"/>
          <p:nvPr/>
        </p:nvSpPr>
        <p:spPr>
          <a:xfrm>
            <a:off x="2665235" y="1556648"/>
            <a:ext cx="2606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Georgia" panose="02040502050405020303" pitchFamily="18" charset="0"/>
              </a:rPr>
              <a:t>3-CLASS ANALYSIS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7DC391-C617-30A6-CB70-BD44E0687E53}"/>
              </a:ext>
            </a:extLst>
          </p:cNvPr>
          <p:cNvSpPr txBox="1"/>
          <p:nvPr/>
        </p:nvSpPr>
        <p:spPr>
          <a:xfrm>
            <a:off x="96426" y="1553473"/>
            <a:ext cx="177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tx2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A2963-E6DF-723E-CDBA-1C5401829AB4}"/>
              </a:ext>
            </a:extLst>
          </p:cNvPr>
          <p:cNvCxnSpPr>
            <a:cxnSpLocks/>
          </p:cNvCxnSpPr>
          <p:nvPr/>
        </p:nvCxnSpPr>
        <p:spPr>
          <a:xfrm>
            <a:off x="9017680" y="5045814"/>
            <a:ext cx="0" cy="1036778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C9CE38-16BC-DCAD-57F8-1C286F475DB1}"/>
              </a:ext>
            </a:extLst>
          </p:cNvPr>
          <p:cNvSpPr txBox="1"/>
          <p:nvPr/>
        </p:nvSpPr>
        <p:spPr>
          <a:xfrm>
            <a:off x="6356075" y="1555334"/>
            <a:ext cx="2450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2-CLASS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A3706-0C26-30F7-46BE-C7BBE6B6F576}"/>
              </a:ext>
            </a:extLst>
          </p:cNvPr>
          <p:cNvSpPr txBox="1"/>
          <p:nvPr/>
        </p:nvSpPr>
        <p:spPr>
          <a:xfrm>
            <a:off x="4799266" y="3627208"/>
            <a:ext cx="177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BEST MODEL SELECTION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489B40-0EE2-96D8-2D0D-00F72DDB97EA}"/>
              </a:ext>
            </a:extLst>
          </p:cNvPr>
          <p:cNvSpPr txBox="1"/>
          <p:nvPr/>
        </p:nvSpPr>
        <p:spPr>
          <a:xfrm>
            <a:off x="7976693" y="3563013"/>
            <a:ext cx="3077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PRE-ENROLLEMNET ANALYSIS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A38A642-4585-8C73-35E0-77A17D571200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0143B2-8E51-2FD0-C274-864583121B39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86C017-0138-C9A3-177D-7834858F39EF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5FD26F-4DA4-4222-66B6-276F5B112C32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FF19B09-2D92-B3C9-CF80-3F2D6D48A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10" name="Elemento grafico 9" descr="Calendario mensile con riempimento a tinta unita">
            <a:extLst>
              <a:ext uri="{FF2B5EF4-FFF2-40B4-BE49-F238E27FC236}">
                <a16:creationId xmlns:a16="http://schemas.microsoft.com/office/drawing/2014/main" id="{3A357BF4-50E9-A393-3D33-3F5EF9222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062" y="1817097"/>
            <a:ext cx="1091666" cy="1091666"/>
          </a:xfrm>
          <a:prstGeom prst="rect">
            <a:avLst/>
          </a:prstGeom>
        </p:spPr>
      </p:pic>
      <p:cxnSp>
        <p:nvCxnSpPr>
          <p:cNvPr id="32" name="Straight Arrow Connector 62">
            <a:extLst>
              <a:ext uri="{FF2B5EF4-FFF2-40B4-BE49-F238E27FC236}">
                <a16:creationId xmlns:a16="http://schemas.microsoft.com/office/drawing/2014/main" id="{71FAA4D5-3828-D95B-5C54-ECFE0D08F27D}"/>
              </a:ext>
            </a:extLst>
          </p:cNvPr>
          <p:cNvCxnSpPr>
            <a:cxnSpLocks/>
          </p:cNvCxnSpPr>
          <p:nvPr/>
        </p:nvCxnSpPr>
        <p:spPr>
          <a:xfrm>
            <a:off x="1478728" y="2363293"/>
            <a:ext cx="1505036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62">
            <a:extLst>
              <a:ext uri="{FF2B5EF4-FFF2-40B4-BE49-F238E27FC236}">
                <a16:creationId xmlns:a16="http://schemas.microsoft.com/office/drawing/2014/main" id="{ED74A661-C2D7-2D53-A14C-42B2B87998F2}"/>
              </a:ext>
            </a:extLst>
          </p:cNvPr>
          <p:cNvCxnSpPr>
            <a:cxnSpLocks/>
          </p:cNvCxnSpPr>
          <p:nvPr/>
        </p:nvCxnSpPr>
        <p:spPr>
          <a:xfrm flipV="1">
            <a:off x="4201825" y="2353146"/>
            <a:ext cx="2817224" cy="22917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62">
            <a:extLst>
              <a:ext uri="{FF2B5EF4-FFF2-40B4-BE49-F238E27FC236}">
                <a16:creationId xmlns:a16="http://schemas.microsoft.com/office/drawing/2014/main" id="{38D58FF6-BD4C-195A-9744-5CD3B0E24B9A}"/>
              </a:ext>
            </a:extLst>
          </p:cNvPr>
          <p:cNvCxnSpPr>
            <a:cxnSpLocks/>
          </p:cNvCxnSpPr>
          <p:nvPr/>
        </p:nvCxnSpPr>
        <p:spPr>
          <a:xfrm flipV="1">
            <a:off x="6200046" y="4673504"/>
            <a:ext cx="2214131" cy="2462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Parentesi graffa aperta 52">
            <a:extLst>
              <a:ext uri="{FF2B5EF4-FFF2-40B4-BE49-F238E27FC236}">
                <a16:creationId xmlns:a16="http://schemas.microsoft.com/office/drawing/2014/main" id="{1F9321CF-EA02-582B-2B8B-48A2E0132327}"/>
              </a:ext>
            </a:extLst>
          </p:cNvPr>
          <p:cNvSpPr/>
          <p:nvPr/>
        </p:nvSpPr>
        <p:spPr>
          <a:xfrm rot="16200000">
            <a:off x="5084522" y="669445"/>
            <a:ext cx="935930" cy="4848411"/>
          </a:xfrm>
          <a:prstGeom prst="leftBrace">
            <a:avLst>
              <a:gd name="adj1" fmla="val 57673"/>
              <a:gd name="adj2" fmla="val 50000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66" name="Straight Arrow Connector 62">
            <a:extLst>
              <a:ext uri="{FF2B5EF4-FFF2-40B4-BE49-F238E27FC236}">
                <a16:creationId xmlns:a16="http://schemas.microsoft.com/office/drawing/2014/main" id="{F5A069BD-A593-1ED8-8D0E-77A285EF1135}"/>
              </a:ext>
            </a:extLst>
          </p:cNvPr>
          <p:cNvCxnSpPr>
            <a:cxnSpLocks/>
          </p:cNvCxnSpPr>
          <p:nvPr/>
        </p:nvCxnSpPr>
        <p:spPr>
          <a:xfrm>
            <a:off x="9017678" y="5273871"/>
            <a:ext cx="85566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2">
            <a:extLst>
              <a:ext uri="{FF2B5EF4-FFF2-40B4-BE49-F238E27FC236}">
                <a16:creationId xmlns:a16="http://schemas.microsoft.com/office/drawing/2014/main" id="{635759DC-4551-1AC7-4643-B3788151E2DF}"/>
              </a:ext>
            </a:extLst>
          </p:cNvPr>
          <p:cNvCxnSpPr>
            <a:cxnSpLocks/>
          </p:cNvCxnSpPr>
          <p:nvPr/>
        </p:nvCxnSpPr>
        <p:spPr>
          <a:xfrm>
            <a:off x="9017679" y="5999121"/>
            <a:ext cx="85566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47">
            <a:extLst>
              <a:ext uri="{FF2B5EF4-FFF2-40B4-BE49-F238E27FC236}">
                <a16:creationId xmlns:a16="http://schemas.microsoft.com/office/drawing/2014/main" id="{D92C4272-8EE9-DDCE-A2D5-30BC47B881DF}"/>
              </a:ext>
            </a:extLst>
          </p:cNvPr>
          <p:cNvSpPr txBox="1"/>
          <p:nvPr/>
        </p:nvSpPr>
        <p:spPr>
          <a:xfrm>
            <a:off x="9873341" y="5067882"/>
            <a:ext cx="2440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3-CLASS ANALYSIS</a:t>
            </a:r>
          </a:p>
        </p:txBody>
      </p:sp>
      <p:sp>
        <p:nvSpPr>
          <p:cNvPr id="72" name="TextBox 47">
            <a:extLst>
              <a:ext uri="{FF2B5EF4-FFF2-40B4-BE49-F238E27FC236}">
                <a16:creationId xmlns:a16="http://schemas.microsoft.com/office/drawing/2014/main" id="{3CE8D102-5F99-8C06-D754-9AC3B1584FC1}"/>
              </a:ext>
            </a:extLst>
          </p:cNvPr>
          <p:cNvSpPr txBox="1"/>
          <p:nvPr/>
        </p:nvSpPr>
        <p:spPr>
          <a:xfrm>
            <a:off x="9930767" y="5823354"/>
            <a:ext cx="2440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2-CLASS ANALYSIS</a:t>
            </a:r>
          </a:p>
        </p:txBody>
      </p:sp>
      <p:pic>
        <p:nvPicPr>
          <p:cNvPr id="74" name="Immagine 73" descr="Immagine che contiene clipart, cartone animato, illustrazione&#10;&#10;Descrizione generata automaticamente">
            <a:extLst>
              <a:ext uri="{FF2B5EF4-FFF2-40B4-BE49-F238E27FC236}">
                <a16:creationId xmlns:a16="http://schemas.microsoft.com/office/drawing/2014/main" id="{306BBB12-19BB-120B-E221-6CF99681E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148" y="1457180"/>
            <a:ext cx="2945691" cy="1831268"/>
          </a:xfrm>
          <a:prstGeom prst="rect">
            <a:avLst/>
          </a:prstGeom>
        </p:spPr>
      </p:pic>
      <p:cxnSp>
        <p:nvCxnSpPr>
          <p:cNvPr id="6" name="Straight Arrow Connector 62">
            <a:extLst>
              <a:ext uri="{FF2B5EF4-FFF2-40B4-BE49-F238E27FC236}">
                <a16:creationId xmlns:a16="http://schemas.microsoft.com/office/drawing/2014/main" id="{36A6D623-4A4C-F326-9F80-F39584A77069}"/>
              </a:ext>
            </a:extLst>
          </p:cNvPr>
          <p:cNvCxnSpPr>
            <a:cxnSpLocks/>
          </p:cNvCxnSpPr>
          <p:nvPr/>
        </p:nvCxnSpPr>
        <p:spPr>
          <a:xfrm flipH="1">
            <a:off x="2338939" y="4673504"/>
            <a:ext cx="261004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27">
            <a:extLst>
              <a:ext uri="{FF2B5EF4-FFF2-40B4-BE49-F238E27FC236}">
                <a16:creationId xmlns:a16="http://schemas.microsoft.com/office/drawing/2014/main" id="{B4C084DC-58FF-DE7F-078B-EBF238D3B7B4}"/>
              </a:ext>
            </a:extLst>
          </p:cNvPr>
          <p:cNvSpPr txBox="1"/>
          <p:nvPr/>
        </p:nvSpPr>
        <p:spPr>
          <a:xfrm>
            <a:off x="337209" y="3638988"/>
            <a:ext cx="3077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IMPROVE PREDICTION PERFORMANCE</a:t>
            </a:r>
          </a:p>
        </p:txBody>
      </p:sp>
      <p:sp>
        <p:nvSpPr>
          <p:cNvPr id="17" name="Oval 26">
            <a:extLst>
              <a:ext uri="{FF2B5EF4-FFF2-40B4-BE49-F238E27FC236}">
                <a16:creationId xmlns:a16="http://schemas.microsoft.com/office/drawing/2014/main" id="{BB5030D0-EE66-BEF6-4DC3-B5142883EA27}"/>
              </a:ext>
            </a:extLst>
          </p:cNvPr>
          <p:cNvSpPr/>
          <p:nvPr/>
        </p:nvSpPr>
        <p:spPr>
          <a:xfrm>
            <a:off x="1485864" y="4269260"/>
            <a:ext cx="720000" cy="72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1" name="Straight Connector 2">
            <a:extLst>
              <a:ext uri="{FF2B5EF4-FFF2-40B4-BE49-F238E27FC236}">
                <a16:creationId xmlns:a16="http://schemas.microsoft.com/office/drawing/2014/main" id="{A011C2BC-6BB7-5DE4-781B-904EB1A59628}"/>
              </a:ext>
            </a:extLst>
          </p:cNvPr>
          <p:cNvCxnSpPr>
            <a:cxnSpLocks/>
          </p:cNvCxnSpPr>
          <p:nvPr/>
        </p:nvCxnSpPr>
        <p:spPr>
          <a:xfrm>
            <a:off x="1845864" y="5067882"/>
            <a:ext cx="0" cy="518389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7">
            <a:extLst>
              <a:ext uri="{FF2B5EF4-FFF2-40B4-BE49-F238E27FC236}">
                <a16:creationId xmlns:a16="http://schemas.microsoft.com/office/drawing/2014/main" id="{DB2DBC3A-E775-E4FF-6749-95956322A2FA}"/>
              </a:ext>
            </a:extLst>
          </p:cNvPr>
          <p:cNvSpPr txBox="1"/>
          <p:nvPr/>
        </p:nvSpPr>
        <p:spPr>
          <a:xfrm>
            <a:off x="346905" y="5587072"/>
            <a:ext cx="3077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SOLVING CLASS IMBALANCE PROBLEM</a:t>
            </a:r>
          </a:p>
        </p:txBody>
      </p:sp>
    </p:spTree>
    <p:extLst>
      <p:ext uri="{BB962C8B-B14F-4D97-AF65-F5344CB8AC3E}">
        <p14:creationId xmlns:p14="http://schemas.microsoft.com/office/powerpoint/2010/main" val="382324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B3AB-0E82-8932-88CC-CDC8DEBA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B6EB3F-BD44-25EC-84EF-F07C0392ECA1}"/>
              </a:ext>
            </a:extLst>
          </p:cNvPr>
          <p:cNvSpPr txBox="1">
            <a:spLocks/>
          </p:cNvSpPr>
          <p:nvPr/>
        </p:nvSpPr>
        <p:spPr>
          <a:xfrm>
            <a:off x="838200" y="-12648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dirty="0">
                <a:latin typeface="Georgia" panose="02040502050405020303" pitchFamily="18" charset="0"/>
              </a:rPr>
              <a:t>DATASET AND PREPROCESSING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FD913-8063-E80E-0E76-3727FAD9A647}"/>
              </a:ext>
            </a:extLst>
          </p:cNvPr>
          <p:cNvSpPr txBox="1"/>
          <p:nvPr/>
        </p:nvSpPr>
        <p:spPr>
          <a:xfrm>
            <a:off x="1466144" y="802216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New Target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in Two-Class Analysis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E47FC5-EF13-772E-C91E-2B4C1E85BB6E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A4C2E6-4026-0C38-59A4-3277FEE0210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40337-2117-B968-7EA5-39629FAF2877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21450A-7E5A-F7AF-2294-626D0EECC657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1C4C75-91BE-8216-5756-257002BF94A6}"/>
              </a:ext>
            </a:extLst>
          </p:cNvPr>
          <p:cNvSpPr txBox="1"/>
          <p:nvPr/>
        </p:nvSpPr>
        <p:spPr>
          <a:xfrm>
            <a:off x="-5779295" y="2777698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Physicians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1C1204-0451-DB40-30D8-6821EE8DD94B}"/>
              </a:ext>
            </a:extLst>
          </p:cNvPr>
          <p:cNvSpPr txBox="1"/>
          <p:nvPr/>
        </p:nvSpPr>
        <p:spPr>
          <a:xfrm>
            <a:off x="-7031239" y="3529408"/>
            <a:ext cx="2563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Economic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435BFE-C223-AB27-A737-836450CAA0B7}"/>
              </a:ext>
            </a:extLst>
          </p:cNvPr>
          <p:cNvSpPr txBox="1"/>
          <p:nvPr/>
        </p:nvSpPr>
        <p:spPr>
          <a:xfrm>
            <a:off x="-7403136" y="4281118"/>
            <a:ext cx="2935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Appointment</a:t>
            </a:r>
            <a:r>
              <a:rPr lang="it-IT" dirty="0">
                <a:latin typeface="Georgia" panose="02040502050405020303" pitchFamily="18" charset="0"/>
              </a:rPr>
              <a:t>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9F57C-36A9-71CF-8978-90BC13355BD1}"/>
              </a:ext>
            </a:extLst>
          </p:cNvPr>
          <p:cNvSpPr txBox="1"/>
          <p:nvPr/>
        </p:nvSpPr>
        <p:spPr>
          <a:xfrm>
            <a:off x="-7588750" y="5032827"/>
            <a:ext cx="3121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Prescriptions</a:t>
            </a:r>
            <a:r>
              <a:rPr lang="it-IT" dirty="0">
                <a:latin typeface="Georgia" panose="02040502050405020303" pitchFamily="18" charset="0"/>
              </a:rPr>
              <a:t> and </a:t>
            </a:r>
            <a:r>
              <a:rPr lang="it-IT" dirty="0" err="1">
                <a:latin typeface="Georgia" panose="02040502050405020303" pitchFamily="18" charset="0"/>
              </a:rPr>
              <a:t>diagnoses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257FE9-D226-CA16-1936-FA19369B4D35}"/>
              </a:ext>
            </a:extLst>
          </p:cNvPr>
          <p:cNvCxnSpPr>
            <a:cxnSpLocks/>
          </p:cNvCxnSpPr>
          <p:nvPr/>
        </p:nvCxnSpPr>
        <p:spPr>
          <a:xfrm>
            <a:off x="-6944700" y="2395320"/>
            <a:ext cx="2338086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E4C00F-62AA-8A25-E57A-81B8AD250734}"/>
              </a:ext>
            </a:extLst>
          </p:cNvPr>
          <p:cNvCxnSpPr>
            <a:cxnSpLocks/>
          </p:cNvCxnSpPr>
          <p:nvPr/>
        </p:nvCxnSpPr>
        <p:spPr>
          <a:xfrm>
            <a:off x="-5701645" y="3147030"/>
            <a:ext cx="1095031" cy="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AEB7AD4-6D92-F4CD-859B-5BE451988DEC}"/>
              </a:ext>
            </a:extLst>
          </p:cNvPr>
          <p:cNvCxnSpPr>
            <a:cxnSpLocks/>
          </p:cNvCxnSpPr>
          <p:nvPr/>
        </p:nvCxnSpPr>
        <p:spPr>
          <a:xfrm flipV="1">
            <a:off x="-6944700" y="3898740"/>
            <a:ext cx="2338086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91E584D-3776-B58F-C6EB-CD01A284133B}"/>
              </a:ext>
            </a:extLst>
          </p:cNvPr>
          <p:cNvCxnSpPr>
            <a:cxnSpLocks/>
          </p:cNvCxnSpPr>
          <p:nvPr/>
        </p:nvCxnSpPr>
        <p:spPr>
          <a:xfrm flipV="1">
            <a:off x="-7333676" y="4650450"/>
            <a:ext cx="2727062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803C111-98D4-305F-1302-D0A47D78441E}"/>
              </a:ext>
            </a:extLst>
          </p:cNvPr>
          <p:cNvCxnSpPr>
            <a:cxnSpLocks/>
          </p:cNvCxnSpPr>
          <p:nvPr/>
        </p:nvCxnSpPr>
        <p:spPr>
          <a:xfrm flipV="1">
            <a:off x="-7460577" y="5402159"/>
            <a:ext cx="2853963" cy="15222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F65710F-C4DC-736B-E1BE-E310FBA951FB}"/>
              </a:ext>
            </a:extLst>
          </p:cNvPr>
          <p:cNvCxnSpPr>
            <a:cxnSpLocks/>
          </p:cNvCxnSpPr>
          <p:nvPr/>
        </p:nvCxnSpPr>
        <p:spPr>
          <a:xfrm>
            <a:off x="-4606614" y="2410543"/>
            <a:ext cx="3267399" cy="549457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1B31490-B8F2-C89E-47E3-E369756BC04D}"/>
              </a:ext>
            </a:extLst>
          </p:cNvPr>
          <p:cNvCxnSpPr>
            <a:cxnSpLocks/>
          </p:cNvCxnSpPr>
          <p:nvPr/>
        </p:nvCxnSpPr>
        <p:spPr>
          <a:xfrm flipV="1">
            <a:off x="-4606614" y="4845798"/>
            <a:ext cx="3288354" cy="556361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6684FBA-D0FC-F214-7A2F-C3D9BC9D70CC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-4530414" y="3147030"/>
            <a:ext cx="2884494" cy="291484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6BDD0F2-C5DC-969F-251B-8F0E21387AAC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-4490430" y="3892644"/>
            <a:ext cx="2634048" cy="14123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E94682-4A0B-22DF-1D9B-5210DB79A9CE}"/>
              </a:ext>
            </a:extLst>
          </p:cNvPr>
          <p:cNvCxnSpPr>
            <a:cxnSpLocks/>
            <a:endCxn id="43" idx="2"/>
          </p:cNvCxnSpPr>
          <p:nvPr/>
        </p:nvCxnSpPr>
        <p:spPr>
          <a:xfrm flipV="1">
            <a:off x="-4530414" y="4387212"/>
            <a:ext cx="2884494" cy="263238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3A1409A8-8F53-69B6-B0D6-4428715E0D89}"/>
              </a:ext>
            </a:extLst>
          </p:cNvPr>
          <p:cNvSpPr/>
          <p:nvPr/>
        </p:nvSpPr>
        <p:spPr>
          <a:xfrm>
            <a:off x="-1270138" y="2924780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F7D4E98-E7CE-58E1-B2FC-07FD27FFA1B2}"/>
              </a:ext>
            </a:extLst>
          </p:cNvPr>
          <p:cNvSpPr/>
          <p:nvPr/>
        </p:nvSpPr>
        <p:spPr>
          <a:xfrm>
            <a:off x="-1270138" y="4720575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D81DC5-E03A-4B2D-E318-7C366A42B90E}"/>
              </a:ext>
            </a:extLst>
          </p:cNvPr>
          <p:cNvSpPr/>
          <p:nvPr/>
        </p:nvSpPr>
        <p:spPr>
          <a:xfrm>
            <a:off x="-1645920" y="3348329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969E6E0-1BAC-98C1-DC2B-A9DB120D0C6D}"/>
              </a:ext>
            </a:extLst>
          </p:cNvPr>
          <p:cNvSpPr/>
          <p:nvPr/>
        </p:nvSpPr>
        <p:spPr>
          <a:xfrm>
            <a:off x="-1645920" y="4297027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5C7657-BFAE-BBFC-46AF-CC4A060163D1}"/>
              </a:ext>
            </a:extLst>
          </p:cNvPr>
          <p:cNvSpPr/>
          <p:nvPr/>
        </p:nvSpPr>
        <p:spPr>
          <a:xfrm>
            <a:off x="-1856382" y="3816582"/>
            <a:ext cx="180000" cy="180370"/>
          </a:xfrm>
          <a:prstGeom prst="ellips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6" name="Picture 45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486D6DFE-B331-AACD-CC89-CC4923A90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F24DB49-D546-E706-77DF-5AC29CE70BB8}"/>
              </a:ext>
            </a:extLst>
          </p:cNvPr>
          <p:cNvSpPr txBox="1"/>
          <p:nvPr/>
        </p:nvSpPr>
        <p:spPr>
          <a:xfrm>
            <a:off x="-6828535" y="2025988"/>
            <a:ext cx="235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patient</a:t>
            </a:r>
            <a:r>
              <a:rPr lang="it-IT" dirty="0">
                <a:latin typeface="Georgia" panose="02040502050405020303" pitchFamily="18" charset="0"/>
              </a:rPr>
              <a:t> personal data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03BDA56-4015-E17D-ABFB-97258E0C1239}"/>
              </a:ext>
            </a:extLst>
          </p:cNvPr>
          <p:cNvSpPr txBox="1"/>
          <p:nvPr/>
        </p:nvSpPr>
        <p:spPr>
          <a:xfrm>
            <a:off x="448309" y="1665971"/>
            <a:ext cx="8929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Target variable: </a:t>
            </a:r>
            <a:r>
              <a:rPr lang="en-US" dirty="0">
                <a:latin typeface="Georgia" panose="02040502050405020303" pitchFamily="18" charset="0"/>
              </a:rPr>
              <a:t>Final status of the student at the end of their university studies.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13865-1837-EA9B-0D67-5995EF64991A}"/>
              </a:ext>
            </a:extLst>
          </p:cNvPr>
          <p:cNvSpPr txBox="1"/>
          <p:nvPr/>
        </p:nvSpPr>
        <p:spPr>
          <a:xfrm>
            <a:off x="237394" y="3067034"/>
            <a:ext cx="2884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Two-classes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6" name="Parentesi graffa aperta 5">
            <a:extLst>
              <a:ext uri="{FF2B5EF4-FFF2-40B4-BE49-F238E27FC236}">
                <a16:creationId xmlns:a16="http://schemas.microsoft.com/office/drawing/2014/main" id="{B27C1163-1A53-F60E-C8F0-BE9A30AC15A4}"/>
              </a:ext>
            </a:extLst>
          </p:cNvPr>
          <p:cNvSpPr/>
          <p:nvPr/>
        </p:nvSpPr>
        <p:spPr>
          <a:xfrm>
            <a:off x="2738340" y="2410544"/>
            <a:ext cx="655426" cy="1802090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ADABDDF-15B0-AB74-A720-D4EF4134E568}"/>
              </a:ext>
            </a:extLst>
          </p:cNvPr>
          <p:cNvSpPr txBox="1"/>
          <p:nvPr/>
        </p:nvSpPr>
        <p:spPr>
          <a:xfrm>
            <a:off x="3050745" y="2211938"/>
            <a:ext cx="2196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Success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65A20F86-D1C0-8DE6-3E05-FD92D3ACE3D6}"/>
              </a:ext>
            </a:extLst>
          </p:cNvPr>
          <p:cNvSpPr txBox="1"/>
          <p:nvPr/>
        </p:nvSpPr>
        <p:spPr>
          <a:xfrm>
            <a:off x="6665113" y="4690607"/>
            <a:ext cx="1842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Enrolled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626E2D00-DE8A-222E-5231-4EFEF9B27A65}"/>
              </a:ext>
            </a:extLst>
          </p:cNvPr>
          <p:cNvSpPr txBox="1"/>
          <p:nvPr/>
        </p:nvSpPr>
        <p:spPr>
          <a:xfrm>
            <a:off x="2948802" y="3973730"/>
            <a:ext cx="2196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Failed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17" name="Elemento grafico 16" descr="Chiudi con riempimento a tinta unita">
            <a:extLst>
              <a:ext uri="{FF2B5EF4-FFF2-40B4-BE49-F238E27FC236}">
                <a16:creationId xmlns:a16="http://schemas.microsoft.com/office/drawing/2014/main" id="{DFFBDBE0-A091-628D-E462-1DE00220E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0336" y="3913962"/>
            <a:ext cx="611317" cy="611317"/>
          </a:xfrm>
          <a:prstGeom prst="rect">
            <a:avLst/>
          </a:prstGeom>
        </p:spPr>
      </p:pic>
      <p:pic>
        <p:nvPicPr>
          <p:cNvPr id="20" name="Elemento grafico 19" descr="Libro aperto contorno">
            <a:extLst>
              <a:ext uri="{FF2B5EF4-FFF2-40B4-BE49-F238E27FC236}">
                <a16:creationId xmlns:a16="http://schemas.microsoft.com/office/drawing/2014/main" id="{4A7FF311-BCD3-86AE-1E09-9B3D4A06C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504" y="4665672"/>
            <a:ext cx="667403" cy="667403"/>
          </a:xfrm>
          <a:prstGeom prst="rect">
            <a:avLst/>
          </a:prstGeom>
        </p:spPr>
      </p:pic>
      <p:pic>
        <p:nvPicPr>
          <p:cNvPr id="25" name="Elemento grafico 24" descr="Cappello di laurea contorno">
            <a:extLst>
              <a:ext uri="{FF2B5EF4-FFF2-40B4-BE49-F238E27FC236}">
                <a16:creationId xmlns:a16="http://schemas.microsoft.com/office/drawing/2014/main" id="{FAB176C1-B8D6-44E8-F738-C1FB69CF20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80536" y="2149446"/>
            <a:ext cx="729078" cy="729078"/>
          </a:xfrm>
          <a:prstGeom prst="rect">
            <a:avLst/>
          </a:prstGeom>
        </p:spPr>
      </p:pic>
      <p:sp>
        <p:nvSpPr>
          <p:cNvPr id="38" name="TextBox 3">
            <a:extLst>
              <a:ext uri="{FF2B5EF4-FFF2-40B4-BE49-F238E27FC236}">
                <a16:creationId xmlns:a16="http://schemas.microsoft.com/office/drawing/2014/main" id="{E123352F-4BA2-222B-174D-1E64DDAE4338}"/>
              </a:ext>
            </a:extLst>
          </p:cNvPr>
          <p:cNvSpPr txBox="1"/>
          <p:nvPr/>
        </p:nvSpPr>
        <p:spPr>
          <a:xfrm>
            <a:off x="617046" y="5317082"/>
            <a:ext cx="719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No more imbalanced target variable classes !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41" name="TextBox 3">
            <a:extLst>
              <a:ext uri="{FF2B5EF4-FFF2-40B4-BE49-F238E27FC236}">
                <a16:creationId xmlns:a16="http://schemas.microsoft.com/office/drawing/2014/main" id="{79631FBC-3986-5854-B3B2-2C3515185FAF}"/>
              </a:ext>
            </a:extLst>
          </p:cNvPr>
          <p:cNvSpPr txBox="1"/>
          <p:nvPr/>
        </p:nvSpPr>
        <p:spPr>
          <a:xfrm>
            <a:off x="5550905" y="2228251"/>
            <a:ext cx="913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51%</a:t>
            </a: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225A7620-2568-C6F2-840A-713FB64E7BAD}"/>
              </a:ext>
            </a:extLst>
          </p:cNvPr>
          <p:cNvSpPr txBox="1"/>
          <p:nvPr/>
        </p:nvSpPr>
        <p:spPr>
          <a:xfrm>
            <a:off x="8964746" y="4810760"/>
            <a:ext cx="913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17%</a:t>
            </a:r>
          </a:p>
        </p:txBody>
      </p:sp>
      <p:sp>
        <p:nvSpPr>
          <p:cNvPr id="47" name="TextBox 3">
            <a:extLst>
              <a:ext uri="{FF2B5EF4-FFF2-40B4-BE49-F238E27FC236}">
                <a16:creationId xmlns:a16="http://schemas.microsoft.com/office/drawing/2014/main" id="{DA3EBCBA-11A9-29A4-7289-F6B1EDA1064A}"/>
              </a:ext>
            </a:extLst>
          </p:cNvPr>
          <p:cNvSpPr txBox="1"/>
          <p:nvPr/>
        </p:nvSpPr>
        <p:spPr>
          <a:xfrm>
            <a:off x="5437953" y="4009148"/>
            <a:ext cx="913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49%</a:t>
            </a:r>
          </a:p>
        </p:txBody>
      </p:sp>
      <p:sp>
        <p:nvSpPr>
          <p:cNvPr id="5" name="Parentesi graffa aperta 4">
            <a:extLst>
              <a:ext uri="{FF2B5EF4-FFF2-40B4-BE49-F238E27FC236}">
                <a16:creationId xmlns:a16="http://schemas.microsoft.com/office/drawing/2014/main" id="{1C6A2B66-20DF-7A24-9708-F59BF118086A}"/>
              </a:ext>
            </a:extLst>
          </p:cNvPr>
          <p:cNvSpPr/>
          <p:nvPr/>
        </p:nvSpPr>
        <p:spPr>
          <a:xfrm>
            <a:off x="6378724" y="3637861"/>
            <a:ext cx="277456" cy="1394966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5" name="Elemento grafico 14" descr="Segno di spunta con riempimento a tinta unita">
            <a:extLst>
              <a:ext uri="{FF2B5EF4-FFF2-40B4-BE49-F238E27FC236}">
                <a16:creationId xmlns:a16="http://schemas.microsoft.com/office/drawing/2014/main" id="{403BC8FD-E136-89A1-7247-8743B3E887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9457" y="2100559"/>
            <a:ext cx="691448" cy="691448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CFFE5F36-4D5C-22CC-4A0F-EF8148F3A1BF}"/>
              </a:ext>
            </a:extLst>
          </p:cNvPr>
          <p:cNvSpPr txBox="1"/>
          <p:nvPr/>
        </p:nvSpPr>
        <p:spPr>
          <a:xfrm>
            <a:off x="6420828" y="3402302"/>
            <a:ext cx="2196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Dropout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3" name="Straight Arrow Connector 62">
            <a:extLst>
              <a:ext uri="{FF2B5EF4-FFF2-40B4-BE49-F238E27FC236}">
                <a16:creationId xmlns:a16="http://schemas.microsoft.com/office/drawing/2014/main" id="{E5F21EDE-D0DA-1D48-C676-234CDF4C00C4}"/>
              </a:ext>
            </a:extLst>
          </p:cNvPr>
          <p:cNvCxnSpPr>
            <a:cxnSpLocks/>
          </p:cNvCxnSpPr>
          <p:nvPr/>
        </p:nvCxnSpPr>
        <p:spPr>
          <a:xfrm>
            <a:off x="6531186" y="2513985"/>
            <a:ext cx="1505036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">
            <a:extLst>
              <a:ext uri="{FF2B5EF4-FFF2-40B4-BE49-F238E27FC236}">
                <a16:creationId xmlns:a16="http://schemas.microsoft.com/office/drawing/2014/main" id="{C3DA1828-3A95-7382-07F3-F84F33AB174E}"/>
              </a:ext>
            </a:extLst>
          </p:cNvPr>
          <p:cNvSpPr txBox="1"/>
          <p:nvPr/>
        </p:nvSpPr>
        <p:spPr>
          <a:xfrm>
            <a:off x="7742589" y="2297854"/>
            <a:ext cx="2196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Graduate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49" name="Elemento grafico 48" descr="Chiudi con riempimento a tinta unita">
            <a:extLst>
              <a:ext uri="{FF2B5EF4-FFF2-40B4-BE49-F238E27FC236}">
                <a16:creationId xmlns:a16="http://schemas.microsoft.com/office/drawing/2014/main" id="{9CBF9CA0-7EC2-BB55-4FA8-65EBD61262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6414" y="3438514"/>
            <a:ext cx="461665" cy="461665"/>
          </a:xfrm>
          <a:prstGeom prst="rect">
            <a:avLst/>
          </a:prstGeom>
        </p:spPr>
      </p:pic>
      <p:sp>
        <p:nvSpPr>
          <p:cNvPr id="50" name="TextBox 3">
            <a:extLst>
              <a:ext uri="{FF2B5EF4-FFF2-40B4-BE49-F238E27FC236}">
                <a16:creationId xmlns:a16="http://schemas.microsoft.com/office/drawing/2014/main" id="{F42536E2-7631-0961-2F36-04E3EA6DB98E}"/>
              </a:ext>
            </a:extLst>
          </p:cNvPr>
          <p:cNvSpPr txBox="1"/>
          <p:nvPr/>
        </p:nvSpPr>
        <p:spPr>
          <a:xfrm>
            <a:off x="8882659" y="3389277"/>
            <a:ext cx="913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32%</a:t>
            </a:r>
          </a:p>
        </p:txBody>
      </p:sp>
    </p:spTree>
    <p:extLst>
      <p:ext uri="{BB962C8B-B14F-4D97-AF65-F5344CB8AC3E}">
        <p14:creationId xmlns:p14="http://schemas.microsoft.com/office/powerpoint/2010/main" val="261305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0BFF-5A1E-FEA1-6D3D-7501B466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198BC3-5553-E4AC-4A0D-327C54B4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62" y="-100092"/>
            <a:ext cx="10966738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BE9DD-FCFB-7BF9-2073-05B8E3801986}"/>
              </a:ext>
            </a:extLst>
          </p:cNvPr>
          <p:cNvSpPr txBox="1"/>
          <p:nvPr/>
        </p:nvSpPr>
        <p:spPr>
          <a:xfrm>
            <a:off x="1777179" y="802071"/>
            <a:ext cx="86376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EXPERIMENTS WORKFLOW</a:t>
            </a:r>
          </a:p>
          <a:p>
            <a:pPr algn="ctr"/>
            <a:endParaRPr lang="it-IT" sz="2400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F8D85D5B-5DCD-B352-3D02-D9DA76DA3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Intermediary Role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Facilitates communication between the Presentation and Data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A8577F-9E92-FA20-01F5-EFF13B417363}"/>
              </a:ext>
            </a:extLst>
          </p:cNvPr>
          <p:cNvSpPr/>
          <p:nvPr/>
        </p:nvSpPr>
        <p:spPr>
          <a:xfrm>
            <a:off x="3303049" y="1975318"/>
            <a:ext cx="760691" cy="775224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FF000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3B81342-9B13-762A-3C35-75EBA9B42753}"/>
              </a:ext>
            </a:extLst>
          </p:cNvPr>
          <p:cNvSpPr/>
          <p:nvPr/>
        </p:nvSpPr>
        <p:spPr>
          <a:xfrm>
            <a:off x="8657680" y="4325814"/>
            <a:ext cx="720000" cy="72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20FD85A-DE37-C3A1-B6F1-D5A08DE2459C}"/>
              </a:ext>
            </a:extLst>
          </p:cNvPr>
          <p:cNvSpPr/>
          <p:nvPr/>
        </p:nvSpPr>
        <p:spPr>
          <a:xfrm>
            <a:off x="5192487" y="4313504"/>
            <a:ext cx="720000" cy="72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7ADCE26-B9D1-A649-FCD5-AC1C9385E67C}"/>
              </a:ext>
            </a:extLst>
          </p:cNvPr>
          <p:cNvSpPr/>
          <p:nvPr/>
        </p:nvSpPr>
        <p:spPr>
          <a:xfrm>
            <a:off x="7159246" y="1968497"/>
            <a:ext cx="720000" cy="72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E434C8-71EC-0665-B2BC-075291AD6A56}"/>
              </a:ext>
            </a:extLst>
          </p:cNvPr>
          <p:cNvSpPr txBox="1"/>
          <p:nvPr/>
        </p:nvSpPr>
        <p:spPr>
          <a:xfrm>
            <a:off x="2665235" y="1556648"/>
            <a:ext cx="2606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Georgia" panose="02040502050405020303" pitchFamily="18" charset="0"/>
              </a:rPr>
              <a:t>3-CLASS ANALYSIS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7DC391-C617-30A6-CB70-BD44E0687E53}"/>
              </a:ext>
            </a:extLst>
          </p:cNvPr>
          <p:cNvSpPr txBox="1"/>
          <p:nvPr/>
        </p:nvSpPr>
        <p:spPr>
          <a:xfrm>
            <a:off x="96426" y="1553473"/>
            <a:ext cx="177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tx2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1A2963-E6DF-723E-CDBA-1C5401829AB4}"/>
              </a:ext>
            </a:extLst>
          </p:cNvPr>
          <p:cNvCxnSpPr>
            <a:cxnSpLocks/>
          </p:cNvCxnSpPr>
          <p:nvPr/>
        </p:nvCxnSpPr>
        <p:spPr>
          <a:xfrm>
            <a:off x="9017680" y="5045814"/>
            <a:ext cx="0" cy="1036778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C9CE38-16BC-DCAD-57F8-1C286F475DB1}"/>
              </a:ext>
            </a:extLst>
          </p:cNvPr>
          <p:cNvSpPr txBox="1"/>
          <p:nvPr/>
        </p:nvSpPr>
        <p:spPr>
          <a:xfrm>
            <a:off x="6356075" y="1555334"/>
            <a:ext cx="2450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2-CLASS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A3706-0C26-30F7-46BE-C7BBE6B6F576}"/>
              </a:ext>
            </a:extLst>
          </p:cNvPr>
          <p:cNvSpPr txBox="1"/>
          <p:nvPr/>
        </p:nvSpPr>
        <p:spPr>
          <a:xfrm>
            <a:off x="4799266" y="3627208"/>
            <a:ext cx="1779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BEST MODEL SELECTION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489B40-0EE2-96D8-2D0D-00F72DDB97EA}"/>
              </a:ext>
            </a:extLst>
          </p:cNvPr>
          <p:cNvSpPr txBox="1"/>
          <p:nvPr/>
        </p:nvSpPr>
        <p:spPr>
          <a:xfrm>
            <a:off x="7976693" y="3563013"/>
            <a:ext cx="3077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PRE-ENROLLEMNET ANALYSIS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A38A642-4585-8C73-35E0-77A17D571200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0143B2-8E51-2FD0-C274-864583121B39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86C017-0138-C9A3-177D-7834858F39EF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5FD26F-4DA4-4222-66B6-276F5B112C32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FF19B09-2D92-B3C9-CF80-3F2D6D48A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10" name="Elemento grafico 9" descr="Calendario mensile con riempimento a tinta unita">
            <a:extLst>
              <a:ext uri="{FF2B5EF4-FFF2-40B4-BE49-F238E27FC236}">
                <a16:creationId xmlns:a16="http://schemas.microsoft.com/office/drawing/2014/main" id="{3A357BF4-50E9-A393-3D33-3F5EF9222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062" y="1817097"/>
            <a:ext cx="1091666" cy="1091666"/>
          </a:xfrm>
          <a:prstGeom prst="rect">
            <a:avLst/>
          </a:prstGeom>
        </p:spPr>
      </p:pic>
      <p:cxnSp>
        <p:nvCxnSpPr>
          <p:cNvPr id="32" name="Straight Arrow Connector 62">
            <a:extLst>
              <a:ext uri="{FF2B5EF4-FFF2-40B4-BE49-F238E27FC236}">
                <a16:creationId xmlns:a16="http://schemas.microsoft.com/office/drawing/2014/main" id="{71FAA4D5-3828-D95B-5C54-ECFE0D08F27D}"/>
              </a:ext>
            </a:extLst>
          </p:cNvPr>
          <p:cNvCxnSpPr>
            <a:cxnSpLocks/>
          </p:cNvCxnSpPr>
          <p:nvPr/>
        </p:nvCxnSpPr>
        <p:spPr>
          <a:xfrm>
            <a:off x="1478728" y="2363293"/>
            <a:ext cx="1505036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62">
            <a:extLst>
              <a:ext uri="{FF2B5EF4-FFF2-40B4-BE49-F238E27FC236}">
                <a16:creationId xmlns:a16="http://schemas.microsoft.com/office/drawing/2014/main" id="{ED74A661-C2D7-2D53-A14C-42B2B87998F2}"/>
              </a:ext>
            </a:extLst>
          </p:cNvPr>
          <p:cNvCxnSpPr>
            <a:cxnSpLocks/>
          </p:cNvCxnSpPr>
          <p:nvPr/>
        </p:nvCxnSpPr>
        <p:spPr>
          <a:xfrm flipV="1">
            <a:off x="4201825" y="2353146"/>
            <a:ext cx="2817224" cy="22917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62">
            <a:extLst>
              <a:ext uri="{FF2B5EF4-FFF2-40B4-BE49-F238E27FC236}">
                <a16:creationId xmlns:a16="http://schemas.microsoft.com/office/drawing/2014/main" id="{38D58FF6-BD4C-195A-9744-5CD3B0E24B9A}"/>
              </a:ext>
            </a:extLst>
          </p:cNvPr>
          <p:cNvCxnSpPr>
            <a:cxnSpLocks/>
          </p:cNvCxnSpPr>
          <p:nvPr/>
        </p:nvCxnSpPr>
        <p:spPr>
          <a:xfrm flipV="1">
            <a:off x="6200046" y="4673504"/>
            <a:ext cx="2214131" cy="2462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Parentesi graffa aperta 52">
            <a:extLst>
              <a:ext uri="{FF2B5EF4-FFF2-40B4-BE49-F238E27FC236}">
                <a16:creationId xmlns:a16="http://schemas.microsoft.com/office/drawing/2014/main" id="{1F9321CF-EA02-582B-2B8B-48A2E0132327}"/>
              </a:ext>
            </a:extLst>
          </p:cNvPr>
          <p:cNvSpPr/>
          <p:nvPr/>
        </p:nvSpPr>
        <p:spPr>
          <a:xfrm rot="16200000">
            <a:off x="5084522" y="669445"/>
            <a:ext cx="935930" cy="4848411"/>
          </a:xfrm>
          <a:prstGeom prst="leftBrace">
            <a:avLst>
              <a:gd name="adj1" fmla="val 57673"/>
              <a:gd name="adj2" fmla="val 50000"/>
            </a:avLst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66" name="Straight Arrow Connector 62">
            <a:extLst>
              <a:ext uri="{FF2B5EF4-FFF2-40B4-BE49-F238E27FC236}">
                <a16:creationId xmlns:a16="http://schemas.microsoft.com/office/drawing/2014/main" id="{F5A069BD-A593-1ED8-8D0E-77A285EF1135}"/>
              </a:ext>
            </a:extLst>
          </p:cNvPr>
          <p:cNvCxnSpPr>
            <a:cxnSpLocks/>
          </p:cNvCxnSpPr>
          <p:nvPr/>
        </p:nvCxnSpPr>
        <p:spPr>
          <a:xfrm>
            <a:off x="9017678" y="5273871"/>
            <a:ext cx="85566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2">
            <a:extLst>
              <a:ext uri="{FF2B5EF4-FFF2-40B4-BE49-F238E27FC236}">
                <a16:creationId xmlns:a16="http://schemas.microsoft.com/office/drawing/2014/main" id="{635759DC-4551-1AC7-4643-B3788151E2DF}"/>
              </a:ext>
            </a:extLst>
          </p:cNvPr>
          <p:cNvCxnSpPr>
            <a:cxnSpLocks/>
          </p:cNvCxnSpPr>
          <p:nvPr/>
        </p:nvCxnSpPr>
        <p:spPr>
          <a:xfrm>
            <a:off x="9017679" y="5999121"/>
            <a:ext cx="85566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47">
            <a:extLst>
              <a:ext uri="{FF2B5EF4-FFF2-40B4-BE49-F238E27FC236}">
                <a16:creationId xmlns:a16="http://schemas.microsoft.com/office/drawing/2014/main" id="{D92C4272-8EE9-DDCE-A2D5-30BC47B881DF}"/>
              </a:ext>
            </a:extLst>
          </p:cNvPr>
          <p:cNvSpPr txBox="1"/>
          <p:nvPr/>
        </p:nvSpPr>
        <p:spPr>
          <a:xfrm>
            <a:off x="9873341" y="5067882"/>
            <a:ext cx="2440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3-CLASS ANALYSIS</a:t>
            </a:r>
          </a:p>
        </p:txBody>
      </p:sp>
      <p:sp>
        <p:nvSpPr>
          <p:cNvPr id="72" name="TextBox 47">
            <a:extLst>
              <a:ext uri="{FF2B5EF4-FFF2-40B4-BE49-F238E27FC236}">
                <a16:creationId xmlns:a16="http://schemas.microsoft.com/office/drawing/2014/main" id="{3CE8D102-5F99-8C06-D754-9AC3B1584FC1}"/>
              </a:ext>
            </a:extLst>
          </p:cNvPr>
          <p:cNvSpPr txBox="1"/>
          <p:nvPr/>
        </p:nvSpPr>
        <p:spPr>
          <a:xfrm>
            <a:off x="9930767" y="5823354"/>
            <a:ext cx="2440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2-CLASS ANALYSIS</a:t>
            </a:r>
          </a:p>
        </p:txBody>
      </p:sp>
      <p:pic>
        <p:nvPicPr>
          <p:cNvPr id="74" name="Immagine 73" descr="Immagine che contiene clipart, cartone animato, illustrazione&#10;&#10;Descrizione generata automaticamente">
            <a:extLst>
              <a:ext uri="{FF2B5EF4-FFF2-40B4-BE49-F238E27FC236}">
                <a16:creationId xmlns:a16="http://schemas.microsoft.com/office/drawing/2014/main" id="{306BBB12-19BB-120B-E221-6CF99681E4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4148" y="1457180"/>
            <a:ext cx="2945691" cy="1831268"/>
          </a:xfrm>
          <a:prstGeom prst="rect">
            <a:avLst/>
          </a:prstGeom>
        </p:spPr>
      </p:pic>
      <p:cxnSp>
        <p:nvCxnSpPr>
          <p:cNvPr id="6" name="Straight Arrow Connector 62">
            <a:extLst>
              <a:ext uri="{FF2B5EF4-FFF2-40B4-BE49-F238E27FC236}">
                <a16:creationId xmlns:a16="http://schemas.microsoft.com/office/drawing/2014/main" id="{36A6D623-4A4C-F326-9F80-F39584A77069}"/>
              </a:ext>
            </a:extLst>
          </p:cNvPr>
          <p:cNvCxnSpPr>
            <a:cxnSpLocks/>
          </p:cNvCxnSpPr>
          <p:nvPr/>
        </p:nvCxnSpPr>
        <p:spPr>
          <a:xfrm flipH="1">
            <a:off x="2338939" y="4673504"/>
            <a:ext cx="261004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27">
            <a:extLst>
              <a:ext uri="{FF2B5EF4-FFF2-40B4-BE49-F238E27FC236}">
                <a16:creationId xmlns:a16="http://schemas.microsoft.com/office/drawing/2014/main" id="{B4C084DC-58FF-DE7F-078B-EBF238D3B7B4}"/>
              </a:ext>
            </a:extLst>
          </p:cNvPr>
          <p:cNvSpPr txBox="1"/>
          <p:nvPr/>
        </p:nvSpPr>
        <p:spPr>
          <a:xfrm>
            <a:off x="337209" y="3638988"/>
            <a:ext cx="3077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IMPROVE PREDICTION PERFORMANCE</a:t>
            </a:r>
          </a:p>
        </p:txBody>
      </p:sp>
      <p:sp>
        <p:nvSpPr>
          <p:cNvPr id="17" name="Oval 26">
            <a:extLst>
              <a:ext uri="{FF2B5EF4-FFF2-40B4-BE49-F238E27FC236}">
                <a16:creationId xmlns:a16="http://schemas.microsoft.com/office/drawing/2014/main" id="{BB5030D0-EE66-BEF6-4DC3-B5142883EA27}"/>
              </a:ext>
            </a:extLst>
          </p:cNvPr>
          <p:cNvSpPr/>
          <p:nvPr/>
        </p:nvSpPr>
        <p:spPr>
          <a:xfrm>
            <a:off x="1485864" y="4269260"/>
            <a:ext cx="720000" cy="720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1" name="Straight Connector 2">
            <a:extLst>
              <a:ext uri="{FF2B5EF4-FFF2-40B4-BE49-F238E27FC236}">
                <a16:creationId xmlns:a16="http://schemas.microsoft.com/office/drawing/2014/main" id="{A011C2BC-6BB7-5DE4-781B-904EB1A59628}"/>
              </a:ext>
            </a:extLst>
          </p:cNvPr>
          <p:cNvCxnSpPr>
            <a:cxnSpLocks/>
          </p:cNvCxnSpPr>
          <p:nvPr/>
        </p:nvCxnSpPr>
        <p:spPr>
          <a:xfrm>
            <a:off x="1845864" y="5067882"/>
            <a:ext cx="0" cy="518389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7">
            <a:extLst>
              <a:ext uri="{FF2B5EF4-FFF2-40B4-BE49-F238E27FC236}">
                <a16:creationId xmlns:a16="http://schemas.microsoft.com/office/drawing/2014/main" id="{DB2DBC3A-E775-E4FF-6749-95956322A2FA}"/>
              </a:ext>
            </a:extLst>
          </p:cNvPr>
          <p:cNvSpPr txBox="1"/>
          <p:nvPr/>
        </p:nvSpPr>
        <p:spPr>
          <a:xfrm>
            <a:off x="346905" y="5587072"/>
            <a:ext cx="3077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chemeClr val="accent1"/>
                </a:solidFill>
                <a:latin typeface="Georgia" panose="02040502050405020303" pitchFamily="18" charset="0"/>
              </a:rPr>
              <a:t>SOLVING CLASS IMBALANCE PROBLEM</a:t>
            </a:r>
          </a:p>
        </p:txBody>
      </p:sp>
    </p:spTree>
    <p:extLst>
      <p:ext uri="{BB962C8B-B14F-4D97-AF65-F5344CB8AC3E}">
        <p14:creationId xmlns:p14="http://schemas.microsoft.com/office/powerpoint/2010/main" val="1589039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4480-599D-1256-F097-FAE30CF3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E685E7-7023-0161-BA55-FB52E275B507}"/>
              </a:ext>
            </a:extLst>
          </p:cNvPr>
          <p:cNvSpPr txBox="1"/>
          <p:nvPr/>
        </p:nvSpPr>
        <p:spPr>
          <a:xfrm>
            <a:off x="1445878" y="1493391"/>
            <a:ext cx="1768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D1E353-8CEF-B53B-5D90-9328CE14881D}"/>
              </a:ext>
            </a:extLst>
          </p:cNvPr>
          <p:cNvCxnSpPr>
            <a:cxnSpLocks/>
          </p:cNvCxnSpPr>
          <p:nvPr/>
        </p:nvCxnSpPr>
        <p:spPr>
          <a:xfrm>
            <a:off x="1138496" y="4976698"/>
            <a:ext cx="0" cy="46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74EF14-66C8-9B5A-E0EC-25851E33014B}"/>
              </a:ext>
            </a:extLst>
          </p:cNvPr>
          <p:cNvCxnSpPr>
            <a:cxnSpLocks/>
          </p:cNvCxnSpPr>
          <p:nvPr/>
        </p:nvCxnSpPr>
        <p:spPr>
          <a:xfrm flipV="1">
            <a:off x="1121182" y="2479408"/>
            <a:ext cx="906634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1B2497-F585-6310-BE2D-4AE29B63E202}"/>
              </a:ext>
            </a:extLst>
          </p:cNvPr>
          <p:cNvSpPr txBox="1"/>
          <p:nvPr/>
        </p:nvSpPr>
        <p:spPr>
          <a:xfrm>
            <a:off x="2481629" y="2230847"/>
            <a:ext cx="176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Demografic</a:t>
            </a:r>
            <a:r>
              <a:rPr lang="it-IT" sz="1100" dirty="0">
                <a:latin typeface="Georgia" panose="02040502050405020303" pitchFamily="18" charset="0"/>
              </a:rPr>
              <a:t> 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6287DB-F277-8EFD-AB41-1BE13AE5E6C7}"/>
              </a:ext>
            </a:extLst>
          </p:cNvPr>
          <p:cNvCxnSpPr>
            <a:cxnSpLocks/>
          </p:cNvCxnSpPr>
          <p:nvPr/>
        </p:nvCxnSpPr>
        <p:spPr>
          <a:xfrm>
            <a:off x="1121142" y="3159279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6462A0-5BB4-D39F-FF83-74E4A1CA9924}"/>
              </a:ext>
            </a:extLst>
          </p:cNvPr>
          <p:cNvSpPr txBox="1"/>
          <p:nvPr/>
        </p:nvSpPr>
        <p:spPr>
          <a:xfrm>
            <a:off x="2453467" y="2943312"/>
            <a:ext cx="256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Socio-economic</a:t>
            </a:r>
            <a:r>
              <a:rPr lang="it-IT" dirty="0">
                <a:latin typeface="Georgia" panose="02040502050405020303" pitchFamily="18" charset="0"/>
              </a:rPr>
              <a:t> status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B9328A-19E0-3163-8948-606D8DF5FFAA}"/>
              </a:ext>
            </a:extLst>
          </p:cNvPr>
          <p:cNvCxnSpPr>
            <a:cxnSpLocks/>
          </p:cNvCxnSpPr>
          <p:nvPr/>
        </p:nvCxnSpPr>
        <p:spPr>
          <a:xfrm>
            <a:off x="1136075" y="3978269"/>
            <a:ext cx="8917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427FCE-1425-8AC2-DEFB-94F91991839F}"/>
              </a:ext>
            </a:extLst>
          </p:cNvPr>
          <p:cNvCxnSpPr>
            <a:cxnSpLocks/>
          </p:cNvCxnSpPr>
          <p:nvPr/>
        </p:nvCxnSpPr>
        <p:spPr>
          <a:xfrm>
            <a:off x="1136075" y="473934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958BF6-614B-59D1-BC3E-D7B1C577961B}"/>
              </a:ext>
            </a:extLst>
          </p:cNvPr>
          <p:cNvCxnSpPr>
            <a:cxnSpLocks/>
          </p:cNvCxnSpPr>
          <p:nvPr/>
        </p:nvCxnSpPr>
        <p:spPr>
          <a:xfrm>
            <a:off x="1129031" y="544400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Soldi volanti con riempimento a tinta unita">
            <a:extLst>
              <a:ext uri="{FF2B5EF4-FFF2-40B4-BE49-F238E27FC236}">
                <a16:creationId xmlns:a16="http://schemas.microsoft.com/office/drawing/2014/main" id="{2AE147A2-2445-A8AC-61F8-66D79E002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02826" y="2888687"/>
            <a:ext cx="415635" cy="41563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CA764F5-A739-F900-B404-1574E07A58CA}"/>
              </a:ext>
            </a:extLst>
          </p:cNvPr>
          <p:cNvSpPr txBox="1"/>
          <p:nvPr/>
        </p:nvSpPr>
        <p:spPr>
          <a:xfrm>
            <a:off x="2504155" y="3802154"/>
            <a:ext cx="2204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Family background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DF399B-B0DE-D29D-11E0-ED8C2F2F9D29}"/>
              </a:ext>
            </a:extLst>
          </p:cNvPr>
          <p:cNvSpPr txBox="1"/>
          <p:nvPr/>
        </p:nvSpPr>
        <p:spPr>
          <a:xfrm>
            <a:off x="2570359" y="4516546"/>
            <a:ext cx="2782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Academic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57D21F-E74C-3541-0858-266060986CCE}"/>
              </a:ext>
            </a:extLst>
          </p:cNvPr>
          <p:cNvSpPr txBox="1"/>
          <p:nvPr/>
        </p:nvSpPr>
        <p:spPr>
          <a:xfrm>
            <a:off x="2525759" y="5245708"/>
            <a:ext cx="235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Academic</a:t>
            </a:r>
            <a:r>
              <a:rPr lang="it-IT" dirty="0">
                <a:latin typeface="Georgia" panose="02040502050405020303" pitchFamily="18" charset="0"/>
              </a:rPr>
              <a:t> pathway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A50807-167D-A180-3981-1C34F362501F}"/>
              </a:ext>
            </a:extLst>
          </p:cNvPr>
          <p:cNvSpPr txBox="1"/>
          <p:nvPr/>
        </p:nvSpPr>
        <p:spPr>
          <a:xfrm>
            <a:off x="2444756" y="5830874"/>
            <a:ext cx="375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Regional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Macroeconomic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context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36" name="Graphic 35" descr="Document outline">
            <a:extLst>
              <a:ext uri="{FF2B5EF4-FFF2-40B4-BE49-F238E27FC236}">
                <a16:creationId xmlns:a16="http://schemas.microsoft.com/office/drawing/2014/main" id="{9D8F87AE-2FFD-4053-CA18-CC49BBCCD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3541" y="4297187"/>
            <a:ext cx="569225" cy="569225"/>
          </a:xfrm>
          <a:prstGeom prst="rect">
            <a:avLst/>
          </a:prstGeom>
        </p:spPr>
      </p:pic>
      <p:pic>
        <p:nvPicPr>
          <p:cNvPr id="37" name="Graphic 36" descr="Utente con riempimento a tinta unita">
            <a:extLst>
              <a:ext uri="{FF2B5EF4-FFF2-40B4-BE49-F238E27FC236}">
                <a16:creationId xmlns:a16="http://schemas.microsoft.com/office/drawing/2014/main" id="{B1F2A652-5AA7-8AD2-5105-029DF9756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65278" y="2155940"/>
            <a:ext cx="401062" cy="401062"/>
          </a:xfrm>
          <a:prstGeom prst="rect">
            <a:avLst/>
          </a:prstGeom>
        </p:spPr>
      </p:pic>
      <p:pic>
        <p:nvPicPr>
          <p:cNvPr id="38" name="Graphic 37" descr="Clipboard Mixed outline">
            <a:extLst>
              <a:ext uri="{FF2B5EF4-FFF2-40B4-BE49-F238E27FC236}">
                <a16:creationId xmlns:a16="http://schemas.microsoft.com/office/drawing/2014/main" id="{667F047B-621D-6446-DF86-3F5AB7EC8D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1007" y="5040663"/>
            <a:ext cx="531412" cy="53141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E2E5620C-BDBA-2C08-C89B-2BB18133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ALGORITHM,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41D1D8-3481-F98D-D08B-D762770DEA6E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Features overview</a:t>
            </a:r>
            <a:endParaRPr lang="it-IT" sz="28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6B87A2-05CF-17C9-5ECF-2F2CFA1B9647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C5D5E2F-88B6-B31F-C31C-4CCA223DDF9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A7E24BF-38B2-FAE9-282D-5EB64BF1E893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C24B300-0F90-BC77-AA98-50BC19C86736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A91E298-9CC4-31E8-DE8E-EAD5383A646B}"/>
              </a:ext>
            </a:extLst>
          </p:cNvPr>
          <p:cNvSpPr txBox="1"/>
          <p:nvPr/>
        </p:nvSpPr>
        <p:spPr>
          <a:xfrm>
            <a:off x="4997730" y="1358692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1.   Gender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0C811F7-8382-4F90-7DAC-1C710089487A}"/>
              </a:ext>
            </a:extLst>
          </p:cNvPr>
          <p:cNvSpPr txBox="1"/>
          <p:nvPr/>
        </p:nvSpPr>
        <p:spPr>
          <a:xfrm>
            <a:off x="4997729" y="1651165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2.   </a:t>
            </a:r>
            <a:r>
              <a:rPr lang="it-IT" sz="1400" dirty="0" err="1">
                <a:latin typeface="Georgia" panose="02040502050405020303" pitchFamily="18" charset="0"/>
              </a:rPr>
              <a:t>Nationality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C1A086-4C2C-BEA7-C804-25B1C8903FF0}"/>
              </a:ext>
            </a:extLst>
          </p:cNvPr>
          <p:cNvSpPr txBox="1"/>
          <p:nvPr/>
        </p:nvSpPr>
        <p:spPr>
          <a:xfrm>
            <a:off x="4997728" y="1955056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3.   Age </a:t>
            </a:r>
            <a:r>
              <a:rPr lang="it-IT" sz="1400" dirty="0" err="1">
                <a:latin typeface="Georgia" panose="02040502050405020303" pitchFamily="18" charset="0"/>
              </a:rPr>
              <a:t>at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enrollment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60E775-7A1A-B791-4C55-182893AD19A3}"/>
              </a:ext>
            </a:extLst>
          </p:cNvPr>
          <p:cNvSpPr txBox="1"/>
          <p:nvPr/>
        </p:nvSpPr>
        <p:spPr>
          <a:xfrm>
            <a:off x="8394848" y="2108944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5.   </a:t>
            </a:r>
            <a:r>
              <a:rPr lang="it-IT" sz="1400" dirty="0" err="1">
                <a:latin typeface="Georgia" panose="02040502050405020303" pitchFamily="18" charset="0"/>
              </a:rPr>
              <a:t>Tuition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fees</a:t>
            </a:r>
            <a:r>
              <a:rPr lang="it-IT" sz="1400" dirty="0">
                <a:latin typeface="Georgia" panose="02040502050405020303" pitchFamily="18" charset="0"/>
              </a:rPr>
              <a:t> up-to-date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E6BC242-2D9D-45E3-35B5-47534C51D3D7}"/>
              </a:ext>
            </a:extLst>
          </p:cNvPr>
          <p:cNvSpPr txBox="1"/>
          <p:nvPr/>
        </p:nvSpPr>
        <p:spPr>
          <a:xfrm>
            <a:off x="8380483" y="1801167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4.   </a:t>
            </a:r>
            <a:r>
              <a:rPr lang="it-IT" sz="1400" dirty="0" err="1">
                <a:latin typeface="Georgia" panose="02040502050405020303" pitchFamily="18" charset="0"/>
              </a:rPr>
              <a:t>Debtor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F387E6-FEA0-65D0-6ADD-565B98A11ECB}"/>
              </a:ext>
            </a:extLst>
          </p:cNvPr>
          <p:cNvSpPr txBox="1"/>
          <p:nvPr/>
        </p:nvSpPr>
        <p:spPr>
          <a:xfrm>
            <a:off x="8394848" y="2433190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6.   </a:t>
            </a:r>
            <a:r>
              <a:rPr lang="it-IT" sz="1400" dirty="0" err="1">
                <a:latin typeface="Georgia" panose="02040502050405020303" pitchFamily="18" charset="0"/>
              </a:rPr>
              <a:t>Scholarship</a:t>
            </a:r>
            <a:r>
              <a:rPr lang="it-IT" sz="1400" dirty="0">
                <a:latin typeface="Georgia" panose="02040502050405020303" pitchFamily="18" charset="0"/>
              </a:rPr>
              <a:t> holder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08C9AF-3FC8-43EC-4303-41C9C36196FF}"/>
              </a:ext>
            </a:extLst>
          </p:cNvPr>
          <p:cNvSpPr txBox="1"/>
          <p:nvPr/>
        </p:nvSpPr>
        <p:spPr>
          <a:xfrm>
            <a:off x="5635452" y="3229458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9.  </a:t>
            </a:r>
            <a:r>
              <a:rPr lang="it-IT" sz="1400" dirty="0" err="1">
                <a:latin typeface="Georgia" panose="02040502050405020303" pitchFamily="18" charset="0"/>
              </a:rPr>
              <a:t>Father’s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qualification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6E60BD-7099-DB24-4316-AF98FE61A9CA}"/>
              </a:ext>
            </a:extLst>
          </p:cNvPr>
          <p:cNvSpPr txBox="1"/>
          <p:nvPr/>
        </p:nvSpPr>
        <p:spPr>
          <a:xfrm>
            <a:off x="5635452" y="3521216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10.  </a:t>
            </a:r>
            <a:r>
              <a:rPr lang="it-IT" sz="1400" dirty="0" err="1">
                <a:latin typeface="Georgia" panose="02040502050405020303" pitchFamily="18" charset="0"/>
              </a:rPr>
              <a:t>Mother’s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occupation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pic>
        <p:nvPicPr>
          <p:cNvPr id="4" name="Picture 3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25B60E1-6C2E-7952-548B-4A9C566A6A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5" name="Elemento grafico 4" descr="Calendario mensile con riempimento a tinta unita">
            <a:extLst>
              <a:ext uri="{FF2B5EF4-FFF2-40B4-BE49-F238E27FC236}">
                <a16:creationId xmlns:a16="http://schemas.microsoft.com/office/drawing/2014/main" id="{1051ABB6-51E3-8FD8-7829-FD5C7705E9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849" y="1100322"/>
            <a:ext cx="891975" cy="891975"/>
          </a:xfrm>
          <a:prstGeom prst="rect">
            <a:avLst/>
          </a:prstGeom>
        </p:spPr>
      </p:pic>
      <p:cxnSp>
        <p:nvCxnSpPr>
          <p:cNvPr id="60" name="Straight Connector 12">
            <a:extLst>
              <a:ext uri="{FF2B5EF4-FFF2-40B4-BE49-F238E27FC236}">
                <a16:creationId xmlns:a16="http://schemas.microsoft.com/office/drawing/2014/main" id="{FDDB654D-8C46-A7FD-19F1-F12A59091893}"/>
              </a:ext>
            </a:extLst>
          </p:cNvPr>
          <p:cNvCxnSpPr>
            <a:cxnSpLocks/>
          </p:cNvCxnSpPr>
          <p:nvPr/>
        </p:nvCxnSpPr>
        <p:spPr>
          <a:xfrm>
            <a:off x="1121142" y="2056331"/>
            <a:ext cx="0" cy="4319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12">
            <a:extLst>
              <a:ext uri="{FF2B5EF4-FFF2-40B4-BE49-F238E27FC236}">
                <a16:creationId xmlns:a16="http://schemas.microsoft.com/office/drawing/2014/main" id="{E26A9354-0835-C3AE-5DBA-D92118A997C1}"/>
              </a:ext>
            </a:extLst>
          </p:cNvPr>
          <p:cNvCxnSpPr>
            <a:cxnSpLocks/>
          </p:cNvCxnSpPr>
          <p:nvPr/>
        </p:nvCxnSpPr>
        <p:spPr>
          <a:xfrm>
            <a:off x="1121142" y="2711215"/>
            <a:ext cx="2602" cy="448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12">
            <a:extLst>
              <a:ext uri="{FF2B5EF4-FFF2-40B4-BE49-F238E27FC236}">
                <a16:creationId xmlns:a16="http://schemas.microsoft.com/office/drawing/2014/main" id="{6613CA49-07BD-C0E4-B63F-BE8B4BEA5E7F}"/>
              </a:ext>
            </a:extLst>
          </p:cNvPr>
          <p:cNvCxnSpPr>
            <a:cxnSpLocks/>
          </p:cNvCxnSpPr>
          <p:nvPr/>
        </p:nvCxnSpPr>
        <p:spPr>
          <a:xfrm>
            <a:off x="1121142" y="3462504"/>
            <a:ext cx="7889" cy="515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7">
            <a:extLst>
              <a:ext uri="{FF2B5EF4-FFF2-40B4-BE49-F238E27FC236}">
                <a16:creationId xmlns:a16="http://schemas.microsoft.com/office/drawing/2014/main" id="{C4BD0AA4-0E08-8846-2ED7-A31503B15E46}"/>
              </a:ext>
            </a:extLst>
          </p:cNvPr>
          <p:cNvCxnSpPr>
            <a:cxnSpLocks/>
          </p:cNvCxnSpPr>
          <p:nvPr/>
        </p:nvCxnSpPr>
        <p:spPr>
          <a:xfrm flipH="1">
            <a:off x="1138255" y="4260698"/>
            <a:ext cx="4581" cy="465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12">
            <a:extLst>
              <a:ext uri="{FF2B5EF4-FFF2-40B4-BE49-F238E27FC236}">
                <a16:creationId xmlns:a16="http://schemas.microsoft.com/office/drawing/2014/main" id="{0D1F6431-C9B5-6E04-F23F-2AAC9039294A}"/>
              </a:ext>
            </a:extLst>
          </p:cNvPr>
          <p:cNvCxnSpPr>
            <a:cxnSpLocks/>
          </p:cNvCxnSpPr>
          <p:nvPr/>
        </p:nvCxnSpPr>
        <p:spPr>
          <a:xfrm>
            <a:off x="1142836" y="5637689"/>
            <a:ext cx="0" cy="46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24">
            <a:extLst>
              <a:ext uri="{FF2B5EF4-FFF2-40B4-BE49-F238E27FC236}">
                <a16:creationId xmlns:a16="http://schemas.microsoft.com/office/drawing/2014/main" id="{4DE6BBD3-7C72-997F-D625-1FEB9921286B}"/>
              </a:ext>
            </a:extLst>
          </p:cNvPr>
          <p:cNvCxnSpPr>
            <a:cxnSpLocks/>
          </p:cNvCxnSpPr>
          <p:nvPr/>
        </p:nvCxnSpPr>
        <p:spPr>
          <a:xfrm>
            <a:off x="1152105" y="60952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" name="Elemento grafico 102" descr="Gruppo con riempimento a tinta unita">
            <a:extLst>
              <a:ext uri="{FF2B5EF4-FFF2-40B4-BE49-F238E27FC236}">
                <a16:creationId xmlns:a16="http://schemas.microsoft.com/office/drawing/2014/main" id="{B5D3EEA7-579A-A9AD-7F94-EBD6905D08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66511" y="3677641"/>
            <a:ext cx="459248" cy="459248"/>
          </a:xfrm>
          <a:prstGeom prst="rect">
            <a:avLst/>
          </a:prstGeom>
        </p:spPr>
      </p:pic>
      <p:cxnSp>
        <p:nvCxnSpPr>
          <p:cNvPr id="104" name="Straight Connector 12">
            <a:extLst>
              <a:ext uri="{FF2B5EF4-FFF2-40B4-BE49-F238E27FC236}">
                <a16:creationId xmlns:a16="http://schemas.microsoft.com/office/drawing/2014/main" id="{83BCA0F9-B956-4970-13AE-E689E17A1A14}"/>
              </a:ext>
            </a:extLst>
          </p:cNvPr>
          <p:cNvCxnSpPr>
            <a:cxnSpLocks/>
          </p:cNvCxnSpPr>
          <p:nvPr/>
        </p:nvCxnSpPr>
        <p:spPr>
          <a:xfrm>
            <a:off x="3961855" y="1546309"/>
            <a:ext cx="0" cy="919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5">
            <a:extLst>
              <a:ext uri="{FF2B5EF4-FFF2-40B4-BE49-F238E27FC236}">
                <a16:creationId xmlns:a16="http://schemas.microsoft.com/office/drawing/2014/main" id="{5C422CD7-EEF0-0ABA-7822-B87ADEEBE03E}"/>
              </a:ext>
            </a:extLst>
          </p:cNvPr>
          <p:cNvCxnSpPr>
            <a:cxnSpLocks/>
          </p:cNvCxnSpPr>
          <p:nvPr/>
        </p:nvCxnSpPr>
        <p:spPr>
          <a:xfrm>
            <a:off x="3961855" y="1541382"/>
            <a:ext cx="918865" cy="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5">
            <a:extLst>
              <a:ext uri="{FF2B5EF4-FFF2-40B4-BE49-F238E27FC236}">
                <a16:creationId xmlns:a16="http://schemas.microsoft.com/office/drawing/2014/main" id="{1C9972B2-3343-99D6-8413-9CA560739C97}"/>
              </a:ext>
            </a:extLst>
          </p:cNvPr>
          <p:cNvCxnSpPr>
            <a:cxnSpLocks/>
          </p:cNvCxnSpPr>
          <p:nvPr/>
        </p:nvCxnSpPr>
        <p:spPr>
          <a:xfrm>
            <a:off x="3961855" y="1541920"/>
            <a:ext cx="918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5">
            <a:extLst>
              <a:ext uri="{FF2B5EF4-FFF2-40B4-BE49-F238E27FC236}">
                <a16:creationId xmlns:a16="http://schemas.microsoft.com/office/drawing/2014/main" id="{85185356-57A8-7E9C-70FC-687E16F276B6}"/>
              </a:ext>
            </a:extLst>
          </p:cNvPr>
          <p:cNvCxnSpPr>
            <a:cxnSpLocks/>
          </p:cNvCxnSpPr>
          <p:nvPr/>
        </p:nvCxnSpPr>
        <p:spPr>
          <a:xfrm>
            <a:off x="5207496" y="4255241"/>
            <a:ext cx="31191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5">
            <a:extLst>
              <a:ext uri="{FF2B5EF4-FFF2-40B4-BE49-F238E27FC236}">
                <a16:creationId xmlns:a16="http://schemas.microsoft.com/office/drawing/2014/main" id="{3CC4D0BE-94A7-5D9A-2B6A-9C140FA9AECC}"/>
              </a:ext>
            </a:extLst>
          </p:cNvPr>
          <p:cNvCxnSpPr>
            <a:cxnSpLocks/>
          </p:cNvCxnSpPr>
          <p:nvPr/>
        </p:nvCxnSpPr>
        <p:spPr>
          <a:xfrm>
            <a:off x="4702999" y="3434080"/>
            <a:ext cx="8055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2">
            <a:extLst>
              <a:ext uri="{FF2B5EF4-FFF2-40B4-BE49-F238E27FC236}">
                <a16:creationId xmlns:a16="http://schemas.microsoft.com/office/drawing/2014/main" id="{A31317CC-8F73-61F1-D9EA-151D0899190E}"/>
              </a:ext>
            </a:extLst>
          </p:cNvPr>
          <p:cNvCxnSpPr>
            <a:cxnSpLocks/>
          </p:cNvCxnSpPr>
          <p:nvPr/>
        </p:nvCxnSpPr>
        <p:spPr>
          <a:xfrm>
            <a:off x="4891061" y="2466212"/>
            <a:ext cx="0" cy="7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5">
            <a:extLst>
              <a:ext uri="{FF2B5EF4-FFF2-40B4-BE49-F238E27FC236}">
                <a16:creationId xmlns:a16="http://schemas.microsoft.com/office/drawing/2014/main" id="{2CC25F01-7580-2EE3-D2F6-B7A30CAC68BC}"/>
              </a:ext>
            </a:extLst>
          </p:cNvPr>
          <p:cNvCxnSpPr>
            <a:cxnSpLocks/>
          </p:cNvCxnSpPr>
          <p:nvPr/>
        </p:nvCxnSpPr>
        <p:spPr>
          <a:xfrm>
            <a:off x="4880720" y="2467990"/>
            <a:ext cx="3445946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2">
            <a:extLst>
              <a:ext uri="{FF2B5EF4-FFF2-40B4-BE49-F238E27FC236}">
                <a16:creationId xmlns:a16="http://schemas.microsoft.com/office/drawing/2014/main" id="{433C47A5-90C6-A553-41DD-D32C51B9103B}"/>
              </a:ext>
            </a:extLst>
          </p:cNvPr>
          <p:cNvCxnSpPr>
            <a:cxnSpLocks/>
          </p:cNvCxnSpPr>
          <p:nvPr/>
        </p:nvCxnSpPr>
        <p:spPr>
          <a:xfrm>
            <a:off x="4697557" y="3432058"/>
            <a:ext cx="10885" cy="6513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">
            <a:extLst>
              <a:ext uri="{FF2B5EF4-FFF2-40B4-BE49-F238E27FC236}">
                <a16:creationId xmlns:a16="http://schemas.microsoft.com/office/drawing/2014/main" id="{A180F097-8A89-6A54-B31D-4CF041664142}"/>
              </a:ext>
            </a:extLst>
          </p:cNvPr>
          <p:cNvCxnSpPr>
            <a:cxnSpLocks/>
          </p:cNvCxnSpPr>
          <p:nvPr/>
        </p:nvCxnSpPr>
        <p:spPr>
          <a:xfrm>
            <a:off x="5207496" y="4266175"/>
            <a:ext cx="0" cy="49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78">
            <a:extLst>
              <a:ext uri="{FF2B5EF4-FFF2-40B4-BE49-F238E27FC236}">
                <a16:creationId xmlns:a16="http://schemas.microsoft.com/office/drawing/2014/main" id="{EFFD5CF7-9B7F-3457-5596-0CB374D1AE30}"/>
              </a:ext>
            </a:extLst>
          </p:cNvPr>
          <p:cNvSpPr txBox="1"/>
          <p:nvPr/>
        </p:nvSpPr>
        <p:spPr>
          <a:xfrm>
            <a:off x="8507306" y="3809184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12.  First </a:t>
            </a:r>
            <a:r>
              <a:rPr lang="it-IT" sz="1400" dirty="0" err="1">
                <a:latin typeface="Georgia" panose="02040502050405020303" pitchFamily="18" charset="0"/>
              </a:rPr>
              <a:t>semester</a:t>
            </a:r>
            <a:r>
              <a:rPr lang="it-IT" sz="1400" dirty="0">
                <a:latin typeface="Georgia" panose="02040502050405020303" pitchFamily="18" charset="0"/>
              </a:rPr>
              <a:t> grade</a:t>
            </a:r>
          </a:p>
        </p:txBody>
      </p:sp>
      <p:sp>
        <p:nvSpPr>
          <p:cNvPr id="124" name="TextBox 78">
            <a:extLst>
              <a:ext uri="{FF2B5EF4-FFF2-40B4-BE49-F238E27FC236}">
                <a16:creationId xmlns:a16="http://schemas.microsoft.com/office/drawing/2014/main" id="{4F23D406-1672-2F57-3BF6-187B7C2FC40D}"/>
              </a:ext>
            </a:extLst>
          </p:cNvPr>
          <p:cNvSpPr txBox="1"/>
          <p:nvPr/>
        </p:nvSpPr>
        <p:spPr>
          <a:xfrm>
            <a:off x="8507306" y="4080734"/>
            <a:ext cx="3443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13.  Total </a:t>
            </a:r>
            <a:r>
              <a:rPr lang="it-IT" sz="1400" dirty="0" err="1">
                <a:latin typeface="Georgia" panose="02040502050405020303" pitchFamily="18" charset="0"/>
              </a:rPr>
              <a:t>number</a:t>
            </a:r>
            <a:r>
              <a:rPr lang="it-IT" sz="1400" dirty="0">
                <a:latin typeface="Georgia" panose="02040502050405020303" pitchFamily="18" charset="0"/>
              </a:rPr>
              <a:t> of </a:t>
            </a:r>
            <a:r>
              <a:rPr lang="it-IT" sz="1400" dirty="0" err="1">
                <a:latin typeface="Georgia" panose="02040502050405020303" pitchFamily="18" charset="0"/>
              </a:rPr>
              <a:t>curr</a:t>
            </a:r>
            <a:r>
              <a:rPr lang="it-IT" sz="1400" dirty="0">
                <a:latin typeface="Georgia" panose="02040502050405020303" pitchFamily="18" charset="0"/>
              </a:rPr>
              <a:t>. </a:t>
            </a:r>
            <a:r>
              <a:rPr lang="it-IT" sz="1400" dirty="0" err="1">
                <a:latin typeface="Georgia" panose="02040502050405020303" pitchFamily="18" charset="0"/>
              </a:rPr>
              <a:t>units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approved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25" name="TextBox 78">
            <a:extLst>
              <a:ext uri="{FF2B5EF4-FFF2-40B4-BE49-F238E27FC236}">
                <a16:creationId xmlns:a16="http://schemas.microsoft.com/office/drawing/2014/main" id="{87474C26-4869-B6B1-680C-954A3FD79CFC}"/>
              </a:ext>
            </a:extLst>
          </p:cNvPr>
          <p:cNvSpPr txBox="1"/>
          <p:nvPr/>
        </p:nvSpPr>
        <p:spPr>
          <a:xfrm>
            <a:off x="8507306" y="4366885"/>
            <a:ext cx="3423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14.  Total </a:t>
            </a:r>
            <a:r>
              <a:rPr lang="it-IT" sz="1400" dirty="0" err="1">
                <a:latin typeface="Georgia" panose="02040502050405020303" pitchFamily="18" charset="0"/>
              </a:rPr>
              <a:t>number</a:t>
            </a:r>
            <a:r>
              <a:rPr lang="it-IT" sz="1400" dirty="0">
                <a:latin typeface="Georgia" panose="02040502050405020303" pitchFamily="18" charset="0"/>
              </a:rPr>
              <a:t> of </a:t>
            </a:r>
            <a:r>
              <a:rPr lang="it-IT" sz="1400" dirty="0" err="1">
                <a:latin typeface="Georgia" panose="02040502050405020303" pitchFamily="18" charset="0"/>
              </a:rPr>
              <a:t>curr</a:t>
            </a:r>
            <a:r>
              <a:rPr lang="it-IT" sz="1400" dirty="0">
                <a:latin typeface="Georgia" panose="02040502050405020303" pitchFamily="18" charset="0"/>
              </a:rPr>
              <a:t>. </a:t>
            </a:r>
            <a:r>
              <a:rPr lang="it-IT" sz="1400" dirty="0" err="1">
                <a:latin typeface="Georgia" panose="02040502050405020303" pitchFamily="18" charset="0"/>
              </a:rPr>
              <a:t>units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enrolled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126" name="Straight Connector 12">
            <a:extLst>
              <a:ext uri="{FF2B5EF4-FFF2-40B4-BE49-F238E27FC236}">
                <a16:creationId xmlns:a16="http://schemas.microsoft.com/office/drawing/2014/main" id="{D77FCB72-5056-104C-4C39-6D2AA7387560}"/>
              </a:ext>
            </a:extLst>
          </p:cNvPr>
          <p:cNvCxnSpPr>
            <a:cxnSpLocks/>
          </p:cNvCxnSpPr>
          <p:nvPr/>
        </p:nvCxnSpPr>
        <p:spPr>
          <a:xfrm>
            <a:off x="4708442" y="5047103"/>
            <a:ext cx="0" cy="49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">
            <a:extLst>
              <a:ext uri="{FF2B5EF4-FFF2-40B4-BE49-F238E27FC236}">
                <a16:creationId xmlns:a16="http://schemas.microsoft.com/office/drawing/2014/main" id="{A05976D9-211C-0FE3-7C60-305AF4A9EEC3}"/>
              </a:ext>
            </a:extLst>
          </p:cNvPr>
          <p:cNvCxnSpPr>
            <a:cxnSpLocks/>
          </p:cNvCxnSpPr>
          <p:nvPr/>
        </p:nvCxnSpPr>
        <p:spPr>
          <a:xfrm>
            <a:off x="6095999" y="5725886"/>
            <a:ext cx="0" cy="402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5">
            <a:extLst>
              <a:ext uri="{FF2B5EF4-FFF2-40B4-BE49-F238E27FC236}">
                <a16:creationId xmlns:a16="http://schemas.microsoft.com/office/drawing/2014/main" id="{66750729-04BB-BA98-A1A6-5C91E157DE56}"/>
              </a:ext>
            </a:extLst>
          </p:cNvPr>
          <p:cNvCxnSpPr>
            <a:cxnSpLocks/>
          </p:cNvCxnSpPr>
          <p:nvPr/>
        </p:nvCxnSpPr>
        <p:spPr>
          <a:xfrm flipV="1">
            <a:off x="4693740" y="5023932"/>
            <a:ext cx="906634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78">
            <a:extLst>
              <a:ext uri="{FF2B5EF4-FFF2-40B4-BE49-F238E27FC236}">
                <a16:creationId xmlns:a16="http://schemas.microsoft.com/office/drawing/2014/main" id="{0315AAA3-A2D8-97EE-EAED-E845C0AAC0D5}"/>
              </a:ext>
            </a:extLst>
          </p:cNvPr>
          <p:cNvSpPr txBox="1"/>
          <p:nvPr/>
        </p:nvSpPr>
        <p:spPr>
          <a:xfrm>
            <a:off x="5660812" y="4832842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16.  Course</a:t>
            </a:r>
          </a:p>
        </p:txBody>
      </p:sp>
      <p:sp>
        <p:nvSpPr>
          <p:cNvPr id="132" name="TextBox 78">
            <a:extLst>
              <a:ext uri="{FF2B5EF4-FFF2-40B4-BE49-F238E27FC236}">
                <a16:creationId xmlns:a16="http://schemas.microsoft.com/office/drawing/2014/main" id="{F4124C0C-3844-A742-D864-81B1521E5154}"/>
              </a:ext>
            </a:extLst>
          </p:cNvPr>
          <p:cNvSpPr txBox="1"/>
          <p:nvPr/>
        </p:nvSpPr>
        <p:spPr>
          <a:xfrm>
            <a:off x="5635453" y="5125503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17.   </a:t>
            </a:r>
            <a:r>
              <a:rPr lang="it-IT" sz="1400" dirty="0" err="1">
                <a:latin typeface="Georgia" panose="02040502050405020303" pitchFamily="18" charset="0"/>
              </a:rPr>
              <a:t>Attendance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133" name="Straight Connector 15">
            <a:extLst>
              <a:ext uri="{FF2B5EF4-FFF2-40B4-BE49-F238E27FC236}">
                <a16:creationId xmlns:a16="http://schemas.microsoft.com/office/drawing/2014/main" id="{A24B8209-58DC-1420-E7F2-D10041B05E9A}"/>
              </a:ext>
            </a:extLst>
          </p:cNvPr>
          <p:cNvCxnSpPr>
            <a:cxnSpLocks/>
          </p:cNvCxnSpPr>
          <p:nvPr/>
        </p:nvCxnSpPr>
        <p:spPr>
          <a:xfrm>
            <a:off x="6095999" y="5735698"/>
            <a:ext cx="31191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78">
            <a:extLst>
              <a:ext uri="{FF2B5EF4-FFF2-40B4-BE49-F238E27FC236}">
                <a16:creationId xmlns:a16="http://schemas.microsoft.com/office/drawing/2014/main" id="{E3E8DE39-81F5-6B87-7C88-232A6D28A67E}"/>
              </a:ext>
            </a:extLst>
          </p:cNvPr>
          <p:cNvSpPr txBox="1"/>
          <p:nvPr/>
        </p:nvSpPr>
        <p:spPr>
          <a:xfrm>
            <a:off x="9189810" y="5376747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19.  </a:t>
            </a:r>
            <a:r>
              <a:rPr lang="it-IT" sz="1400" dirty="0" err="1">
                <a:latin typeface="Georgia" panose="02040502050405020303" pitchFamily="18" charset="0"/>
              </a:rPr>
              <a:t>Unemployment</a:t>
            </a:r>
            <a:r>
              <a:rPr lang="it-IT" sz="1400" dirty="0">
                <a:latin typeface="Georgia" panose="02040502050405020303" pitchFamily="18" charset="0"/>
              </a:rPr>
              <a:t> rate</a:t>
            </a:r>
          </a:p>
        </p:txBody>
      </p:sp>
      <p:sp>
        <p:nvSpPr>
          <p:cNvPr id="135" name="TextBox 78">
            <a:extLst>
              <a:ext uri="{FF2B5EF4-FFF2-40B4-BE49-F238E27FC236}">
                <a16:creationId xmlns:a16="http://schemas.microsoft.com/office/drawing/2014/main" id="{7281B292-F5C9-CA57-BC88-87BB5B0E5C16}"/>
              </a:ext>
            </a:extLst>
          </p:cNvPr>
          <p:cNvSpPr txBox="1"/>
          <p:nvPr/>
        </p:nvSpPr>
        <p:spPr>
          <a:xfrm>
            <a:off x="9185984" y="5647174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20.  </a:t>
            </a:r>
            <a:r>
              <a:rPr lang="it-IT" sz="1400" dirty="0" err="1">
                <a:latin typeface="Georgia" panose="02040502050405020303" pitchFamily="18" charset="0"/>
              </a:rPr>
              <a:t>Inflation</a:t>
            </a:r>
            <a:r>
              <a:rPr lang="it-IT" sz="1400" dirty="0">
                <a:latin typeface="Georgia" panose="02040502050405020303" pitchFamily="18" charset="0"/>
              </a:rPr>
              <a:t> rate</a:t>
            </a:r>
          </a:p>
        </p:txBody>
      </p:sp>
      <p:sp>
        <p:nvSpPr>
          <p:cNvPr id="136" name="TextBox 78">
            <a:extLst>
              <a:ext uri="{FF2B5EF4-FFF2-40B4-BE49-F238E27FC236}">
                <a16:creationId xmlns:a16="http://schemas.microsoft.com/office/drawing/2014/main" id="{1F8C3C61-3771-3E85-9799-10D139E942E7}"/>
              </a:ext>
            </a:extLst>
          </p:cNvPr>
          <p:cNvSpPr txBox="1"/>
          <p:nvPr/>
        </p:nvSpPr>
        <p:spPr>
          <a:xfrm>
            <a:off x="9185984" y="5921981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21.  GDP</a:t>
            </a:r>
          </a:p>
        </p:txBody>
      </p:sp>
      <p:sp>
        <p:nvSpPr>
          <p:cNvPr id="138" name="TextBox 78">
            <a:extLst>
              <a:ext uri="{FF2B5EF4-FFF2-40B4-BE49-F238E27FC236}">
                <a16:creationId xmlns:a16="http://schemas.microsoft.com/office/drawing/2014/main" id="{2BB07A0F-2ADB-F03F-4410-742DE18246CA}"/>
              </a:ext>
            </a:extLst>
          </p:cNvPr>
          <p:cNvSpPr txBox="1"/>
          <p:nvPr/>
        </p:nvSpPr>
        <p:spPr>
          <a:xfrm>
            <a:off x="5635453" y="5399861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18.   Application mode</a:t>
            </a:r>
          </a:p>
        </p:txBody>
      </p:sp>
      <p:sp>
        <p:nvSpPr>
          <p:cNvPr id="142" name="TextBox 78">
            <a:extLst>
              <a:ext uri="{FF2B5EF4-FFF2-40B4-BE49-F238E27FC236}">
                <a16:creationId xmlns:a16="http://schemas.microsoft.com/office/drawing/2014/main" id="{E78A1686-4EEC-2D89-61CF-6C05401CDF25}"/>
              </a:ext>
            </a:extLst>
          </p:cNvPr>
          <p:cNvSpPr txBox="1"/>
          <p:nvPr/>
        </p:nvSpPr>
        <p:spPr>
          <a:xfrm>
            <a:off x="5643523" y="3799873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11.   </a:t>
            </a:r>
            <a:r>
              <a:rPr lang="it-IT" sz="1400" dirty="0" err="1">
                <a:latin typeface="Georgia" panose="02040502050405020303" pitchFamily="18" charset="0"/>
              </a:rPr>
              <a:t>Father’s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occupation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45" name="TextBox 79">
            <a:extLst>
              <a:ext uri="{FF2B5EF4-FFF2-40B4-BE49-F238E27FC236}">
                <a16:creationId xmlns:a16="http://schemas.microsoft.com/office/drawing/2014/main" id="{E9538EF8-88BC-1F52-D97C-953FFD80DC35}"/>
              </a:ext>
            </a:extLst>
          </p:cNvPr>
          <p:cNvSpPr txBox="1"/>
          <p:nvPr/>
        </p:nvSpPr>
        <p:spPr>
          <a:xfrm>
            <a:off x="8394848" y="2745258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7.   </a:t>
            </a:r>
            <a:r>
              <a:rPr lang="it-IT" sz="1400" dirty="0" err="1">
                <a:latin typeface="Georgia" panose="02040502050405020303" pitchFamily="18" charset="0"/>
              </a:rPr>
              <a:t>Displaced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46" name="TextBox 78">
            <a:extLst>
              <a:ext uri="{FF2B5EF4-FFF2-40B4-BE49-F238E27FC236}">
                <a16:creationId xmlns:a16="http://schemas.microsoft.com/office/drawing/2014/main" id="{D008CD88-06F0-0E70-FFD2-096D2A6D3068}"/>
              </a:ext>
            </a:extLst>
          </p:cNvPr>
          <p:cNvSpPr txBox="1"/>
          <p:nvPr/>
        </p:nvSpPr>
        <p:spPr>
          <a:xfrm>
            <a:off x="8527305" y="4616809"/>
            <a:ext cx="3423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15.  Second </a:t>
            </a:r>
            <a:r>
              <a:rPr lang="it-IT" sz="1400" dirty="0" err="1">
                <a:latin typeface="Georgia" panose="02040502050405020303" pitchFamily="18" charset="0"/>
              </a:rPr>
              <a:t>semester</a:t>
            </a:r>
            <a:r>
              <a:rPr lang="it-IT" sz="1400" dirty="0">
                <a:latin typeface="Georgia" panose="02040502050405020303" pitchFamily="18" charset="0"/>
              </a:rPr>
              <a:t> grade</a:t>
            </a:r>
          </a:p>
        </p:txBody>
      </p:sp>
      <p:pic>
        <p:nvPicPr>
          <p:cNvPr id="150" name="Elemento grafico 149" descr="Fabbrica con riempimento a tinta unita">
            <a:extLst>
              <a:ext uri="{FF2B5EF4-FFF2-40B4-BE49-F238E27FC236}">
                <a16:creationId xmlns:a16="http://schemas.microsoft.com/office/drawing/2014/main" id="{B41ED10F-8D88-0F40-0395-C68CA9D714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65278" y="5727404"/>
            <a:ext cx="467304" cy="467304"/>
          </a:xfrm>
          <a:prstGeom prst="rect">
            <a:avLst/>
          </a:prstGeom>
        </p:spPr>
      </p:pic>
      <p:sp>
        <p:nvSpPr>
          <p:cNvPr id="2" name="TextBox 80">
            <a:extLst>
              <a:ext uri="{FF2B5EF4-FFF2-40B4-BE49-F238E27FC236}">
                <a16:creationId xmlns:a16="http://schemas.microsoft.com/office/drawing/2014/main" id="{CB312D3D-A107-FC6C-CA44-7C3FFF86671A}"/>
              </a:ext>
            </a:extLst>
          </p:cNvPr>
          <p:cNvSpPr txBox="1"/>
          <p:nvPr/>
        </p:nvSpPr>
        <p:spPr>
          <a:xfrm>
            <a:off x="5643523" y="2975111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8.  </a:t>
            </a:r>
            <a:r>
              <a:rPr lang="it-IT" sz="1400" dirty="0" err="1">
                <a:latin typeface="Georgia" panose="02040502050405020303" pitchFamily="18" charset="0"/>
              </a:rPr>
              <a:t>Mother’s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qualification</a:t>
            </a:r>
            <a:endParaRPr lang="it-IT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869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40BFF-5A1E-FEA1-6D3D-7501B466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4198BC3-5553-E4AC-4A0D-327C54B4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062" y="-100092"/>
            <a:ext cx="10966738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BE9DD-FCFB-7BF9-2073-05B8E3801986}"/>
              </a:ext>
            </a:extLst>
          </p:cNvPr>
          <p:cNvSpPr txBox="1"/>
          <p:nvPr/>
        </p:nvSpPr>
        <p:spPr>
          <a:xfrm>
            <a:off x="1593303" y="881501"/>
            <a:ext cx="8637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 err="1">
                <a:latin typeface="Georgia" panose="02040502050405020303" pitchFamily="18" charset="0"/>
              </a:rPr>
              <a:t>Predictions</a:t>
            </a:r>
            <a:endParaRPr lang="it-IT" sz="2400" dirty="0">
              <a:latin typeface="Georgia" panose="02040502050405020303" pitchFamily="18" charset="0"/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F8D85D5B-5DCD-B352-3D02-D9DA76DA3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Intermediary Role</a:t>
            </a:r>
            <a:r>
              <a:rPr kumimoji="0" lang="it-IT" altLang="it-I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Facilitates communication between the Presentation and Data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A38A642-4585-8C73-35E0-77A17D571200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0143B2-8E51-2FD0-C274-864583121B39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86C017-0138-C9A3-177D-7834858F39EF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5FD26F-4DA4-4222-66B6-276F5B112C32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FF19B09-2D92-B3C9-CF80-3F2D6D48A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53">
            <a:extLst>
              <a:ext uri="{FF2B5EF4-FFF2-40B4-BE49-F238E27FC236}">
                <a16:creationId xmlns:a16="http://schemas.microsoft.com/office/drawing/2014/main" id="{D336DE0F-4608-37A2-7ABF-CCF95A73A8B3}"/>
              </a:ext>
            </a:extLst>
          </p:cNvPr>
          <p:cNvSpPr txBox="1"/>
          <p:nvPr/>
        </p:nvSpPr>
        <p:spPr>
          <a:xfrm>
            <a:off x="106645" y="2363165"/>
            <a:ext cx="357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ALGORITHM USED</a:t>
            </a:r>
            <a:r>
              <a:rPr lang="it-IT" sz="2400" dirty="0">
                <a:solidFill>
                  <a:schemeClr val="accent1"/>
                </a:solidFill>
                <a:latin typeface="Georgia" panose="02040502050405020303" pitchFamily="18" charset="0"/>
              </a:rPr>
              <a:t>:</a:t>
            </a:r>
            <a:r>
              <a:rPr lang="it-IT" sz="2400" b="1" dirty="0">
                <a:solidFill>
                  <a:schemeClr val="accent1"/>
                </a:solidFill>
                <a:latin typeface="Georgia" panose="02040502050405020303" pitchFamily="18" charset="0"/>
              </a:rPr>
              <a:t> </a:t>
            </a:r>
            <a:endParaRPr lang="it-IT" b="1" dirty="0">
              <a:solidFill>
                <a:schemeClr val="accent1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53">
            <a:extLst>
              <a:ext uri="{FF2B5EF4-FFF2-40B4-BE49-F238E27FC236}">
                <a16:creationId xmlns:a16="http://schemas.microsoft.com/office/drawing/2014/main" id="{13F76C95-8145-76C4-CD80-3F10AFE30469}"/>
              </a:ext>
            </a:extLst>
          </p:cNvPr>
          <p:cNvSpPr txBox="1"/>
          <p:nvPr/>
        </p:nvSpPr>
        <p:spPr>
          <a:xfrm>
            <a:off x="3684693" y="2363165"/>
            <a:ext cx="83412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CARTS</a:t>
            </a:r>
          </a:p>
          <a:p>
            <a:pPr marL="342900" indent="-342900">
              <a:buFont typeface="+mj-lt"/>
              <a:buAutoNum type="arabicPeriod"/>
            </a:pPr>
            <a:endParaRPr lang="it-IT" sz="2400" b="1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BAGGING</a:t>
            </a:r>
          </a:p>
          <a:p>
            <a:pPr marL="342900" indent="-342900">
              <a:buFont typeface="+mj-lt"/>
              <a:buAutoNum type="arabicPeriod"/>
            </a:pPr>
            <a:endParaRPr lang="it-IT" sz="2400" b="1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RANDOM FORREST</a:t>
            </a:r>
          </a:p>
          <a:p>
            <a:pPr marL="342900" indent="-342900">
              <a:buFont typeface="+mj-lt"/>
              <a:buAutoNum type="arabicPeriod"/>
            </a:pPr>
            <a:endParaRPr lang="it-IT" sz="2400" b="1" dirty="0">
              <a:solidFill>
                <a:schemeClr val="accent1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sz="2400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EXTREME GRADIENT BOOSTING (XGBOOST) </a:t>
            </a:r>
          </a:p>
        </p:txBody>
      </p:sp>
      <p:cxnSp>
        <p:nvCxnSpPr>
          <p:cNvPr id="3" name="Straight Arrow Connector 62">
            <a:extLst>
              <a:ext uri="{FF2B5EF4-FFF2-40B4-BE49-F238E27FC236}">
                <a16:creationId xmlns:a16="http://schemas.microsoft.com/office/drawing/2014/main" id="{677645E5-3833-1B1B-1A99-5CA30D2858D2}"/>
              </a:ext>
            </a:extLst>
          </p:cNvPr>
          <p:cNvCxnSpPr>
            <a:cxnSpLocks/>
          </p:cNvCxnSpPr>
          <p:nvPr/>
        </p:nvCxnSpPr>
        <p:spPr>
          <a:xfrm flipV="1">
            <a:off x="5660813" y="2581686"/>
            <a:ext cx="2214131" cy="2462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13">
            <a:extLst>
              <a:ext uri="{FF2B5EF4-FFF2-40B4-BE49-F238E27FC236}">
                <a16:creationId xmlns:a16="http://schemas.microsoft.com/office/drawing/2014/main" id="{5523A001-F43B-E245-EF92-CD83EE688D8E}"/>
              </a:ext>
            </a:extLst>
          </p:cNvPr>
          <p:cNvSpPr txBox="1"/>
          <p:nvPr/>
        </p:nvSpPr>
        <p:spPr>
          <a:xfrm>
            <a:off x="8042549" y="2412409"/>
            <a:ext cx="252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Serves</a:t>
            </a:r>
            <a:r>
              <a:rPr lang="it-IT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dirty="0" err="1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as</a:t>
            </a:r>
            <a:r>
              <a:rPr lang="it-IT" b="1" dirty="0">
                <a:solidFill>
                  <a:schemeClr val="accent1">
                    <a:lumMod val="75000"/>
                  </a:schemeClr>
                </a:solidFill>
                <a:latin typeface="Georgia" panose="02040502050405020303" pitchFamily="18" charset="0"/>
              </a:rPr>
              <a:t> a baseline</a:t>
            </a:r>
          </a:p>
        </p:txBody>
      </p:sp>
      <p:pic>
        <p:nvPicPr>
          <p:cNvPr id="16" name="Elemento grafico 15" descr="Scena di foresta con riempimento a tinta unita">
            <a:extLst>
              <a:ext uri="{FF2B5EF4-FFF2-40B4-BE49-F238E27FC236}">
                <a16:creationId xmlns:a16="http://schemas.microsoft.com/office/drawing/2014/main" id="{0179C293-F207-3D06-0703-FEDE32D9A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4092" y="3429000"/>
            <a:ext cx="1164335" cy="1164335"/>
          </a:xfrm>
          <a:prstGeom prst="rect">
            <a:avLst/>
          </a:prstGeom>
        </p:spPr>
      </p:pic>
      <p:pic>
        <p:nvPicPr>
          <p:cNvPr id="19" name="Elemento grafico 18" descr="Abete con riempimento a tinta unita">
            <a:extLst>
              <a:ext uri="{FF2B5EF4-FFF2-40B4-BE49-F238E27FC236}">
                <a16:creationId xmlns:a16="http://schemas.microsoft.com/office/drawing/2014/main" id="{A4F4C222-DDEA-4BAE-DE2B-81F07B8739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8538" y="19552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8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439E2087-8A20-B911-9B9A-70F3FE82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PREDICTION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387C81-892C-4653-ACB5-7C48CF069DB2}"/>
              </a:ext>
            </a:extLst>
          </p:cNvPr>
          <p:cNvSpPr txBox="1"/>
          <p:nvPr/>
        </p:nvSpPr>
        <p:spPr>
          <a:xfrm>
            <a:off x="1728099" y="802242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Parameter tunning</a:t>
            </a:r>
            <a:endParaRPr lang="it-IT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AB803-8968-7A4E-8652-55A16E943C8F}"/>
              </a:ext>
            </a:extLst>
          </p:cNvPr>
          <p:cNvSpPr txBox="1"/>
          <p:nvPr/>
        </p:nvSpPr>
        <p:spPr>
          <a:xfrm>
            <a:off x="12373302" y="1718669"/>
            <a:ext cx="52136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Main problem</a:t>
            </a:r>
            <a:r>
              <a:rPr lang="en-US" sz="2000" dirty="0">
                <a:latin typeface="Georgia" panose="02040502050405020303" pitchFamily="18" charset="0"/>
              </a:rPr>
              <a:t>: we have a total number of 9 parameters to test, each one of them with at least 5 different values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E07228-2EF1-395F-4886-82CB144776A7}"/>
              </a:ext>
            </a:extLst>
          </p:cNvPr>
          <p:cNvSpPr txBox="1"/>
          <p:nvPr/>
        </p:nvSpPr>
        <p:spPr>
          <a:xfrm>
            <a:off x="1288949" y="1093059"/>
            <a:ext cx="2730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XGBoost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parameters</a:t>
            </a:r>
            <a:endParaRPr lang="it-IT" b="1" dirty="0">
              <a:latin typeface="Georgia" panose="02040502050405020303" pitchFamily="18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F42C83B-4CB0-3AB1-74B4-387540F884D7}"/>
              </a:ext>
            </a:extLst>
          </p:cNvPr>
          <p:cNvCxnSpPr>
            <a:cxnSpLocks/>
          </p:cNvCxnSpPr>
          <p:nvPr/>
        </p:nvCxnSpPr>
        <p:spPr>
          <a:xfrm>
            <a:off x="1127816" y="196546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6745B8-BE30-B472-7809-BAF2F3829562}"/>
              </a:ext>
            </a:extLst>
          </p:cNvPr>
          <p:cNvCxnSpPr>
            <a:cxnSpLocks/>
          </p:cNvCxnSpPr>
          <p:nvPr/>
        </p:nvCxnSpPr>
        <p:spPr>
          <a:xfrm>
            <a:off x="1127816" y="250834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57806F6-D6C3-4AC2-F2E1-11A0FB343C5A}"/>
              </a:ext>
            </a:extLst>
          </p:cNvPr>
          <p:cNvCxnSpPr>
            <a:cxnSpLocks/>
          </p:cNvCxnSpPr>
          <p:nvPr/>
        </p:nvCxnSpPr>
        <p:spPr>
          <a:xfrm>
            <a:off x="1127816" y="305123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EB79502-F7FA-D787-A7C1-447C89525E4B}"/>
              </a:ext>
            </a:extLst>
          </p:cNvPr>
          <p:cNvCxnSpPr>
            <a:cxnSpLocks/>
          </p:cNvCxnSpPr>
          <p:nvPr/>
        </p:nvCxnSpPr>
        <p:spPr>
          <a:xfrm>
            <a:off x="1127816" y="3594112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21A881-4E46-0ED1-3F07-5A5398F60F7E}"/>
              </a:ext>
            </a:extLst>
          </p:cNvPr>
          <p:cNvCxnSpPr>
            <a:cxnSpLocks/>
          </p:cNvCxnSpPr>
          <p:nvPr/>
        </p:nvCxnSpPr>
        <p:spPr>
          <a:xfrm>
            <a:off x="1127816" y="4136994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2077A5-903B-2F98-C301-CF55043732F2}"/>
              </a:ext>
            </a:extLst>
          </p:cNvPr>
          <p:cNvCxnSpPr>
            <a:cxnSpLocks/>
          </p:cNvCxnSpPr>
          <p:nvPr/>
        </p:nvCxnSpPr>
        <p:spPr>
          <a:xfrm>
            <a:off x="1127816" y="467987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D25C43-B74D-A8D6-6F5F-619683A37624}"/>
              </a:ext>
            </a:extLst>
          </p:cNvPr>
          <p:cNvCxnSpPr>
            <a:cxnSpLocks/>
          </p:cNvCxnSpPr>
          <p:nvPr/>
        </p:nvCxnSpPr>
        <p:spPr>
          <a:xfrm>
            <a:off x="1127816" y="522275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6414E8-8D28-9A9D-59E5-567CAB953569}"/>
              </a:ext>
            </a:extLst>
          </p:cNvPr>
          <p:cNvCxnSpPr>
            <a:cxnSpLocks/>
          </p:cNvCxnSpPr>
          <p:nvPr/>
        </p:nvCxnSpPr>
        <p:spPr>
          <a:xfrm>
            <a:off x="1127816" y="576564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8BEE50A-4300-3802-6E3C-F1148C97A670}"/>
              </a:ext>
            </a:extLst>
          </p:cNvPr>
          <p:cNvCxnSpPr>
            <a:cxnSpLocks/>
          </p:cNvCxnSpPr>
          <p:nvPr/>
        </p:nvCxnSpPr>
        <p:spPr>
          <a:xfrm>
            <a:off x="1127816" y="231660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Grafico di tendenza al ribasso contorno">
            <a:extLst>
              <a:ext uri="{FF2B5EF4-FFF2-40B4-BE49-F238E27FC236}">
                <a16:creationId xmlns:a16="http://schemas.microsoft.com/office/drawing/2014/main" id="{DF189772-5BF1-C6C6-2029-0DAEA8537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10722" y="2060028"/>
            <a:ext cx="412120" cy="41212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B6FBFDE-DC6F-AE92-DC9B-265CB90C575B}"/>
              </a:ext>
            </a:extLst>
          </p:cNvPr>
          <p:cNvSpPr txBox="1"/>
          <p:nvPr/>
        </p:nvSpPr>
        <p:spPr>
          <a:xfrm>
            <a:off x="3122842" y="1648594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Max delta step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E2A0A4B-F51B-3EB4-8687-951BCAF0AF2C}"/>
              </a:ext>
            </a:extLst>
          </p:cNvPr>
          <p:cNvCxnSpPr>
            <a:cxnSpLocks/>
          </p:cNvCxnSpPr>
          <p:nvPr/>
        </p:nvCxnSpPr>
        <p:spPr>
          <a:xfrm>
            <a:off x="1127816" y="285948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87896E8-44BE-B536-01ED-1B36E1F08B69}"/>
              </a:ext>
            </a:extLst>
          </p:cNvPr>
          <p:cNvSpPr txBox="1"/>
          <p:nvPr/>
        </p:nvSpPr>
        <p:spPr>
          <a:xfrm>
            <a:off x="3200116" y="2661632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Max </a:t>
            </a:r>
            <a:r>
              <a:rPr lang="it-IT" sz="1400" dirty="0" err="1">
                <a:latin typeface="Georgia" panose="02040502050405020303" pitchFamily="18" charset="0"/>
              </a:rPr>
              <a:t>tree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depth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FF0C82C-0943-08B5-9975-8CECC1951A47}"/>
              </a:ext>
            </a:extLst>
          </p:cNvPr>
          <p:cNvCxnSpPr>
            <a:cxnSpLocks/>
          </p:cNvCxnSpPr>
          <p:nvPr/>
        </p:nvCxnSpPr>
        <p:spPr>
          <a:xfrm>
            <a:off x="1127816" y="340236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2E72E5B-9B6C-4A0E-7C4A-7F2DD067F245}"/>
              </a:ext>
            </a:extLst>
          </p:cNvPr>
          <p:cNvCxnSpPr>
            <a:cxnSpLocks/>
          </p:cNvCxnSpPr>
          <p:nvPr/>
        </p:nvCxnSpPr>
        <p:spPr>
          <a:xfrm>
            <a:off x="1127816" y="3945246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E791E9B-0173-D4D8-84DB-0A1330160801}"/>
              </a:ext>
            </a:extLst>
          </p:cNvPr>
          <p:cNvCxnSpPr>
            <a:cxnSpLocks/>
          </p:cNvCxnSpPr>
          <p:nvPr/>
        </p:nvCxnSpPr>
        <p:spPr>
          <a:xfrm>
            <a:off x="1127816" y="4488128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6B1008C-7CAE-5307-0400-BAC5078F5546}"/>
              </a:ext>
            </a:extLst>
          </p:cNvPr>
          <p:cNvCxnSpPr>
            <a:cxnSpLocks/>
          </p:cNvCxnSpPr>
          <p:nvPr/>
        </p:nvCxnSpPr>
        <p:spPr>
          <a:xfrm>
            <a:off x="1127816" y="503101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2F48396-3D6E-CF02-9F6B-79CBDEF7865C}"/>
              </a:ext>
            </a:extLst>
          </p:cNvPr>
          <p:cNvCxnSpPr>
            <a:cxnSpLocks/>
          </p:cNvCxnSpPr>
          <p:nvPr/>
        </p:nvCxnSpPr>
        <p:spPr>
          <a:xfrm>
            <a:off x="1127816" y="557389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844B825-0FA9-807B-386B-FD5C60CF8D07}"/>
              </a:ext>
            </a:extLst>
          </p:cNvPr>
          <p:cNvCxnSpPr>
            <a:cxnSpLocks/>
          </p:cNvCxnSpPr>
          <p:nvPr/>
        </p:nvCxnSpPr>
        <p:spPr>
          <a:xfrm>
            <a:off x="1127816" y="611677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ulturista contorno">
            <a:extLst>
              <a:ext uri="{FF2B5EF4-FFF2-40B4-BE49-F238E27FC236}">
                <a16:creationId xmlns:a16="http://schemas.microsoft.com/office/drawing/2014/main" id="{78AFDF09-2ABE-8553-A68B-FA202BD0B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86114" y="3073557"/>
            <a:ext cx="457199" cy="4571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AD14225-F756-5695-365E-054CB330488E}"/>
              </a:ext>
            </a:extLst>
          </p:cNvPr>
          <p:cNvSpPr txBox="1"/>
          <p:nvPr/>
        </p:nvSpPr>
        <p:spPr>
          <a:xfrm>
            <a:off x="3200116" y="3193185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Min </a:t>
            </a:r>
            <a:r>
              <a:rPr lang="it-IT" sz="1400" dirty="0" err="1">
                <a:latin typeface="Georgia" panose="02040502050405020303" pitchFamily="18" charset="0"/>
              </a:rPr>
              <a:t>child</a:t>
            </a:r>
            <a:r>
              <a:rPr lang="it-IT" sz="1400" dirty="0">
                <a:latin typeface="Georgia" panose="02040502050405020303" pitchFamily="18" charset="0"/>
              </a:rPr>
              <a:t> 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44D4C1-472B-0256-C88D-2F3E703B2C9E}"/>
              </a:ext>
            </a:extLst>
          </p:cNvPr>
          <p:cNvSpPr txBox="1"/>
          <p:nvPr/>
        </p:nvSpPr>
        <p:spPr>
          <a:xfrm>
            <a:off x="3200116" y="3724738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Gamma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CFB564-FAE3-B785-D8F2-30EB2B0FA790}"/>
              </a:ext>
            </a:extLst>
          </p:cNvPr>
          <p:cNvSpPr txBox="1"/>
          <p:nvPr/>
        </p:nvSpPr>
        <p:spPr>
          <a:xfrm>
            <a:off x="3200116" y="4256291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Subsample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369417-C232-8D5C-BFEC-5718E5257447}"/>
              </a:ext>
            </a:extLst>
          </p:cNvPr>
          <p:cNvSpPr txBox="1"/>
          <p:nvPr/>
        </p:nvSpPr>
        <p:spPr>
          <a:xfrm>
            <a:off x="3200116" y="4787844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Colsample</a:t>
            </a:r>
            <a:r>
              <a:rPr lang="it-IT" sz="1400" dirty="0">
                <a:latin typeface="Georgia" panose="02040502050405020303" pitchFamily="18" charset="0"/>
              </a:rPr>
              <a:t> by </a:t>
            </a:r>
            <a:r>
              <a:rPr lang="it-IT" sz="1400" dirty="0" err="1">
                <a:latin typeface="Georgia" panose="02040502050405020303" pitchFamily="18" charset="0"/>
              </a:rPr>
              <a:t>tree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F496EE-819B-5D0D-410E-87DAEA60A6CD}"/>
              </a:ext>
            </a:extLst>
          </p:cNvPr>
          <p:cNvSpPr txBox="1"/>
          <p:nvPr/>
        </p:nvSpPr>
        <p:spPr>
          <a:xfrm>
            <a:off x="3200116" y="5319397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Lambda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1C8A25-ADAC-A56E-9637-CA736F44F3B6}"/>
              </a:ext>
            </a:extLst>
          </p:cNvPr>
          <p:cNvSpPr txBox="1"/>
          <p:nvPr/>
        </p:nvSpPr>
        <p:spPr>
          <a:xfrm>
            <a:off x="3200116" y="5850952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Alpha</a:t>
            </a:r>
          </a:p>
        </p:txBody>
      </p:sp>
      <p:pic>
        <p:nvPicPr>
          <p:cNvPr id="73" name="Graphic 72" descr="Tabella contorno">
            <a:extLst>
              <a:ext uri="{FF2B5EF4-FFF2-40B4-BE49-F238E27FC236}">
                <a16:creationId xmlns:a16="http://schemas.microsoft.com/office/drawing/2014/main" id="{E1C77712-6391-FA48-D03A-66289A5A7F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86114" y="4674427"/>
            <a:ext cx="457199" cy="457199"/>
          </a:xfrm>
          <a:prstGeom prst="rect">
            <a:avLst/>
          </a:prstGeom>
        </p:spPr>
      </p:pic>
      <p:pic>
        <p:nvPicPr>
          <p:cNvPr id="74" name="Graphic 73" descr="Scudo medievale contorno">
            <a:extLst>
              <a:ext uri="{FF2B5EF4-FFF2-40B4-BE49-F238E27FC236}">
                <a16:creationId xmlns:a16="http://schemas.microsoft.com/office/drawing/2014/main" id="{61B6F0D4-57BC-1137-CB54-B8BF644303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700880" y="3602861"/>
            <a:ext cx="427667" cy="427667"/>
          </a:xfrm>
          <a:prstGeom prst="rect">
            <a:avLst/>
          </a:prstGeom>
        </p:spPr>
      </p:pic>
      <p:pic>
        <p:nvPicPr>
          <p:cNvPr id="75" name="Graphic 74" descr="Pesi irregolari contorno">
            <a:extLst>
              <a:ext uri="{FF2B5EF4-FFF2-40B4-BE49-F238E27FC236}">
                <a16:creationId xmlns:a16="http://schemas.microsoft.com/office/drawing/2014/main" id="{24CE594E-BF99-7145-8319-8BC870DB1C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672071" y="5203731"/>
            <a:ext cx="485285" cy="485285"/>
          </a:xfrm>
          <a:prstGeom prst="rect">
            <a:avLst/>
          </a:prstGeom>
        </p:spPr>
      </p:pic>
      <p:pic>
        <p:nvPicPr>
          <p:cNvPr id="76" name="Graphic 75" descr="Clipboard Mixed outline">
            <a:extLst>
              <a:ext uri="{FF2B5EF4-FFF2-40B4-BE49-F238E27FC236}">
                <a16:creationId xmlns:a16="http://schemas.microsoft.com/office/drawing/2014/main" id="{F6140B15-519C-0525-C2BF-DDB01790E4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64869" y="4102633"/>
            <a:ext cx="499689" cy="499689"/>
          </a:xfrm>
          <a:prstGeom prst="rect">
            <a:avLst/>
          </a:prstGeom>
        </p:spPr>
      </p:pic>
      <p:pic>
        <p:nvPicPr>
          <p:cNvPr id="77" name="Graphic 76" descr="Forbici contorno">
            <a:extLst>
              <a:ext uri="{FF2B5EF4-FFF2-40B4-BE49-F238E27FC236}">
                <a16:creationId xmlns:a16="http://schemas.microsoft.com/office/drawing/2014/main" id="{298DD15E-BC8E-5D53-C37C-9D0E160529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686113" y="5761121"/>
            <a:ext cx="457200" cy="457200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AC40B84-6027-FAE5-AE96-D71B55C5323D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A037ACF-4C25-8415-F578-193CE5FAE2CF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FCC67B7-5363-260B-049F-1340B8E863D6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BA5BE67-F737-EFE0-F2F9-3FA84734D5BE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B394E55E-C590-8738-1EAA-D12498D61B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6" name="Graphic 72" descr="Gears outline">
            <a:extLst>
              <a:ext uri="{FF2B5EF4-FFF2-40B4-BE49-F238E27FC236}">
                <a16:creationId xmlns:a16="http://schemas.microsoft.com/office/drawing/2014/main" id="{A11B7242-77A2-2630-8B5D-11112DB3DCF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1892" y="758136"/>
            <a:ext cx="731847" cy="731847"/>
          </a:xfrm>
          <a:prstGeom prst="rect">
            <a:avLst/>
          </a:prstGeom>
        </p:spPr>
      </p:pic>
      <p:pic>
        <p:nvPicPr>
          <p:cNvPr id="8" name="Elemento grafico 7" descr="Gerarchia contorno">
            <a:extLst>
              <a:ext uri="{FF2B5EF4-FFF2-40B4-BE49-F238E27FC236}">
                <a16:creationId xmlns:a16="http://schemas.microsoft.com/office/drawing/2014/main" id="{9AE4BB96-3F9F-0268-475F-BAEF9421378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64869" y="2564068"/>
            <a:ext cx="499690" cy="499690"/>
          </a:xfrm>
          <a:prstGeom prst="rect">
            <a:avLst/>
          </a:prstGeom>
        </p:spPr>
      </p:pic>
      <p:cxnSp>
        <p:nvCxnSpPr>
          <p:cNvPr id="9" name="Straight Connector 45">
            <a:extLst>
              <a:ext uri="{FF2B5EF4-FFF2-40B4-BE49-F238E27FC236}">
                <a16:creationId xmlns:a16="http://schemas.microsoft.com/office/drawing/2014/main" id="{78EB5A5D-9A2E-F352-546D-5DB810222EAA}"/>
              </a:ext>
            </a:extLst>
          </p:cNvPr>
          <p:cNvCxnSpPr>
            <a:cxnSpLocks/>
          </p:cNvCxnSpPr>
          <p:nvPr/>
        </p:nvCxnSpPr>
        <p:spPr>
          <a:xfrm>
            <a:off x="1127815" y="1489983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53">
            <a:extLst>
              <a:ext uri="{FF2B5EF4-FFF2-40B4-BE49-F238E27FC236}">
                <a16:creationId xmlns:a16="http://schemas.microsoft.com/office/drawing/2014/main" id="{F90124C4-CDA7-41FC-7EF5-DFC53331BE22}"/>
              </a:ext>
            </a:extLst>
          </p:cNvPr>
          <p:cNvCxnSpPr>
            <a:cxnSpLocks/>
          </p:cNvCxnSpPr>
          <p:nvPr/>
        </p:nvCxnSpPr>
        <p:spPr>
          <a:xfrm>
            <a:off x="1127815" y="1841117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55">
            <a:extLst>
              <a:ext uri="{FF2B5EF4-FFF2-40B4-BE49-F238E27FC236}">
                <a16:creationId xmlns:a16="http://schemas.microsoft.com/office/drawing/2014/main" id="{5AF586D3-71E2-CD92-B8B1-E069C4FF89D7}"/>
              </a:ext>
            </a:extLst>
          </p:cNvPr>
          <p:cNvSpPr txBox="1"/>
          <p:nvPr/>
        </p:nvSpPr>
        <p:spPr>
          <a:xfrm>
            <a:off x="3176524" y="2186511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Learning rate</a:t>
            </a:r>
          </a:p>
        </p:txBody>
      </p:sp>
      <p:pic>
        <p:nvPicPr>
          <p:cNvPr id="3" name="Picture 54" descr="Passi di danza contorno">
            <a:extLst>
              <a:ext uri="{FF2B5EF4-FFF2-40B4-BE49-F238E27FC236}">
                <a16:creationId xmlns:a16="http://schemas.microsoft.com/office/drawing/2014/main" id="{0DE66CF4-BCC2-C63A-DB89-42532889D2F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2691134" y="1496929"/>
            <a:ext cx="485390" cy="485390"/>
          </a:xfrm>
          <a:prstGeom prst="rect">
            <a:avLst/>
          </a:prstGeom>
        </p:spPr>
      </p:pic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19B314F-76AE-AB00-7205-A581E4DC5E06}"/>
              </a:ext>
            </a:extLst>
          </p:cNvPr>
          <p:cNvCxnSpPr>
            <a:cxnSpLocks/>
          </p:cNvCxnSpPr>
          <p:nvPr/>
        </p:nvCxnSpPr>
        <p:spPr>
          <a:xfrm>
            <a:off x="12296028" y="1555831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297885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439E2087-8A20-B911-9B9A-70F3FE82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PREDICTION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387C81-892C-4653-ACB5-7C48CF069DB2}"/>
              </a:ext>
            </a:extLst>
          </p:cNvPr>
          <p:cNvSpPr txBox="1"/>
          <p:nvPr/>
        </p:nvSpPr>
        <p:spPr>
          <a:xfrm>
            <a:off x="1728099" y="802242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Parameter tunning</a:t>
            </a:r>
            <a:endParaRPr lang="it-IT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AB803-8968-7A4E-8652-55A16E943C8F}"/>
              </a:ext>
            </a:extLst>
          </p:cNvPr>
          <p:cNvSpPr txBox="1"/>
          <p:nvPr/>
        </p:nvSpPr>
        <p:spPr>
          <a:xfrm>
            <a:off x="6096000" y="1727790"/>
            <a:ext cx="52050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Main problem</a:t>
            </a:r>
            <a:r>
              <a:rPr lang="en-US" sz="2000" dirty="0">
                <a:latin typeface="Georgia" panose="02040502050405020303" pitchFamily="18" charset="0"/>
              </a:rPr>
              <a:t>: we have a total number of 9 parameters to test, each one of them with at least 5 different values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E07228-2EF1-395F-4886-82CB144776A7}"/>
              </a:ext>
            </a:extLst>
          </p:cNvPr>
          <p:cNvSpPr txBox="1"/>
          <p:nvPr/>
        </p:nvSpPr>
        <p:spPr>
          <a:xfrm>
            <a:off x="1288949" y="1093059"/>
            <a:ext cx="2730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XGBoost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parameters</a:t>
            </a:r>
            <a:endParaRPr lang="it-IT" b="1" dirty="0">
              <a:latin typeface="Georgia" panose="02040502050405020303" pitchFamily="18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F42C83B-4CB0-3AB1-74B4-387540F884D7}"/>
              </a:ext>
            </a:extLst>
          </p:cNvPr>
          <p:cNvCxnSpPr>
            <a:cxnSpLocks/>
          </p:cNvCxnSpPr>
          <p:nvPr/>
        </p:nvCxnSpPr>
        <p:spPr>
          <a:xfrm>
            <a:off x="1127816" y="196546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6745B8-BE30-B472-7809-BAF2F3829562}"/>
              </a:ext>
            </a:extLst>
          </p:cNvPr>
          <p:cNvCxnSpPr>
            <a:cxnSpLocks/>
          </p:cNvCxnSpPr>
          <p:nvPr/>
        </p:nvCxnSpPr>
        <p:spPr>
          <a:xfrm>
            <a:off x="1127816" y="250834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57806F6-D6C3-4AC2-F2E1-11A0FB343C5A}"/>
              </a:ext>
            </a:extLst>
          </p:cNvPr>
          <p:cNvCxnSpPr>
            <a:cxnSpLocks/>
          </p:cNvCxnSpPr>
          <p:nvPr/>
        </p:nvCxnSpPr>
        <p:spPr>
          <a:xfrm>
            <a:off x="1127816" y="305123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EB79502-F7FA-D787-A7C1-447C89525E4B}"/>
              </a:ext>
            </a:extLst>
          </p:cNvPr>
          <p:cNvCxnSpPr>
            <a:cxnSpLocks/>
          </p:cNvCxnSpPr>
          <p:nvPr/>
        </p:nvCxnSpPr>
        <p:spPr>
          <a:xfrm>
            <a:off x="1127816" y="3594112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21A881-4E46-0ED1-3F07-5A5398F60F7E}"/>
              </a:ext>
            </a:extLst>
          </p:cNvPr>
          <p:cNvCxnSpPr>
            <a:cxnSpLocks/>
          </p:cNvCxnSpPr>
          <p:nvPr/>
        </p:nvCxnSpPr>
        <p:spPr>
          <a:xfrm>
            <a:off x="1127816" y="4136994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2077A5-903B-2F98-C301-CF55043732F2}"/>
              </a:ext>
            </a:extLst>
          </p:cNvPr>
          <p:cNvCxnSpPr>
            <a:cxnSpLocks/>
          </p:cNvCxnSpPr>
          <p:nvPr/>
        </p:nvCxnSpPr>
        <p:spPr>
          <a:xfrm>
            <a:off x="1127816" y="467987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D25C43-B74D-A8D6-6F5F-619683A37624}"/>
              </a:ext>
            </a:extLst>
          </p:cNvPr>
          <p:cNvCxnSpPr>
            <a:cxnSpLocks/>
          </p:cNvCxnSpPr>
          <p:nvPr/>
        </p:nvCxnSpPr>
        <p:spPr>
          <a:xfrm>
            <a:off x="1127816" y="522275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6414E8-8D28-9A9D-59E5-567CAB953569}"/>
              </a:ext>
            </a:extLst>
          </p:cNvPr>
          <p:cNvCxnSpPr>
            <a:cxnSpLocks/>
          </p:cNvCxnSpPr>
          <p:nvPr/>
        </p:nvCxnSpPr>
        <p:spPr>
          <a:xfrm>
            <a:off x="1127816" y="576564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8BEE50A-4300-3802-6E3C-F1148C97A670}"/>
              </a:ext>
            </a:extLst>
          </p:cNvPr>
          <p:cNvCxnSpPr>
            <a:cxnSpLocks/>
          </p:cNvCxnSpPr>
          <p:nvPr/>
        </p:nvCxnSpPr>
        <p:spPr>
          <a:xfrm>
            <a:off x="1127816" y="231660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Grafico di tendenza al ribasso contorno">
            <a:extLst>
              <a:ext uri="{FF2B5EF4-FFF2-40B4-BE49-F238E27FC236}">
                <a16:creationId xmlns:a16="http://schemas.microsoft.com/office/drawing/2014/main" id="{DF189772-5BF1-C6C6-2029-0DAEA8537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10722" y="2060028"/>
            <a:ext cx="412120" cy="41212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B6FBFDE-DC6F-AE92-DC9B-265CB90C575B}"/>
              </a:ext>
            </a:extLst>
          </p:cNvPr>
          <p:cNvSpPr txBox="1"/>
          <p:nvPr/>
        </p:nvSpPr>
        <p:spPr>
          <a:xfrm>
            <a:off x="3122842" y="1648594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Max delta step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E2A0A4B-F51B-3EB4-8687-951BCAF0AF2C}"/>
              </a:ext>
            </a:extLst>
          </p:cNvPr>
          <p:cNvCxnSpPr>
            <a:cxnSpLocks/>
          </p:cNvCxnSpPr>
          <p:nvPr/>
        </p:nvCxnSpPr>
        <p:spPr>
          <a:xfrm>
            <a:off x="1127816" y="285948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87896E8-44BE-B536-01ED-1B36E1F08B69}"/>
              </a:ext>
            </a:extLst>
          </p:cNvPr>
          <p:cNvSpPr txBox="1"/>
          <p:nvPr/>
        </p:nvSpPr>
        <p:spPr>
          <a:xfrm>
            <a:off x="3200116" y="2661632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Max </a:t>
            </a:r>
            <a:r>
              <a:rPr lang="it-IT" sz="1400" dirty="0" err="1">
                <a:latin typeface="Georgia" panose="02040502050405020303" pitchFamily="18" charset="0"/>
              </a:rPr>
              <a:t>tree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depth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FF0C82C-0943-08B5-9975-8CECC1951A47}"/>
              </a:ext>
            </a:extLst>
          </p:cNvPr>
          <p:cNvCxnSpPr>
            <a:cxnSpLocks/>
          </p:cNvCxnSpPr>
          <p:nvPr/>
        </p:nvCxnSpPr>
        <p:spPr>
          <a:xfrm>
            <a:off x="1127816" y="340236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2E72E5B-9B6C-4A0E-7C4A-7F2DD067F245}"/>
              </a:ext>
            </a:extLst>
          </p:cNvPr>
          <p:cNvCxnSpPr>
            <a:cxnSpLocks/>
          </p:cNvCxnSpPr>
          <p:nvPr/>
        </p:nvCxnSpPr>
        <p:spPr>
          <a:xfrm>
            <a:off x="1127816" y="3945246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E791E9B-0173-D4D8-84DB-0A1330160801}"/>
              </a:ext>
            </a:extLst>
          </p:cNvPr>
          <p:cNvCxnSpPr>
            <a:cxnSpLocks/>
          </p:cNvCxnSpPr>
          <p:nvPr/>
        </p:nvCxnSpPr>
        <p:spPr>
          <a:xfrm>
            <a:off x="1127816" y="4488128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6B1008C-7CAE-5307-0400-BAC5078F5546}"/>
              </a:ext>
            </a:extLst>
          </p:cNvPr>
          <p:cNvCxnSpPr>
            <a:cxnSpLocks/>
          </p:cNvCxnSpPr>
          <p:nvPr/>
        </p:nvCxnSpPr>
        <p:spPr>
          <a:xfrm>
            <a:off x="1127816" y="503101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2F48396-3D6E-CF02-9F6B-79CBDEF7865C}"/>
              </a:ext>
            </a:extLst>
          </p:cNvPr>
          <p:cNvCxnSpPr>
            <a:cxnSpLocks/>
          </p:cNvCxnSpPr>
          <p:nvPr/>
        </p:nvCxnSpPr>
        <p:spPr>
          <a:xfrm>
            <a:off x="1127816" y="557389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844B825-0FA9-807B-386B-FD5C60CF8D07}"/>
              </a:ext>
            </a:extLst>
          </p:cNvPr>
          <p:cNvCxnSpPr>
            <a:cxnSpLocks/>
          </p:cNvCxnSpPr>
          <p:nvPr/>
        </p:nvCxnSpPr>
        <p:spPr>
          <a:xfrm>
            <a:off x="1127816" y="611677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ulturista contorno">
            <a:extLst>
              <a:ext uri="{FF2B5EF4-FFF2-40B4-BE49-F238E27FC236}">
                <a16:creationId xmlns:a16="http://schemas.microsoft.com/office/drawing/2014/main" id="{78AFDF09-2ABE-8553-A68B-FA202BD0B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86114" y="3073557"/>
            <a:ext cx="457199" cy="4571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AD14225-F756-5695-365E-054CB330488E}"/>
              </a:ext>
            </a:extLst>
          </p:cNvPr>
          <p:cNvSpPr txBox="1"/>
          <p:nvPr/>
        </p:nvSpPr>
        <p:spPr>
          <a:xfrm>
            <a:off x="3200116" y="3193185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Min </a:t>
            </a:r>
            <a:r>
              <a:rPr lang="it-IT" sz="1400" dirty="0" err="1">
                <a:latin typeface="Georgia" panose="02040502050405020303" pitchFamily="18" charset="0"/>
              </a:rPr>
              <a:t>child</a:t>
            </a:r>
            <a:r>
              <a:rPr lang="it-IT" sz="1400" dirty="0">
                <a:latin typeface="Georgia" panose="02040502050405020303" pitchFamily="18" charset="0"/>
              </a:rPr>
              <a:t> 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44D4C1-472B-0256-C88D-2F3E703B2C9E}"/>
              </a:ext>
            </a:extLst>
          </p:cNvPr>
          <p:cNvSpPr txBox="1"/>
          <p:nvPr/>
        </p:nvSpPr>
        <p:spPr>
          <a:xfrm>
            <a:off x="3200116" y="3724738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Gamma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CFB564-FAE3-B785-D8F2-30EB2B0FA790}"/>
              </a:ext>
            </a:extLst>
          </p:cNvPr>
          <p:cNvSpPr txBox="1"/>
          <p:nvPr/>
        </p:nvSpPr>
        <p:spPr>
          <a:xfrm>
            <a:off x="3200116" y="4256291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Subsample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369417-C232-8D5C-BFEC-5718E5257447}"/>
              </a:ext>
            </a:extLst>
          </p:cNvPr>
          <p:cNvSpPr txBox="1"/>
          <p:nvPr/>
        </p:nvSpPr>
        <p:spPr>
          <a:xfrm>
            <a:off x="3200116" y="4787844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Colsample</a:t>
            </a:r>
            <a:r>
              <a:rPr lang="it-IT" sz="1400" dirty="0">
                <a:latin typeface="Georgia" panose="02040502050405020303" pitchFamily="18" charset="0"/>
              </a:rPr>
              <a:t> by </a:t>
            </a:r>
            <a:r>
              <a:rPr lang="it-IT" sz="1400" dirty="0" err="1">
                <a:latin typeface="Georgia" panose="02040502050405020303" pitchFamily="18" charset="0"/>
              </a:rPr>
              <a:t>tree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F496EE-819B-5D0D-410E-87DAEA60A6CD}"/>
              </a:ext>
            </a:extLst>
          </p:cNvPr>
          <p:cNvSpPr txBox="1"/>
          <p:nvPr/>
        </p:nvSpPr>
        <p:spPr>
          <a:xfrm>
            <a:off x="3200116" y="5319397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Lambda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1C8A25-ADAC-A56E-9637-CA736F44F3B6}"/>
              </a:ext>
            </a:extLst>
          </p:cNvPr>
          <p:cNvSpPr txBox="1"/>
          <p:nvPr/>
        </p:nvSpPr>
        <p:spPr>
          <a:xfrm>
            <a:off x="3200116" y="5850952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Alpha</a:t>
            </a:r>
          </a:p>
        </p:txBody>
      </p:sp>
      <p:pic>
        <p:nvPicPr>
          <p:cNvPr id="73" name="Graphic 72" descr="Tabella contorno">
            <a:extLst>
              <a:ext uri="{FF2B5EF4-FFF2-40B4-BE49-F238E27FC236}">
                <a16:creationId xmlns:a16="http://schemas.microsoft.com/office/drawing/2014/main" id="{E1C77712-6391-FA48-D03A-66289A5A7F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86114" y="4674427"/>
            <a:ext cx="457199" cy="457199"/>
          </a:xfrm>
          <a:prstGeom prst="rect">
            <a:avLst/>
          </a:prstGeom>
        </p:spPr>
      </p:pic>
      <p:pic>
        <p:nvPicPr>
          <p:cNvPr id="74" name="Graphic 73" descr="Scudo medievale contorno">
            <a:extLst>
              <a:ext uri="{FF2B5EF4-FFF2-40B4-BE49-F238E27FC236}">
                <a16:creationId xmlns:a16="http://schemas.microsoft.com/office/drawing/2014/main" id="{61B6F0D4-57BC-1137-CB54-B8BF644303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700880" y="3602861"/>
            <a:ext cx="427667" cy="427667"/>
          </a:xfrm>
          <a:prstGeom prst="rect">
            <a:avLst/>
          </a:prstGeom>
        </p:spPr>
      </p:pic>
      <p:pic>
        <p:nvPicPr>
          <p:cNvPr id="75" name="Graphic 74" descr="Pesi irregolari contorno">
            <a:extLst>
              <a:ext uri="{FF2B5EF4-FFF2-40B4-BE49-F238E27FC236}">
                <a16:creationId xmlns:a16="http://schemas.microsoft.com/office/drawing/2014/main" id="{24CE594E-BF99-7145-8319-8BC870DB1C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672071" y="5203731"/>
            <a:ext cx="485285" cy="485285"/>
          </a:xfrm>
          <a:prstGeom prst="rect">
            <a:avLst/>
          </a:prstGeom>
        </p:spPr>
      </p:pic>
      <p:pic>
        <p:nvPicPr>
          <p:cNvPr id="76" name="Graphic 75" descr="Clipboard Mixed outline">
            <a:extLst>
              <a:ext uri="{FF2B5EF4-FFF2-40B4-BE49-F238E27FC236}">
                <a16:creationId xmlns:a16="http://schemas.microsoft.com/office/drawing/2014/main" id="{F6140B15-519C-0525-C2BF-DDB01790E4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64869" y="4102633"/>
            <a:ext cx="499689" cy="499689"/>
          </a:xfrm>
          <a:prstGeom prst="rect">
            <a:avLst/>
          </a:prstGeom>
        </p:spPr>
      </p:pic>
      <p:pic>
        <p:nvPicPr>
          <p:cNvPr id="77" name="Graphic 76" descr="Forbici contorno">
            <a:extLst>
              <a:ext uri="{FF2B5EF4-FFF2-40B4-BE49-F238E27FC236}">
                <a16:creationId xmlns:a16="http://schemas.microsoft.com/office/drawing/2014/main" id="{298DD15E-BC8E-5D53-C37C-9D0E160529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686113" y="5761121"/>
            <a:ext cx="457200" cy="457200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AC40B84-6027-FAE5-AE96-D71B55C5323D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A037ACF-4C25-8415-F578-193CE5FAE2CF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FCC67B7-5363-260B-049F-1340B8E863D6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BA5BE67-F737-EFE0-F2F9-3FA84734D5BE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B394E55E-C590-8738-1EAA-D12498D61B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6" name="Graphic 72" descr="Gears outline">
            <a:extLst>
              <a:ext uri="{FF2B5EF4-FFF2-40B4-BE49-F238E27FC236}">
                <a16:creationId xmlns:a16="http://schemas.microsoft.com/office/drawing/2014/main" id="{A11B7242-77A2-2630-8B5D-11112DB3DCF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1892" y="758136"/>
            <a:ext cx="731847" cy="731847"/>
          </a:xfrm>
          <a:prstGeom prst="rect">
            <a:avLst/>
          </a:prstGeom>
        </p:spPr>
      </p:pic>
      <p:pic>
        <p:nvPicPr>
          <p:cNvPr id="8" name="Elemento grafico 7" descr="Gerarchia contorno">
            <a:extLst>
              <a:ext uri="{FF2B5EF4-FFF2-40B4-BE49-F238E27FC236}">
                <a16:creationId xmlns:a16="http://schemas.microsoft.com/office/drawing/2014/main" id="{9AE4BB96-3F9F-0268-475F-BAEF9421378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64869" y="2564068"/>
            <a:ext cx="499690" cy="499690"/>
          </a:xfrm>
          <a:prstGeom prst="rect">
            <a:avLst/>
          </a:prstGeom>
        </p:spPr>
      </p:pic>
      <p:cxnSp>
        <p:nvCxnSpPr>
          <p:cNvPr id="9" name="Straight Connector 45">
            <a:extLst>
              <a:ext uri="{FF2B5EF4-FFF2-40B4-BE49-F238E27FC236}">
                <a16:creationId xmlns:a16="http://schemas.microsoft.com/office/drawing/2014/main" id="{78EB5A5D-9A2E-F352-546D-5DB810222EAA}"/>
              </a:ext>
            </a:extLst>
          </p:cNvPr>
          <p:cNvCxnSpPr>
            <a:cxnSpLocks/>
          </p:cNvCxnSpPr>
          <p:nvPr/>
        </p:nvCxnSpPr>
        <p:spPr>
          <a:xfrm>
            <a:off x="1127815" y="1489983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53">
            <a:extLst>
              <a:ext uri="{FF2B5EF4-FFF2-40B4-BE49-F238E27FC236}">
                <a16:creationId xmlns:a16="http://schemas.microsoft.com/office/drawing/2014/main" id="{F90124C4-CDA7-41FC-7EF5-DFC53331BE22}"/>
              </a:ext>
            </a:extLst>
          </p:cNvPr>
          <p:cNvCxnSpPr>
            <a:cxnSpLocks/>
          </p:cNvCxnSpPr>
          <p:nvPr/>
        </p:nvCxnSpPr>
        <p:spPr>
          <a:xfrm>
            <a:off x="1127815" y="1841117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55">
            <a:extLst>
              <a:ext uri="{FF2B5EF4-FFF2-40B4-BE49-F238E27FC236}">
                <a16:creationId xmlns:a16="http://schemas.microsoft.com/office/drawing/2014/main" id="{5AF586D3-71E2-CD92-B8B1-E069C4FF89D7}"/>
              </a:ext>
            </a:extLst>
          </p:cNvPr>
          <p:cNvSpPr txBox="1"/>
          <p:nvPr/>
        </p:nvSpPr>
        <p:spPr>
          <a:xfrm>
            <a:off x="3176524" y="2186511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Learning rate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65723EE7-4834-DCA3-803E-40741C6F4526}"/>
              </a:ext>
            </a:extLst>
          </p:cNvPr>
          <p:cNvSpPr txBox="1"/>
          <p:nvPr/>
        </p:nvSpPr>
        <p:spPr>
          <a:xfrm>
            <a:off x="12192000" y="3453954"/>
            <a:ext cx="738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5</a:t>
            </a:r>
            <a:r>
              <a:rPr lang="it-IT" sz="2400" baseline="30000" dirty="0">
                <a:latin typeface="Superscript"/>
              </a:rPr>
              <a:t>9    </a:t>
            </a:r>
            <a:r>
              <a:rPr lang="it-IT" baseline="30000" dirty="0">
                <a:latin typeface="Superscript"/>
              </a:rPr>
              <a:t>            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18" name="TextBox 55">
            <a:extLst>
              <a:ext uri="{FF2B5EF4-FFF2-40B4-BE49-F238E27FC236}">
                <a16:creationId xmlns:a16="http://schemas.microsoft.com/office/drawing/2014/main" id="{7CA64777-6AEF-75F7-F25F-1492CDECF20F}"/>
              </a:ext>
            </a:extLst>
          </p:cNvPr>
          <p:cNvSpPr txBox="1"/>
          <p:nvPr/>
        </p:nvSpPr>
        <p:spPr>
          <a:xfrm>
            <a:off x="12841623" y="3471108"/>
            <a:ext cx="5205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Georgia" panose="02040502050405020303" pitchFamily="18" charset="0"/>
              </a:rPr>
              <a:t>= </a:t>
            </a:r>
            <a:r>
              <a:rPr lang="it-IT" sz="2400" dirty="0"/>
              <a:t> </a:t>
            </a:r>
            <a:r>
              <a:rPr lang="it-IT" sz="2400" dirty="0">
                <a:latin typeface="Georgia" panose="02040502050405020303" pitchFamily="18" charset="0"/>
              </a:rPr>
              <a:t> 1.953.125 </a:t>
            </a:r>
            <a:r>
              <a:rPr lang="it-IT" sz="2400" dirty="0" err="1">
                <a:latin typeface="Georgia" panose="02040502050405020303" pitchFamily="18" charset="0"/>
              </a:rPr>
              <a:t>possible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combinations</a:t>
            </a:r>
            <a:r>
              <a:rPr lang="it-IT" sz="2400" dirty="0">
                <a:latin typeface="Georgia" panose="02040502050405020303" pitchFamily="18" charset="0"/>
              </a:rPr>
              <a:t> !</a:t>
            </a:r>
          </a:p>
        </p:txBody>
      </p:sp>
      <p:pic>
        <p:nvPicPr>
          <p:cNvPr id="3" name="Picture 54" descr="Passi di danza contorno">
            <a:extLst>
              <a:ext uri="{FF2B5EF4-FFF2-40B4-BE49-F238E27FC236}">
                <a16:creationId xmlns:a16="http://schemas.microsoft.com/office/drawing/2014/main" id="{0DE66CF4-BCC2-C63A-DB89-42532889D2F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2691134" y="1496929"/>
            <a:ext cx="485390" cy="485390"/>
          </a:xfrm>
          <a:prstGeom prst="rect">
            <a:avLst/>
          </a:prstGeom>
        </p:spPr>
      </p:pic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B3FF8913-EEC4-5603-C35E-F169B3D29F6F}"/>
              </a:ext>
            </a:extLst>
          </p:cNvPr>
          <p:cNvCxnSpPr>
            <a:cxnSpLocks/>
          </p:cNvCxnSpPr>
          <p:nvPr/>
        </p:nvCxnSpPr>
        <p:spPr>
          <a:xfrm>
            <a:off x="5399928" y="184111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55">
            <a:extLst>
              <a:ext uri="{FF2B5EF4-FFF2-40B4-BE49-F238E27FC236}">
                <a16:creationId xmlns:a16="http://schemas.microsoft.com/office/drawing/2014/main" id="{6200F0A5-CD9D-B404-4E43-488CBD49CF93}"/>
              </a:ext>
            </a:extLst>
          </p:cNvPr>
          <p:cNvSpPr txBox="1"/>
          <p:nvPr/>
        </p:nvSpPr>
        <p:spPr>
          <a:xfrm>
            <a:off x="12526607" y="4564068"/>
            <a:ext cx="5850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We tuned the parameters following a </a:t>
            </a:r>
            <a:r>
              <a:rPr lang="en-US" sz="2400" b="1" dirty="0">
                <a:latin typeface="Georgia" panose="02040502050405020303" pitchFamily="18" charset="0"/>
              </a:rPr>
              <a:t>step-by-step process</a:t>
            </a:r>
            <a:r>
              <a:rPr lang="en-US" sz="2400" dirty="0">
                <a:latin typeface="Georgia" panose="02040502050405020303" pitchFamily="18" charset="0"/>
              </a:rPr>
              <a:t>, adjusting one parameter at a time.</a:t>
            </a:r>
            <a:endParaRPr lang="it-IT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327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439E2087-8A20-B911-9B9A-70F3FE82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PREDICTION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387C81-892C-4653-ACB5-7C48CF069DB2}"/>
              </a:ext>
            </a:extLst>
          </p:cNvPr>
          <p:cNvSpPr txBox="1"/>
          <p:nvPr/>
        </p:nvSpPr>
        <p:spPr>
          <a:xfrm>
            <a:off x="1728099" y="802242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Parameter tunning</a:t>
            </a:r>
            <a:endParaRPr lang="it-IT" sz="2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E07228-2EF1-395F-4886-82CB144776A7}"/>
              </a:ext>
            </a:extLst>
          </p:cNvPr>
          <p:cNvSpPr txBox="1"/>
          <p:nvPr/>
        </p:nvSpPr>
        <p:spPr>
          <a:xfrm>
            <a:off x="1288949" y="1093059"/>
            <a:ext cx="2730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XGBoost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parameters</a:t>
            </a:r>
            <a:endParaRPr lang="it-IT" b="1" dirty="0">
              <a:latin typeface="Georgia" panose="02040502050405020303" pitchFamily="18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F42C83B-4CB0-3AB1-74B4-387540F884D7}"/>
              </a:ext>
            </a:extLst>
          </p:cNvPr>
          <p:cNvCxnSpPr>
            <a:cxnSpLocks/>
          </p:cNvCxnSpPr>
          <p:nvPr/>
        </p:nvCxnSpPr>
        <p:spPr>
          <a:xfrm>
            <a:off x="1127816" y="196546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6745B8-BE30-B472-7809-BAF2F3829562}"/>
              </a:ext>
            </a:extLst>
          </p:cNvPr>
          <p:cNvCxnSpPr>
            <a:cxnSpLocks/>
          </p:cNvCxnSpPr>
          <p:nvPr/>
        </p:nvCxnSpPr>
        <p:spPr>
          <a:xfrm>
            <a:off x="1127816" y="250834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57806F6-D6C3-4AC2-F2E1-11A0FB343C5A}"/>
              </a:ext>
            </a:extLst>
          </p:cNvPr>
          <p:cNvCxnSpPr>
            <a:cxnSpLocks/>
          </p:cNvCxnSpPr>
          <p:nvPr/>
        </p:nvCxnSpPr>
        <p:spPr>
          <a:xfrm>
            <a:off x="1127816" y="305123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EB79502-F7FA-D787-A7C1-447C89525E4B}"/>
              </a:ext>
            </a:extLst>
          </p:cNvPr>
          <p:cNvCxnSpPr>
            <a:cxnSpLocks/>
          </p:cNvCxnSpPr>
          <p:nvPr/>
        </p:nvCxnSpPr>
        <p:spPr>
          <a:xfrm>
            <a:off x="1127816" y="3594112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21A881-4E46-0ED1-3F07-5A5398F60F7E}"/>
              </a:ext>
            </a:extLst>
          </p:cNvPr>
          <p:cNvCxnSpPr>
            <a:cxnSpLocks/>
          </p:cNvCxnSpPr>
          <p:nvPr/>
        </p:nvCxnSpPr>
        <p:spPr>
          <a:xfrm>
            <a:off x="1127816" y="4136994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2077A5-903B-2F98-C301-CF55043732F2}"/>
              </a:ext>
            </a:extLst>
          </p:cNvPr>
          <p:cNvCxnSpPr>
            <a:cxnSpLocks/>
          </p:cNvCxnSpPr>
          <p:nvPr/>
        </p:nvCxnSpPr>
        <p:spPr>
          <a:xfrm>
            <a:off x="1127816" y="467987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D25C43-B74D-A8D6-6F5F-619683A37624}"/>
              </a:ext>
            </a:extLst>
          </p:cNvPr>
          <p:cNvCxnSpPr>
            <a:cxnSpLocks/>
          </p:cNvCxnSpPr>
          <p:nvPr/>
        </p:nvCxnSpPr>
        <p:spPr>
          <a:xfrm>
            <a:off x="1127816" y="522275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6414E8-8D28-9A9D-59E5-567CAB953569}"/>
              </a:ext>
            </a:extLst>
          </p:cNvPr>
          <p:cNvCxnSpPr>
            <a:cxnSpLocks/>
          </p:cNvCxnSpPr>
          <p:nvPr/>
        </p:nvCxnSpPr>
        <p:spPr>
          <a:xfrm>
            <a:off x="1127816" y="576564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8BEE50A-4300-3802-6E3C-F1148C97A670}"/>
              </a:ext>
            </a:extLst>
          </p:cNvPr>
          <p:cNvCxnSpPr>
            <a:cxnSpLocks/>
          </p:cNvCxnSpPr>
          <p:nvPr/>
        </p:nvCxnSpPr>
        <p:spPr>
          <a:xfrm>
            <a:off x="1127816" y="231660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Grafico di tendenza al ribasso contorno">
            <a:extLst>
              <a:ext uri="{FF2B5EF4-FFF2-40B4-BE49-F238E27FC236}">
                <a16:creationId xmlns:a16="http://schemas.microsoft.com/office/drawing/2014/main" id="{DF189772-5BF1-C6C6-2029-0DAEA8537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10722" y="2060028"/>
            <a:ext cx="412120" cy="41212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B6FBFDE-DC6F-AE92-DC9B-265CB90C575B}"/>
              </a:ext>
            </a:extLst>
          </p:cNvPr>
          <p:cNvSpPr txBox="1"/>
          <p:nvPr/>
        </p:nvSpPr>
        <p:spPr>
          <a:xfrm>
            <a:off x="3122842" y="1648594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Max delta step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E2A0A4B-F51B-3EB4-8687-951BCAF0AF2C}"/>
              </a:ext>
            </a:extLst>
          </p:cNvPr>
          <p:cNvCxnSpPr>
            <a:cxnSpLocks/>
          </p:cNvCxnSpPr>
          <p:nvPr/>
        </p:nvCxnSpPr>
        <p:spPr>
          <a:xfrm>
            <a:off x="1127816" y="285948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87896E8-44BE-B536-01ED-1B36E1F08B69}"/>
              </a:ext>
            </a:extLst>
          </p:cNvPr>
          <p:cNvSpPr txBox="1"/>
          <p:nvPr/>
        </p:nvSpPr>
        <p:spPr>
          <a:xfrm>
            <a:off x="3200116" y="2661632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Max </a:t>
            </a:r>
            <a:r>
              <a:rPr lang="it-IT" sz="1400" dirty="0" err="1">
                <a:latin typeface="Georgia" panose="02040502050405020303" pitchFamily="18" charset="0"/>
              </a:rPr>
              <a:t>tree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depth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FF0C82C-0943-08B5-9975-8CECC1951A47}"/>
              </a:ext>
            </a:extLst>
          </p:cNvPr>
          <p:cNvCxnSpPr>
            <a:cxnSpLocks/>
          </p:cNvCxnSpPr>
          <p:nvPr/>
        </p:nvCxnSpPr>
        <p:spPr>
          <a:xfrm>
            <a:off x="1127816" y="340236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2E72E5B-9B6C-4A0E-7C4A-7F2DD067F245}"/>
              </a:ext>
            </a:extLst>
          </p:cNvPr>
          <p:cNvCxnSpPr>
            <a:cxnSpLocks/>
          </p:cNvCxnSpPr>
          <p:nvPr/>
        </p:nvCxnSpPr>
        <p:spPr>
          <a:xfrm>
            <a:off x="1127816" y="3945246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E791E9B-0173-D4D8-84DB-0A1330160801}"/>
              </a:ext>
            </a:extLst>
          </p:cNvPr>
          <p:cNvCxnSpPr>
            <a:cxnSpLocks/>
          </p:cNvCxnSpPr>
          <p:nvPr/>
        </p:nvCxnSpPr>
        <p:spPr>
          <a:xfrm>
            <a:off x="1127816" y="4488128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6B1008C-7CAE-5307-0400-BAC5078F5546}"/>
              </a:ext>
            </a:extLst>
          </p:cNvPr>
          <p:cNvCxnSpPr>
            <a:cxnSpLocks/>
          </p:cNvCxnSpPr>
          <p:nvPr/>
        </p:nvCxnSpPr>
        <p:spPr>
          <a:xfrm>
            <a:off x="1127816" y="503101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2F48396-3D6E-CF02-9F6B-79CBDEF7865C}"/>
              </a:ext>
            </a:extLst>
          </p:cNvPr>
          <p:cNvCxnSpPr>
            <a:cxnSpLocks/>
          </p:cNvCxnSpPr>
          <p:nvPr/>
        </p:nvCxnSpPr>
        <p:spPr>
          <a:xfrm>
            <a:off x="1127816" y="557389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844B825-0FA9-807B-386B-FD5C60CF8D07}"/>
              </a:ext>
            </a:extLst>
          </p:cNvPr>
          <p:cNvCxnSpPr>
            <a:cxnSpLocks/>
          </p:cNvCxnSpPr>
          <p:nvPr/>
        </p:nvCxnSpPr>
        <p:spPr>
          <a:xfrm>
            <a:off x="1127816" y="611677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ulturista contorno">
            <a:extLst>
              <a:ext uri="{FF2B5EF4-FFF2-40B4-BE49-F238E27FC236}">
                <a16:creationId xmlns:a16="http://schemas.microsoft.com/office/drawing/2014/main" id="{78AFDF09-2ABE-8553-A68B-FA202BD0B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86114" y="3073557"/>
            <a:ext cx="457199" cy="4571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AD14225-F756-5695-365E-054CB330488E}"/>
              </a:ext>
            </a:extLst>
          </p:cNvPr>
          <p:cNvSpPr txBox="1"/>
          <p:nvPr/>
        </p:nvSpPr>
        <p:spPr>
          <a:xfrm>
            <a:off x="3200116" y="3193185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Min </a:t>
            </a:r>
            <a:r>
              <a:rPr lang="it-IT" sz="1400" dirty="0" err="1">
                <a:latin typeface="Georgia" panose="02040502050405020303" pitchFamily="18" charset="0"/>
              </a:rPr>
              <a:t>child</a:t>
            </a:r>
            <a:r>
              <a:rPr lang="it-IT" sz="1400" dirty="0">
                <a:latin typeface="Georgia" panose="02040502050405020303" pitchFamily="18" charset="0"/>
              </a:rPr>
              <a:t> 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44D4C1-472B-0256-C88D-2F3E703B2C9E}"/>
              </a:ext>
            </a:extLst>
          </p:cNvPr>
          <p:cNvSpPr txBox="1"/>
          <p:nvPr/>
        </p:nvSpPr>
        <p:spPr>
          <a:xfrm>
            <a:off x="3200116" y="3724738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Gamma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CFB564-FAE3-B785-D8F2-30EB2B0FA790}"/>
              </a:ext>
            </a:extLst>
          </p:cNvPr>
          <p:cNvSpPr txBox="1"/>
          <p:nvPr/>
        </p:nvSpPr>
        <p:spPr>
          <a:xfrm>
            <a:off x="3200116" y="4256291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Subsample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369417-C232-8D5C-BFEC-5718E5257447}"/>
              </a:ext>
            </a:extLst>
          </p:cNvPr>
          <p:cNvSpPr txBox="1"/>
          <p:nvPr/>
        </p:nvSpPr>
        <p:spPr>
          <a:xfrm>
            <a:off x="3200116" y="4787844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Colsample</a:t>
            </a:r>
            <a:r>
              <a:rPr lang="it-IT" sz="1400" dirty="0">
                <a:latin typeface="Georgia" panose="02040502050405020303" pitchFamily="18" charset="0"/>
              </a:rPr>
              <a:t> by </a:t>
            </a:r>
            <a:r>
              <a:rPr lang="it-IT" sz="1400" dirty="0" err="1">
                <a:latin typeface="Georgia" panose="02040502050405020303" pitchFamily="18" charset="0"/>
              </a:rPr>
              <a:t>tree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F496EE-819B-5D0D-410E-87DAEA60A6CD}"/>
              </a:ext>
            </a:extLst>
          </p:cNvPr>
          <p:cNvSpPr txBox="1"/>
          <p:nvPr/>
        </p:nvSpPr>
        <p:spPr>
          <a:xfrm>
            <a:off x="3200116" y="5319397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Lambda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1C8A25-ADAC-A56E-9637-CA736F44F3B6}"/>
              </a:ext>
            </a:extLst>
          </p:cNvPr>
          <p:cNvSpPr txBox="1"/>
          <p:nvPr/>
        </p:nvSpPr>
        <p:spPr>
          <a:xfrm>
            <a:off x="3200116" y="5850952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Alpha</a:t>
            </a:r>
          </a:p>
        </p:txBody>
      </p:sp>
      <p:pic>
        <p:nvPicPr>
          <p:cNvPr id="73" name="Graphic 72" descr="Tabella contorno">
            <a:extLst>
              <a:ext uri="{FF2B5EF4-FFF2-40B4-BE49-F238E27FC236}">
                <a16:creationId xmlns:a16="http://schemas.microsoft.com/office/drawing/2014/main" id="{E1C77712-6391-FA48-D03A-66289A5A7F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86114" y="4674427"/>
            <a:ext cx="457199" cy="457199"/>
          </a:xfrm>
          <a:prstGeom prst="rect">
            <a:avLst/>
          </a:prstGeom>
        </p:spPr>
      </p:pic>
      <p:pic>
        <p:nvPicPr>
          <p:cNvPr id="74" name="Graphic 73" descr="Scudo medievale contorno">
            <a:extLst>
              <a:ext uri="{FF2B5EF4-FFF2-40B4-BE49-F238E27FC236}">
                <a16:creationId xmlns:a16="http://schemas.microsoft.com/office/drawing/2014/main" id="{61B6F0D4-57BC-1137-CB54-B8BF644303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700880" y="3602861"/>
            <a:ext cx="427667" cy="427667"/>
          </a:xfrm>
          <a:prstGeom prst="rect">
            <a:avLst/>
          </a:prstGeom>
        </p:spPr>
      </p:pic>
      <p:pic>
        <p:nvPicPr>
          <p:cNvPr id="75" name="Graphic 74" descr="Pesi irregolari contorno">
            <a:extLst>
              <a:ext uri="{FF2B5EF4-FFF2-40B4-BE49-F238E27FC236}">
                <a16:creationId xmlns:a16="http://schemas.microsoft.com/office/drawing/2014/main" id="{24CE594E-BF99-7145-8319-8BC870DB1C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672071" y="5203731"/>
            <a:ext cx="485285" cy="485285"/>
          </a:xfrm>
          <a:prstGeom prst="rect">
            <a:avLst/>
          </a:prstGeom>
        </p:spPr>
      </p:pic>
      <p:pic>
        <p:nvPicPr>
          <p:cNvPr id="76" name="Graphic 75" descr="Clipboard Mixed outline">
            <a:extLst>
              <a:ext uri="{FF2B5EF4-FFF2-40B4-BE49-F238E27FC236}">
                <a16:creationId xmlns:a16="http://schemas.microsoft.com/office/drawing/2014/main" id="{F6140B15-519C-0525-C2BF-DDB01790E4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64869" y="4102633"/>
            <a:ext cx="499689" cy="499689"/>
          </a:xfrm>
          <a:prstGeom prst="rect">
            <a:avLst/>
          </a:prstGeom>
        </p:spPr>
      </p:pic>
      <p:pic>
        <p:nvPicPr>
          <p:cNvPr id="77" name="Graphic 76" descr="Forbici contorno">
            <a:extLst>
              <a:ext uri="{FF2B5EF4-FFF2-40B4-BE49-F238E27FC236}">
                <a16:creationId xmlns:a16="http://schemas.microsoft.com/office/drawing/2014/main" id="{298DD15E-BC8E-5D53-C37C-9D0E160529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686113" y="5761121"/>
            <a:ext cx="457200" cy="457200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AC40B84-6027-FAE5-AE96-D71B55C5323D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A037ACF-4C25-8415-F578-193CE5FAE2CF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FCC67B7-5363-260B-049F-1340B8E863D6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BA5BE67-F737-EFE0-F2F9-3FA84734D5BE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B394E55E-C590-8738-1EAA-D12498D61B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6" name="Graphic 72" descr="Gears outline">
            <a:extLst>
              <a:ext uri="{FF2B5EF4-FFF2-40B4-BE49-F238E27FC236}">
                <a16:creationId xmlns:a16="http://schemas.microsoft.com/office/drawing/2014/main" id="{A11B7242-77A2-2630-8B5D-11112DB3DCF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1892" y="758136"/>
            <a:ext cx="731847" cy="731847"/>
          </a:xfrm>
          <a:prstGeom prst="rect">
            <a:avLst/>
          </a:prstGeom>
        </p:spPr>
      </p:pic>
      <p:pic>
        <p:nvPicPr>
          <p:cNvPr id="8" name="Elemento grafico 7" descr="Gerarchia contorno">
            <a:extLst>
              <a:ext uri="{FF2B5EF4-FFF2-40B4-BE49-F238E27FC236}">
                <a16:creationId xmlns:a16="http://schemas.microsoft.com/office/drawing/2014/main" id="{9AE4BB96-3F9F-0268-475F-BAEF9421378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64869" y="2564068"/>
            <a:ext cx="499690" cy="499690"/>
          </a:xfrm>
          <a:prstGeom prst="rect">
            <a:avLst/>
          </a:prstGeom>
        </p:spPr>
      </p:pic>
      <p:cxnSp>
        <p:nvCxnSpPr>
          <p:cNvPr id="9" name="Straight Connector 45">
            <a:extLst>
              <a:ext uri="{FF2B5EF4-FFF2-40B4-BE49-F238E27FC236}">
                <a16:creationId xmlns:a16="http://schemas.microsoft.com/office/drawing/2014/main" id="{78EB5A5D-9A2E-F352-546D-5DB810222EAA}"/>
              </a:ext>
            </a:extLst>
          </p:cNvPr>
          <p:cNvCxnSpPr>
            <a:cxnSpLocks/>
          </p:cNvCxnSpPr>
          <p:nvPr/>
        </p:nvCxnSpPr>
        <p:spPr>
          <a:xfrm>
            <a:off x="1127815" y="1489983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53">
            <a:extLst>
              <a:ext uri="{FF2B5EF4-FFF2-40B4-BE49-F238E27FC236}">
                <a16:creationId xmlns:a16="http://schemas.microsoft.com/office/drawing/2014/main" id="{F90124C4-CDA7-41FC-7EF5-DFC53331BE22}"/>
              </a:ext>
            </a:extLst>
          </p:cNvPr>
          <p:cNvCxnSpPr>
            <a:cxnSpLocks/>
          </p:cNvCxnSpPr>
          <p:nvPr/>
        </p:nvCxnSpPr>
        <p:spPr>
          <a:xfrm>
            <a:off x="1127815" y="1841117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55">
            <a:extLst>
              <a:ext uri="{FF2B5EF4-FFF2-40B4-BE49-F238E27FC236}">
                <a16:creationId xmlns:a16="http://schemas.microsoft.com/office/drawing/2014/main" id="{5AF586D3-71E2-CD92-B8B1-E069C4FF89D7}"/>
              </a:ext>
            </a:extLst>
          </p:cNvPr>
          <p:cNvSpPr txBox="1"/>
          <p:nvPr/>
        </p:nvSpPr>
        <p:spPr>
          <a:xfrm>
            <a:off x="3176524" y="2186511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Learning rate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65723EE7-4834-DCA3-803E-40741C6F4526}"/>
              </a:ext>
            </a:extLst>
          </p:cNvPr>
          <p:cNvSpPr txBox="1"/>
          <p:nvPr/>
        </p:nvSpPr>
        <p:spPr>
          <a:xfrm>
            <a:off x="5874082" y="3412507"/>
            <a:ext cx="738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5</a:t>
            </a:r>
            <a:r>
              <a:rPr lang="it-IT" sz="2400" baseline="30000" dirty="0">
                <a:latin typeface="Superscript"/>
              </a:rPr>
              <a:t>9    </a:t>
            </a:r>
            <a:r>
              <a:rPr lang="it-IT" baseline="30000" dirty="0">
                <a:latin typeface="Superscript"/>
              </a:rPr>
              <a:t>            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18" name="TextBox 55">
            <a:extLst>
              <a:ext uri="{FF2B5EF4-FFF2-40B4-BE49-F238E27FC236}">
                <a16:creationId xmlns:a16="http://schemas.microsoft.com/office/drawing/2014/main" id="{7CA64777-6AEF-75F7-F25F-1492CDECF20F}"/>
              </a:ext>
            </a:extLst>
          </p:cNvPr>
          <p:cNvSpPr txBox="1"/>
          <p:nvPr/>
        </p:nvSpPr>
        <p:spPr>
          <a:xfrm>
            <a:off x="6531186" y="3437462"/>
            <a:ext cx="5205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Georgia" panose="02040502050405020303" pitchFamily="18" charset="0"/>
              </a:rPr>
              <a:t>= </a:t>
            </a:r>
            <a:r>
              <a:rPr lang="it-IT" sz="2400" dirty="0"/>
              <a:t> </a:t>
            </a:r>
            <a:r>
              <a:rPr lang="it-IT" sz="2400" dirty="0">
                <a:latin typeface="Georgia" panose="02040502050405020303" pitchFamily="18" charset="0"/>
              </a:rPr>
              <a:t> 1.953.125 </a:t>
            </a:r>
            <a:r>
              <a:rPr lang="it-IT" sz="2400" dirty="0" err="1">
                <a:latin typeface="Georgia" panose="02040502050405020303" pitchFamily="18" charset="0"/>
              </a:rPr>
              <a:t>possible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combinations</a:t>
            </a:r>
            <a:r>
              <a:rPr lang="it-IT" sz="2400" dirty="0">
                <a:latin typeface="Georgia" panose="02040502050405020303" pitchFamily="18" charset="0"/>
              </a:rPr>
              <a:t> !</a:t>
            </a:r>
          </a:p>
        </p:txBody>
      </p:sp>
      <p:pic>
        <p:nvPicPr>
          <p:cNvPr id="3" name="Picture 54" descr="Passi di danza contorno">
            <a:extLst>
              <a:ext uri="{FF2B5EF4-FFF2-40B4-BE49-F238E27FC236}">
                <a16:creationId xmlns:a16="http://schemas.microsoft.com/office/drawing/2014/main" id="{0DE66CF4-BCC2-C63A-DB89-42532889D2F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2691134" y="1496929"/>
            <a:ext cx="485390" cy="485390"/>
          </a:xfrm>
          <a:prstGeom prst="rect">
            <a:avLst/>
          </a:prstGeom>
        </p:spPr>
      </p:pic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B3FF8913-EEC4-5603-C35E-F169B3D29F6F}"/>
              </a:ext>
            </a:extLst>
          </p:cNvPr>
          <p:cNvCxnSpPr>
            <a:cxnSpLocks/>
          </p:cNvCxnSpPr>
          <p:nvPr/>
        </p:nvCxnSpPr>
        <p:spPr>
          <a:xfrm>
            <a:off x="5399928" y="184111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55">
            <a:extLst>
              <a:ext uri="{FF2B5EF4-FFF2-40B4-BE49-F238E27FC236}">
                <a16:creationId xmlns:a16="http://schemas.microsoft.com/office/drawing/2014/main" id="{310220E1-514B-E913-FA88-3F55787F77AF}"/>
              </a:ext>
            </a:extLst>
          </p:cNvPr>
          <p:cNvSpPr txBox="1"/>
          <p:nvPr/>
        </p:nvSpPr>
        <p:spPr>
          <a:xfrm>
            <a:off x="12526607" y="4564068"/>
            <a:ext cx="5850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We tuned the parameters following a </a:t>
            </a:r>
            <a:r>
              <a:rPr lang="en-US" sz="2400" b="1" dirty="0">
                <a:latin typeface="Georgia" panose="02040502050405020303" pitchFamily="18" charset="0"/>
              </a:rPr>
              <a:t>step-by-step process</a:t>
            </a:r>
            <a:r>
              <a:rPr lang="en-US" sz="2400" dirty="0">
                <a:latin typeface="Georgia" panose="02040502050405020303" pitchFamily="18" charset="0"/>
              </a:rPr>
              <a:t>, adjusting one parameter at a time.</a:t>
            </a:r>
            <a:endParaRPr lang="it-IT" sz="2400" dirty="0">
              <a:latin typeface="Georgia" panose="02040502050405020303" pitchFamily="18" charset="0"/>
            </a:endParaRPr>
          </a:p>
        </p:txBody>
      </p:sp>
      <p:pic>
        <p:nvPicPr>
          <p:cNvPr id="13" name="Elemento grafico 12" descr="Luci accese contorno">
            <a:extLst>
              <a:ext uri="{FF2B5EF4-FFF2-40B4-BE49-F238E27FC236}">
                <a16:creationId xmlns:a16="http://schemas.microsoft.com/office/drawing/2014/main" id="{53CCDC76-D1E4-61FF-E07A-13754BF1454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606984" y="6858000"/>
            <a:ext cx="914400" cy="914400"/>
          </a:xfrm>
          <a:prstGeom prst="rect">
            <a:avLst/>
          </a:prstGeom>
        </p:spPr>
      </p:pic>
      <p:sp>
        <p:nvSpPr>
          <p:cNvPr id="19" name="TextBox 1">
            <a:extLst>
              <a:ext uri="{FF2B5EF4-FFF2-40B4-BE49-F238E27FC236}">
                <a16:creationId xmlns:a16="http://schemas.microsoft.com/office/drawing/2014/main" id="{D0848A46-C661-A856-0875-E2A6BDFF5BF8}"/>
              </a:ext>
            </a:extLst>
          </p:cNvPr>
          <p:cNvSpPr txBox="1"/>
          <p:nvPr/>
        </p:nvSpPr>
        <p:spPr>
          <a:xfrm>
            <a:off x="6096000" y="1727790"/>
            <a:ext cx="52050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Main problem</a:t>
            </a:r>
            <a:r>
              <a:rPr lang="en-US" sz="2000" dirty="0">
                <a:latin typeface="Georgia" panose="02040502050405020303" pitchFamily="18" charset="0"/>
              </a:rPr>
              <a:t>: we have a total number of 9 parameters to test, each one of them with at least 5 different values</a:t>
            </a:r>
            <a:endParaRPr lang="it-IT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854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439E2087-8A20-B911-9B9A-70F3FE82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PREDICTION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387C81-892C-4653-ACB5-7C48CF069DB2}"/>
              </a:ext>
            </a:extLst>
          </p:cNvPr>
          <p:cNvSpPr txBox="1"/>
          <p:nvPr/>
        </p:nvSpPr>
        <p:spPr>
          <a:xfrm>
            <a:off x="1728099" y="802242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Parameter tunning</a:t>
            </a:r>
            <a:endParaRPr lang="it-IT" sz="2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E07228-2EF1-395F-4886-82CB144776A7}"/>
              </a:ext>
            </a:extLst>
          </p:cNvPr>
          <p:cNvSpPr txBox="1"/>
          <p:nvPr/>
        </p:nvSpPr>
        <p:spPr>
          <a:xfrm>
            <a:off x="1288949" y="1093059"/>
            <a:ext cx="2730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Georgia" panose="02040502050405020303" pitchFamily="18" charset="0"/>
              </a:rPr>
              <a:t>XGBoost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parameters</a:t>
            </a:r>
            <a:endParaRPr lang="it-IT" b="1" dirty="0">
              <a:latin typeface="Georgia" panose="02040502050405020303" pitchFamily="18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F42C83B-4CB0-3AB1-74B4-387540F884D7}"/>
              </a:ext>
            </a:extLst>
          </p:cNvPr>
          <p:cNvCxnSpPr>
            <a:cxnSpLocks/>
          </p:cNvCxnSpPr>
          <p:nvPr/>
        </p:nvCxnSpPr>
        <p:spPr>
          <a:xfrm>
            <a:off x="1127816" y="196546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6745B8-BE30-B472-7809-BAF2F3829562}"/>
              </a:ext>
            </a:extLst>
          </p:cNvPr>
          <p:cNvCxnSpPr>
            <a:cxnSpLocks/>
          </p:cNvCxnSpPr>
          <p:nvPr/>
        </p:nvCxnSpPr>
        <p:spPr>
          <a:xfrm>
            <a:off x="1127816" y="250834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57806F6-D6C3-4AC2-F2E1-11A0FB343C5A}"/>
              </a:ext>
            </a:extLst>
          </p:cNvPr>
          <p:cNvCxnSpPr>
            <a:cxnSpLocks/>
          </p:cNvCxnSpPr>
          <p:nvPr/>
        </p:nvCxnSpPr>
        <p:spPr>
          <a:xfrm>
            <a:off x="1127816" y="305123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EB79502-F7FA-D787-A7C1-447C89525E4B}"/>
              </a:ext>
            </a:extLst>
          </p:cNvPr>
          <p:cNvCxnSpPr>
            <a:cxnSpLocks/>
          </p:cNvCxnSpPr>
          <p:nvPr/>
        </p:nvCxnSpPr>
        <p:spPr>
          <a:xfrm>
            <a:off x="1127816" y="3594112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21A881-4E46-0ED1-3F07-5A5398F60F7E}"/>
              </a:ext>
            </a:extLst>
          </p:cNvPr>
          <p:cNvCxnSpPr>
            <a:cxnSpLocks/>
          </p:cNvCxnSpPr>
          <p:nvPr/>
        </p:nvCxnSpPr>
        <p:spPr>
          <a:xfrm>
            <a:off x="1127816" y="4136994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2077A5-903B-2F98-C301-CF55043732F2}"/>
              </a:ext>
            </a:extLst>
          </p:cNvPr>
          <p:cNvCxnSpPr>
            <a:cxnSpLocks/>
          </p:cNvCxnSpPr>
          <p:nvPr/>
        </p:nvCxnSpPr>
        <p:spPr>
          <a:xfrm>
            <a:off x="1127816" y="4679876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6D25C43-B74D-A8D6-6F5F-619683A37624}"/>
              </a:ext>
            </a:extLst>
          </p:cNvPr>
          <p:cNvCxnSpPr>
            <a:cxnSpLocks/>
          </p:cNvCxnSpPr>
          <p:nvPr/>
        </p:nvCxnSpPr>
        <p:spPr>
          <a:xfrm>
            <a:off x="1127816" y="5222758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46414E8-8D28-9A9D-59E5-567CAB953569}"/>
              </a:ext>
            </a:extLst>
          </p:cNvPr>
          <p:cNvCxnSpPr>
            <a:cxnSpLocks/>
          </p:cNvCxnSpPr>
          <p:nvPr/>
        </p:nvCxnSpPr>
        <p:spPr>
          <a:xfrm>
            <a:off x="1127816" y="5765640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8BEE50A-4300-3802-6E3C-F1148C97A670}"/>
              </a:ext>
            </a:extLst>
          </p:cNvPr>
          <p:cNvCxnSpPr>
            <a:cxnSpLocks/>
          </p:cNvCxnSpPr>
          <p:nvPr/>
        </p:nvCxnSpPr>
        <p:spPr>
          <a:xfrm>
            <a:off x="1127816" y="231660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Grafico di tendenza al ribasso contorno">
            <a:extLst>
              <a:ext uri="{FF2B5EF4-FFF2-40B4-BE49-F238E27FC236}">
                <a16:creationId xmlns:a16="http://schemas.microsoft.com/office/drawing/2014/main" id="{DF189772-5BF1-C6C6-2029-0DAEA8537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10722" y="2060028"/>
            <a:ext cx="412120" cy="41212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B6FBFDE-DC6F-AE92-DC9B-265CB90C575B}"/>
              </a:ext>
            </a:extLst>
          </p:cNvPr>
          <p:cNvSpPr txBox="1"/>
          <p:nvPr/>
        </p:nvSpPr>
        <p:spPr>
          <a:xfrm>
            <a:off x="3122842" y="1648594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Max delta step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E2A0A4B-F51B-3EB4-8687-951BCAF0AF2C}"/>
              </a:ext>
            </a:extLst>
          </p:cNvPr>
          <p:cNvCxnSpPr>
            <a:cxnSpLocks/>
          </p:cNvCxnSpPr>
          <p:nvPr/>
        </p:nvCxnSpPr>
        <p:spPr>
          <a:xfrm>
            <a:off x="1127816" y="285948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87896E8-44BE-B536-01ED-1B36E1F08B69}"/>
              </a:ext>
            </a:extLst>
          </p:cNvPr>
          <p:cNvSpPr txBox="1"/>
          <p:nvPr/>
        </p:nvSpPr>
        <p:spPr>
          <a:xfrm>
            <a:off x="3200116" y="2661632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Max </a:t>
            </a:r>
            <a:r>
              <a:rPr lang="it-IT" sz="1400" dirty="0" err="1">
                <a:latin typeface="Georgia" panose="02040502050405020303" pitchFamily="18" charset="0"/>
              </a:rPr>
              <a:t>tree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depth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FF0C82C-0943-08B5-9975-8CECC1951A47}"/>
              </a:ext>
            </a:extLst>
          </p:cNvPr>
          <p:cNvCxnSpPr>
            <a:cxnSpLocks/>
          </p:cNvCxnSpPr>
          <p:nvPr/>
        </p:nvCxnSpPr>
        <p:spPr>
          <a:xfrm>
            <a:off x="1127816" y="340236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2E72E5B-9B6C-4A0E-7C4A-7F2DD067F245}"/>
              </a:ext>
            </a:extLst>
          </p:cNvPr>
          <p:cNvCxnSpPr>
            <a:cxnSpLocks/>
          </p:cNvCxnSpPr>
          <p:nvPr/>
        </p:nvCxnSpPr>
        <p:spPr>
          <a:xfrm>
            <a:off x="1127816" y="3945246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E791E9B-0173-D4D8-84DB-0A1330160801}"/>
              </a:ext>
            </a:extLst>
          </p:cNvPr>
          <p:cNvCxnSpPr>
            <a:cxnSpLocks/>
          </p:cNvCxnSpPr>
          <p:nvPr/>
        </p:nvCxnSpPr>
        <p:spPr>
          <a:xfrm>
            <a:off x="1127816" y="4488128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6B1008C-7CAE-5307-0400-BAC5078F5546}"/>
              </a:ext>
            </a:extLst>
          </p:cNvPr>
          <p:cNvCxnSpPr>
            <a:cxnSpLocks/>
          </p:cNvCxnSpPr>
          <p:nvPr/>
        </p:nvCxnSpPr>
        <p:spPr>
          <a:xfrm>
            <a:off x="1127816" y="5031010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2F48396-3D6E-CF02-9F6B-79CBDEF7865C}"/>
              </a:ext>
            </a:extLst>
          </p:cNvPr>
          <p:cNvCxnSpPr>
            <a:cxnSpLocks/>
          </p:cNvCxnSpPr>
          <p:nvPr/>
        </p:nvCxnSpPr>
        <p:spPr>
          <a:xfrm>
            <a:off x="1127816" y="5573892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844B825-0FA9-807B-386B-FD5C60CF8D07}"/>
              </a:ext>
            </a:extLst>
          </p:cNvPr>
          <p:cNvCxnSpPr>
            <a:cxnSpLocks/>
          </p:cNvCxnSpPr>
          <p:nvPr/>
        </p:nvCxnSpPr>
        <p:spPr>
          <a:xfrm>
            <a:off x="1127816" y="6116774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Culturista contorno">
            <a:extLst>
              <a:ext uri="{FF2B5EF4-FFF2-40B4-BE49-F238E27FC236}">
                <a16:creationId xmlns:a16="http://schemas.microsoft.com/office/drawing/2014/main" id="{78AFDF09-2ABE-8553-A68B-FA202BD0B0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686114" y="3073557"/>
            <a:ext cx="457199" cy="4571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AD14225-F756-5695-365E-054CB330488E}"/>
              </a:ext>
            </a:extLst>
          </p:cNvPr>
          <p:cNvSpPr txBox="1"/>
          <p:nvPr/>
        </p:nvSpPr>
        <p:spPr>
          <a:xfrm>
            <a:off x="3200116" y="3193185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Min </a:t>
            </a:r>
            <a:r>
              <a:rPr lang="it-IT" sz="1400" dirty="0" err="1">
                <a:latin typeface="Georgia" panose="02040502050405020303" pitchFamily="18" charset="0"/>
              </a:rPr>
              <a:t>child</a:t>
            </a:r>
            <a:r>
              <a:rPr lang="it-IT" sz="1400" dirty="0">
                <a:latin typeface="Georgia" panose="02040502050405020303" pitchFamily="18" charset="0"/>
              </a:rPr>
              <a:t> 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44D4C1-472B-0256-C88D-2F3E703B2C9E}"/>
              </a:ext>
            </a:extLst>
          </p:cNvPr>
          <p:cNvSpPr txBox="1"/>
          <p:nvPr/>
        </p:nvSpPr>
        <p:spPr>
          <a:xfrm>
            <a:off x="3200116" y="3724738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Gamma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CFB564-FAE3-B785-D8F2-30EB2B0FA790}"/>
              </a:ext>
            </a:extLst>
          </p:cNvPr>
          <p:cNvSpPr txBox="1"/>
          <p:nvPr/>
        </p:nvSpPr>
        <p:spPr>
          <a:xfrm>
            <a:off x="3200116" y="4256291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Subsample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369417-C232-8D5C-BFEC-5718E5257447}"/>
              </a:ext>
            </a:extLst>
          </p:cNvPr>
          <p:cNvSpPr txBox="1"/>
          <p:nvPr/>
        </p:nvSpPr>
        <p:spPr>
          <a:xfrm>
            <a:off x="3200116" y="4787844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Georgia" panose="02040502050405020303" pitchFamily="18" charset="0"/>
              </a:rPr>
              <a:t>Colsample</a:t>
            </a:r>
            <a:r>
              <a:rPr lang="it-IT" sz="1400" dirty="0">
                <a:latin typeface="Georgia" panose="02040502050405020303" pitchFamily="18" charset="0"/>
              </a:rPr>
              <a:t> by </a:t>
            </a:r>
            <a:r>
              <a:rPr lang="it-IT" sz="1400" dirty="0" err="1">
                <a:latin typeface="Georgia" panose="02040502050405020303" pitchFamily="18" charset="0"/>
              </a:rPr>
              <a:t>tree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F496EE-819B-5D0D-410E-87DAEA60A6CD}"/>
              </a:ext>
            </a:extLst>
          </p:cNvPr>
          <p:cNvSpPr txBox="1"/>
          <p:nvPr/>
        </p:nvSpPr>
        <p:spPr>
          <a:xfrm>
            <a:off x="3200116" y="5319397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Lambda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1C8A25-ADAC-A56E-9637-CA736F44F3B6}"/>
              </a:ext>
            </a:extLst>
          </p:cNvPr>
          <p:cNvSpPr txBox="1"/>
          <p:nvPr/>
        </p:nvSpPr>
        <p:spPr>
          <a:xfrm>
            <a:off x="3200116" y="5850952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Alpha</a:t>
            </a:r>
          </a:p>
        </p:txBody>
      </p:sp>
      <p:pic>
        <p:nvPicPr>
          <p:cNvPr id="73" name="Graphic 72" descr="Tabella contorno">
            <a:extLst>
              <a:ext uri="{FF2B5EF4-FFF2-40B4-BE49-F238E27FC236}">
                <a16:creationId xmlns:a16="http://schemas.microsoft.com/office/drawing/2014/main" id="{E1C77712-6391-FA48-D03A-66289A5A7F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686114" y="4674427"/>
            <a:ext cx="457199" cy="457199"/>
          </a:xfrm>
          <a:prstGeom prst="rect">
            <a:avLst/>
          </a:prstGeom>
        </p:spPr>
      </p:pic>
      <p:pic>
        <p:nvPicPr>
          <p:cNvPr id="74" name="Graphic 73" descr="Scudo medievale contorno">
            <a:extLst>
              <a:ext uri="{FF2B5EF4-FFF2-40B4-BE49-F238E27FC236}">
                <a16:creationId xmlns:a16="http://schemas.microsoft.com/office/drawing/2014/main" id="{61B6F0D4-57BC-1137-CB54-B8BF644303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700880" y="3602861"/>
            <a:ext cx="427667" cy="427667"/>
          </a:xfrm>
          <a:prstGeom prst="rect">
            <a:avLst/>
          </a:prstGeom>
        </p:spPr>
      </p:pic>
      <p:pic>
        <p:nvPicPr>
          <p:cNvPr id="75" name="Graphic 74" descr="Pesi irregolari contorno">
            <a:extLst>
              <a:ext uri="{FF2B5EF4-FFF2-40B4-BE49-F238E27FC236}">
                <a16:creationId xmlns:a16="http://schemas.microsoft.com/office/drawing/2014/main" id="{24CE594E-BF99-7145-8319-8BC870DB1C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672071" y="5203731"/>
            <a:ext cx="485285" cy="485285"/>
          </a:xfrm>
          <a:prstGeom prst="rect">
            <a:avLst/>
          </a:prstGeom>
        </p:spPr>
      </p:pic>
      <p:pic>
        <p:nvPicPr>
          <p:cNvPr id="76" name="Graphic 75" descr="Clipboard Mixed outline">
            <a:extLst>
              <a:ext uri="{FF2B5EF4-FFF2-40B4-BE49-F238E27FC236}">
                <a16:creationId xmlns:a16="http://schemas.microsoft.com/office/drawing/2014/main" id="{F6140B15-519C-0525-C2BF-DDB01790E48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64869" y="4102633"/>
            <a:ext cx="499689" cy="499689"/>
          </a:xfrm>
          <a:prstGeom prst="rect">
            <a:avLst/>
          </a:prstGeom>
        </p:spPr>
      </p:pic>
      <p:pic>
        <p:nvPicPr>
          <p:cNvPr id="77" name="Graphic 76" descr="Forbici contorno">
            <a:extLst>
              <a:ext uri="{FF2B5EF4-FFF2-40B4-BE49-F238E27FC236}">
                <a16:creationId xmlns:a16="http://schemas.microsoft.com/office/drawing/2014/main" id="{298DD15E-BC8E-5D53-C37C-9D0E160529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686113" y="5761121"/>
            <a:ext cx="457200" cy="457200"/>
          </a:xfrm>
          <a:prstGeom prst="rect">
            <a:avLst/>
          </a:prstGeom>
        </p:spPr>
      </p:pic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AC40B84-6027-FAE5-AE96-D71B55C5323D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A037ACF-4C25-8415-F578-193CE5FAE2CF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FCC67B7-5363-260B-049F-1340B8E863D6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BA5BE67-F737-EFE0-F2F9-3FA84734D5BE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B394E55E-C590-8738-1EAA-D12498D61B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6" name="Graphic 72" descr="Gears outline">
            <a:extLst>
              <a:ext uri="{FF2B5EF4-FFF2-40B4-BE49-F238E27FC236}">
                <a16:creationId xmlns:a16="http://schemas.microsoft.com/office/drawing/2014/main" id="{A11B7242-77A2-2630-8B5D-11112DB3DCF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61892" y="758136"/>
            <a:ext cx="731847" cy="731847"/>
          </a:xfrm>
          <a:prstGeom prst="rect">
            <a:avLst/>
          </a:prstGeom>
        </p:spPr>
      </p:pic>
      <p:pic>
        <p:nvPicPr>
          <p:cNvPr id="8" name="Elemento grafico 7" descr="Gerarchia contorno">
            <a:extLst>
              <a:ext uri="{FF2B5EF4-FFF2-40B4-BE49-F238E27FC236}">
                <a16:creationId xmlns:a16="http://schemas.microsoft.com/office/drawing/2014/main" id="{9AE4BB96-3F9F-0268-475F-BAEF9421378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664869" y="2564068"/>
            <a:ext cx="499690" cy="499690"/>
          </a:xfrm>
          <a:prstGeom prst="rect">
            <a:avLst/>
          </a:prstGeom>
        </p:spPr>
      </p:pic>
      <p:cxnSp>
        <p:nvCxnSpPr>
          <p:cNvPr id="9" name="Straight Connector 45">
            <a:extLst>
              <a:ext uri="{FF2B5EF4-FFF2-40B4-BE49-F238E27FC236}">
                <a16:creationId xmlns:a16="http://schemas.microsoft.com/office/drawing/2014/main" id="{78EB5A5D-9A2E-F352-546D-5DB810222EAA}"/>
              </a:ext>
            </a:extLst>
          </p:cNvPr>
          <p:cNvCxnSpPr>
            <a:cxnSpLocks/>
          </p:cNvCxnSpPr>
          <p:nvPr/>
        </p:nvCxnSpPr>
        <p:spPr>
          <a:xfrm>
            <a:off x="1127815" y="1489983"/>
            <a:ext cx="0" cy="351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53">
            <a:extLst>
              <a:ext uri="{FF2B5EF4-FFF2-40B4-BE49-F238E27FC236}">
                <a16:creationId xmlns:a16="http://schemas.microsoft.com/office/drawing/2014/main" id="{F90124C4-CDA7-41FC-7EF5-DFC53331BE22}"/>
              </a:ext>
            </a:extLst>
          </p:cNvPr>
          <p:cNvCxnSpPr>
            <a:cxnSpLocks/>
          </p:cNvCxnSpPr>
          <p:nvPr/>
        </p:nvCxnSpPr>
        <p:spPr>
          <a:xfrm>
            <a:off x="1127815" y="1841117"/>
            <a:ext cx="13499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55">
            <a:extLst>
              <a:ext uri="{FF2B5EF4-FFF2-40B4-BE49-F238E27FC236}">
                <a16:creationId xmlns:a16="http://schemas.microsoft.com/office/drawing/2014/main" id="{5AF586D3-71E2-CD92-B8B1-E069C4FF89D7}"/>
              </a:ext>
            </a:extLst>
          </p:cNvPr>
          <p:cNvSpPr txBox="1"/>
          <p:nvPr/>
        </p:nvSpPr>
        <p:spPr>
          <a:xfrm>
            <a:off x="3176524" y="2186511"/>
            <a:ext cx="1768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Learning rate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65723EE7-4834-DCA3-803E-40741C6F4526}"/>
              </a:ext>
            </a:extLst>
          </p:cNvPr>
          <p:cNvSpPr txBox="1"/>
          <p:nvPr/>
        </p:nvSpPr>
        <p:spPr>
          <a:xfrm>
            <a:off x="5874082" y="3412507"/>
            <a:ext cx="738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>
                <a:latin typeface="Georgia" panose="02040502050405020303" pitchFamily="18" charset="0"/>
              </a:rPr>
              <a:t>5</a:t>
            </a:r>
            <a:r>
              <a:rPr lang="it-IT" sz="2400" baseline="30000" dirty="0">
                <a:latin typeface="Superscript"/>
              </a:rPr>
              <a:t>9    </a:t>
            </a:r>
            <a:r>
              <a:rPr lang="it-IT" baseline="30000" dirty="0">
                <a:latin typeface="Superscript"/>
              </a:rPr>
              <a:t>            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18" name="TextBox 55">
            <a:extLst>
              <a:ext uri="{FF2B5EF4-FFF2-40B4-BE49-F238E27FC236}">
                <a16:creationId xmlns:a16="http://schemas.microsoft.com/office/drawing/2014/main" id="{7CA64777-6AEF-75F7-F25F-1492CDECF20F}"/>
              </a:ext>
            </a:extLst>
          </p:cNvPr>
          <p:cNvSpPr txBox="1"/>
          <p:nvPr/>
        </p:nvSpPr>
        <p:spPr>
          <a:xfrm>
            <a:off x="6531186" y="3437462"/>
            <a:ext cx="5205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Georgia" panose="02040502050405020303" pitchFamily="18" charset="0"/>
              </a:rPr>
              <a:t>= </a:t>
            </a:r>
            <a:r>
              <a:rPr lang="it-IT" sz="2400" dirty="0"/>
              <a:t> </a:t>
            </a:r>
            <a:r>
              <a:rPr lang="it-IT" sz="2400" dirty="0">
                <a:latin typeface="Georgia" panose="02040502050405020303" pitchFamily="18" charset="0"/>
              </a:rPr>
              <a:t> 1.953.125 </a:t>
            </a:r>
            <a:r>
              <a:rPr lang="it-IT" sz="2400" dirty="0" err="1">
                <a:latin typeface="Georgia" panose="02040502050405020303" pitchFamily="18" charset="0"/>
              </a:rPr>
              <a:t>possible</a:t>
            </a:r>
            <a:r>
              <a:rPr lang="it-IT" sz="2400" dirty="0">
                <a:latin typeface="Georgia" panose="02040502050405020303" pitchFamily="18" charset="0"/>
              </a:rPr>
              <a:t> </a:t>
            </a:r>
            <a:r>
              <a:rPr lang="it-IT" sz="2400" dirty="0" err="1">
                <a:latin typeface="Georgia" panose="02040502050405020303" pitchFamily="18" charset="0"/>
              </a:rPr>
              <a:t>combinations</a:t>
            </a:r>
            <a:r>
              <a:rPr lang="it-IT" sz="2400" dirty="0">
                <a:latin typeface="Georgia" panose="02040502050405020303" pitchFamily="18" charset="0"/>
              </a:rPr>
              <a:t> !</a:t>
            </a:r>
          </a:p>
        </p:txBody>
      </p:sp>
      <p:pic>
        <p:nvPicPr>
          <p:cNvPr id="3" name="Picture 54" descr="Passi di danza contorno">
            <a:extLst>
              <a:ext uri="{FF2B5EF4-FFF2-40B4-BE49-F238E27FC236}">
                <a16:creationId xmlns:a16="http://schemas.microsoft.com/office/drawing/2014/main" id="{0DE66CF4-BCC2-C63A-DB89-42532889D2F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2691134" y="1496929"/>
            <a:ext cx="485390" cy="485390"/>
          </a:xfrm>
          <a:prstGeom prst="rect">
            <a:avLst/>
          </a:prstGeom>
        </p:spPr>
      </p:pic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B3FF8913-EEC4-5603-C35E-F169B3D29F6F}"/>
              </a:ext>
            </a:extLst>
          </p:cNvPr>
          <p:cNvCxnSpPr>
            <a:cxnSpLocks/>
          </p:cNvCxnSpPr>
          <p:nvPr/>
        </p:nvCxnSpPr>
        <p:spPr>
          <a:xfrm>
            <a:off x="5399928" y="184111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55">
            <a:extLst>
              <a:ext uri="{FF2B5EF4-FFF2-40B4-BE49-F238E27FC236}">
                <a16:creationId xmlns:a16="http://schemas.microsoft.com/office/drawing/2014/main" id="{704283D8-45C0-24A6-3BBB-88CC7FB2DF49}"/>
              </a:ext>
            </a:extLst>
          </p:cNvPr>
          <p:cNvSpPr txBox="1"/>
          <p:nvPr/>
        </p:nvSpPr>
        <p:spPr>
          <a:xfrm>
            <a:off x="5831522" y="4373563"/>
            <a:ext cx="5850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We tuned the parameters following a </a:t>
            </a:r>
            <a:r>
              <a:rPr lang="en-US" sz="2400" b="1" dirty="0">
                <a:latin typeface="Georgia" panose="02040502050405020303" pitchFamily="18" charset="0"/>
              </a:rPr>
              <a:t>step-by-step process</a:t>
            </a:r>
            <a:r>
              <a:rPr lang="en-US" sz="2400" dirty="0">
                <a:latin typeface="Georgia" panose="02040502050405020303" pitchFamily="18" charset="0"/>
              </a:rPr>
              <a:t>, adjusting one parameter at a time.</a:t>
            </a:r>
            <a:endParaRPr lang="it-IT" sz="2400" dirty="0">
              <a:latin typeface="Georgia" panose="02040502050405020303" pitchFamily="18" charset="0"/>
            </a:endParaRPr>
          </a:p>
        </p:txBody>
      </p:sp>
      <p:pic>
        <p:nvPicPr>
          <p:cNvPr id="13" name="Elemento grafico 12" descr="Luci accese contorno">
            <a:extLst>
              <a:ext uri="{FF2B5EF4-FFF2-40B4-BE49-F238E27FC236}">
                <a16:creationId xmlns:a16="http://schemas.microsoft.com/office/drawing/2014/main" id="{5B829E60-51FA-8AD7-3FA7-F7B55515681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286153" y="5222758"/>
            <a:ext cx="914400" cy="914400"/>
          </a:xfrm>
          <a:prstGeom prst="rect">
            <a:avLst/>
          </a:prstGeom>
        </p:spPr>
      </p:pic>
      <p:sp>
        <p:nvSpPr>
          <p:cNvPr id="14" name="TextBox 1">
            <a:extLst>
              <a:ext uri="{FF2B5EF4-FFF2-40B4-BE49-F238E27FC236}">
                <a16:creationId xmlns:a16="http://schemas.microsoft.com/office/drawing/2014/main" id="{CE899B5F-8675-0566-E3FE-2FB27BBF6D07}"/>
              </a:ext>
            </a:extLst>
          </p:cNvPr>
          <p:cNvSpPr txBox="1"/>
          <p:nvPr/>
        </p:nvSpPr>
        <p:spPr>
          <a:xfrm>
            <a:off x="5859105" y="1770446"/>
            <a:ext cx="52050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Main problem</a:t>
            </a:r>
            <a:r>
              <a:rPr lang="en-US" sz="2000" dirty="0">
                <a:latin typeface="Georgia" panose="02040502050405020303" pitchFamily="18" charset="0"/>
              </a:rPr>
              <a:t>: we have a total number of 9 parameters to test, each one of them with a least 5 different values</a:t>
            </a:r>
            <a:endParaRPr lang="it-IT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002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20" name="TextBox 1">
            <a:extLst>
              <a:ext uri="{FF2B5EF4-FFF2-40B4-BE49-F238E27FC236}">
                <a16:creationId xmlns:a16="http://schemas.microsoft.com/office/drawing/2014/main" id="{1FBE5DCA-DEFA-46C6-1786-91348BF7F3C9}"/>
              </a:ext>
            </a:extLst>
          </p:cNvPr>
          <p:cNvSpPr txBox="1"/>
          <p:nvPr/>
        </p:nvSpPr>
        <p:spPr>
          <a:xfrm>
            <a:off x="-4586253" y="2191267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2. </a:t>
            </a:r>
            <a:r>
              <a:rPr lang="it-IT" dirty="0" err="1">
                <a:latin typeface="Georgia" panose="02040502050405020303" pitchFamily="18" charset="0"/>
              </a:rPr>
              <a:t>Tune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</p:txBody>
      </p:sp>
      <p:pic>
        <p:nvPicPr>
          <p:cNvPr id="24" name="Elemento grafico 23" descr="Scena di foresta contorno">
            <a:extLst>
              <a:ext uri="{FF2B5EF4-FFF2-40B4-BE49-F238E27FC236}">
                <a16:creationId xmlns:a16="http://schemas.microsoft.com/office/drawing/2014/main" id="{33433E4F-FDDC-85D5-B21F-CD5245CA2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73701" y="1917727"/>
            <a:ext cx="774820" cy="774820"/>
          </a:xfrm>
          <a:prstGeom prst="rect">
            <a:avLst/>
          </a:prstGeom>
        </p:spPr>
      </p:pic>
      <p:cxnSp>
        <p:nvCxnSpPr>
          <p:cNvPr id="25" name="Straight Arrow Connector 62">
            <a:extLst>
              <a:ext uri="{FF2B5EF4-FFF2-40B4-BE49-F238E27FC236}">
                <a16:creationId xmlns:a16="http://schemas.microsoft.com/office/drawing/2014/main" id="{5F2AE230-7443-4456-429F-531526088644}"/>
              </a:ext>
            </a:extLst>
          </p:cNvPr>
          <p:cNvCxnSpPr>
            <a:cxnSpLocks/>
          </p:cNvCxnSpPr>
          <p:nvPr/>
        </p:nvCxnSpPr>
        <p:spPr>
          <a:xfrm>
            <a:off x="16239962" y="2409134"/>
            <a:ext cx="70228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1">
            <a:extLst>
              <a:ext uri="{FF2B5EF4-FFF2-40B4-BE49-F238E27FC236}">
                <a16:creationId xmlns:a16="http://schemas.microsoft.com/office/drawing/2014/main" id="{6EBD23B9-FCBE-B08B-3776-BB0F216B3506}"/>
              </a:ext>
            </a:extLst>
          </p:cNvPr>
          <p:cNvSpPr txBox="1"/>
          <p:nvPr/>
        </p:nvSpPr>
        <p:spPr>
          <a:xfrm>
            <a:off x="17614605" y="2191267"/>
            <a:ext cx="504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That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is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also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used</a:t>
            </a:r>
            <a:r>
              <a:rPr lang="it-IT" dirty="0">
                <a:latin typeface="Georgia" panose="02040502050405020303" pitchFamily="18" charset="0"/>
              </a:rPr>
              <a:t> in the ensemble</a:t>
            </a:r>
          </a:p>
        </p:txBody>
      </p:sp>
      <p:sp>
        <p:nvSpPr>
          <p:cNvPr id="31" name="TextBox 44">
            <a:extLst>
              <a:ext uri="{FF2B5EF4-FFF2-40B4-BE49-F238E27FC236}">
                <a16:creationId xmlns:a16="http://schemas.microsoft.com/office/drawing/2014/main" id="{B3EEEE35-46C1-AACE-8B9C-D508CB5416CB}"/>
              </a:ext>
            </a:extLst>
          </p:cNvPr>
          <p:cNvSpPr txBox="1"/>
          <p:nvPr/>
        </p:nvSpPr>
        <p:spPr>
          <a:xfrm>
            <a:off x="514380" y="1638145"/>
            <a:ext cx="4025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Georgia" panose="02040502050405020303" pitchFamily="18" charset="0"/>
              </a:rPr>
              <a:t>1. Start the </a:t>
            </a:r>
            <a:r>
              <a:rPr lang="it-IT" b="1" dirty="0" err="1">
                <a:latin typeface="Georgia" panose="02040502050405020303" pitchFamily="18" charset="0"/>
              </a:rPr>
              <a:t>initial</a:t>
            </a:r>
            <a:r>
              <a:rPr lang="it-IT" b="1" dirty="0">
                <a:latin typeface="Georgia" panose="02040502050405020303" pitchFamily="18" charset="0"/>
              </a:rPr>
              <a:t> default </a:t>
            </a:r>
            <a:r>
              <a:rPr lang="it-IT" b="1" dirty="0" err="1">
                <a:latin typeface="Georgia" panose="02040502050405020303" pitchFamily="18" charset="0"/>
              </a:rPr>
              <a:t>values</a:t>
            </a:r>
            <a:endParaRPr lang="it-IT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161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Stepwise</a:t>
            </a:r>
            <a:r>
              <a:rPr lang="it-IT" sz="2800" dirty="0">
                <a:latin typeface="Georgia" panose="02040502050405020303" pitchFamily="18" charset="0"/>
              </a:rPr>
              <a:t> tuning procedure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F5FA75CC-B30D-92ED-91FA-25B885B542A6}"/>
              </a:ext>
            </a:extLst>
          </p:cNvPr>
          <p:cNvSpPr txBox="1"/>
          <p:nvPr/>
        </p:nvSpPr>
        <p:spPr>
          <a:xfrm>
            <a:off x="-5857035" y="2581489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3. Max Tree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 </a:t>
            </a:r>
          </a:p>
        </p:txBody>
      </p:sp>
      <p:cxnSp>
        <p:nvCxnSpPr>
          <p:cNvPr id="4" name="Straight Arrow Connector 62">
            <a:extLst>
              <a:ext uri="{FF2B5EF4-FFF2-40B4-BE49-F238E27FC236}">
                <a16:creationId xmlns:a16="http://schemas.microsoft.com/office/drawing/2014/main" id="{0E56CED8-0931-22A0-29AC-675C3DCB6672}"/>
              </a:ext>
            </a:extLst>
          </p:cNvPr>
          <p:cNvCxnSpPr>
            <a:cxnSpLocks/>
          </p:cNvCxnSpPr>
          <p:nvPr/>
        </p:nvCxnSpPr>
        <p:spPr>
          <a:xfrm>
            <a:off x="13007664" y="2950821"/>
            <a:ext cx="70228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1">
            <a:extLst>
              <a:ext uri="{FF2B5EF4-FFF2-40B4-BE49-F238E27FC236}">
                <a16:creationId xmlns:a16="http://schemas.microsoft.com/office/drawing/2014/main" id="{BA429A9C-8182-15E4-2789-3652F79A4C0E}"/>
              </a:ext>
            </a:extLst>
          </p:cNvPr>
          <p:cNvSpPr txBox="1"/>
          <p:nvPr/>
        </p:nvSpPr>
        <p:spPr>
          <a:xfrm>
            <a:off x="14683661" y="2677600"/>
            <a:ext cx="504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This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parameters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define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it-IT" dirty="0" err="1">
                <a:latin typeface="Georgia" panose="02040502050405020303" pitchFamily="18" charset="0"/>
              </a:rPr>
              <a:t>complexity</a:t>
            </a:r>
            <a:r>
              <a:rPr lang="it-IT" dirty="0">
                <a:latin typeface="Georgia" panose="02040502050405020303" pitchFamily="18" charset="0"/>
              </a:rPr>
              <a:t> of the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structure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7" name="Straight Arrow Connector 62">
            <a:extLst>
              <a:ext uri="{FF2B5EF4-FFF2-40B4-BE49-F238E27FC236}">
                <a16:creationId xmlns:a16="http://schemas.microsoft.com/office/drawing/2014/main" id="{837A1A73-0C5C-7229-3A02-A5E0D50F477E}"/>
              </a:ext>
            </a:extLst>
          </p:cNvPr>
          <p:cNvCxnSpPr>
            <a:cxnSpLocks/>
          </p:cNvCxnSpPr>
          <p:nvPr/>
        </p:nvCxnSpPr>
        <p:spPr>
          <a:xfrm>
            <a:off x="4672753" y="2372118"/>
            <a:ext cx="70228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Elemento grafico 7" descr="Scena di foresta contorno">
            <a:extLst>
              <a:ext uri="{FF2B5EF4-FFF2-40B4-BE49-F238E27FC236}">
                <a16:creationId xmlns:a16="http://schemas.microsoft.com/office/drawing/2014/main" id="{3620D09D-7E09-AC75-AF3E-7C4288A75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5370" y="1879916"/>
            <a:ext cx="774820" cy="767471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430791F4-ECD0-3DF0-9572-429DCAAB1D9E}"/>
              </a:ext>
            </a:extLst>
          </p:cNvPr>
          <p:cNvSpPr txBox="1"/>
          <p:nvPr/>
        </p:nvSpPr>
        <p:spPr>
          <a:xfrm>
            <a:off x="6169333" y="2085968"/>
            <a:ext cx="504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That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is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also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used</a:t>
            </a:r>
            <a:r>
              <a:rPr lang="it-IT" dirty="0">
                <a:latin typeface="Georgia" panose="02040502050405020303" pitchFamily="18" charset="0"/>
              </a:rPr>
              <a:t> in the ensemble</a:t>
            </a:r>
          </a:p>
        </p:txBody>
      </p:sp>
      <p:pic>
        <p:nvPicPr>
          <p:cNvPr id="10" name="Elemento grafico 9" descr="Gerarchia contorno">
            <a:extLst>
              <a:ext uri="{FF2B5EF4-FFF2-40B4-BE49-F238E27FC236}">
                <a16:creationId xmlns:a16="http://schemas.microsoft.com/office/drawing/2014/main" id="{14C553DF-5059-6E37-F9A3-2F77E9ED56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69614" y="2609884"/>
            <a:ext cx="714047" cy="714047"/>
          </a:xfrm>
          <a:prstGeom prst="rect">
            <a:avLst/>
          </a:prstGeom>
        </p:spPr>
      </p:pic>
      <p:sp>
        <p:nvSpPr>
          <p:cNvPr id="11" name="TextBox 44">
            <a:extLst>
              <a:ext uri="{FF2B5EF4-FFF2-40B4-BE49-F238E27FC236}">
                <a16:creationId xmlns:a16="http://schemas.microsoft.com/office/drawing/2014/main" id="{D6216F9D-65BF-8D09-B6A5-6724956E37A5}"/>
              </a:ext>
            </a:extLst>
          </p:cNvPr>
          <p:cNvSpPr txBox="1"/>
          <p:nvPr/>
        </p:nvSpPr>
        <p:spPr>
          <a:xfrm>
            <a:off x="514381" y="1638145"/>
            <a:ext cx="33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1.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CE9E838D-5A35-534D-6B53-B4874D1ACA8C}"/>
              </a:ext>
            </a:extLst>
          </p:cNvPr>
          <p:cNvSpPr txBox="1"/>
          <p:nvPr/>
        </p:nvSpPr>
        <p:spPr>
          <a:xfrm>
            <a:off x="-137395" y="2127634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2. </a:t>
            </a:r>
            <a:r>
              <a:rPr lang="it-IT" b="1" dirty="0" err="1">
                <a:latin typeface="Georgia" panose="02040502050405020303" pitchFamily="18" charset="0"/>
              </a:rPr>
              <a:t>Tune</a:t>
            </a:r>
            <a:r>
              <a:rPr lang="it-IT" b="1" dirty="0">
                <a:latin typeface="Georgia" panose="02040502050405020303" pitchFamily="18" charset="0"/>
              </a:rPr>
              <a:t> </a:t>
            </a:r>
            <a:r>
              <a:rPr lang="it-IT" b="1" dirty="0" err="1">
                <a:latin typeface="Georgia" panose="02040502050405020303" pitchFamily="18" charset="0"/>
              </a:rPr>
              <a:t>number</a:t>
            </a:r>
            <a:r>
              <a:rPr lang="it-IT" b="1" dirty="0">
                <a:latin typeface="Georgia" panose="02040502050405020303" pitchFamily="18" charset="0"/>
              </a:rPr>
              <a:t> of </a:t>
            </a:r>
            <a:r>
              <a:rPr lang="it-IT" b="1" dirty="0" err="1">
                <a:latin typeface="Georgia" panose="02040502050405020303" pitchFamily="18" charset="0"/>
              </a:rPr>
              <a:t>boosting</a:t>
            </a:r>
            <a:r>
              <a:rPr lang="it-IT" b="1" dirty="0">
                <a:latin typeface="Georgia" panose="02040502050405020303" pitchFamily="18" charset="0"/>
              </a:rPr>
              <a:t> rounds</a:t>
            </a:r>
          </a:p>
        </p:txBody>
      </p:sp>
    </p:spTree>
    <p:extLst>
      <p:ext uri="{BB962C8B-B14F-4D97-AF65-F5344CB8AC3E}">
        <p14:creationId xmlns:p14="http://schemas.microsoft.com/office/powerpoint/2010/main" val="4078340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Stepwise</a:t>
            </a:r>
            <a:r>
              <a:rPr lang="it-IT" sz="2800" dirty="0">
                <a:latin typeface="Georgia" panose="02040502050405020303" pitchFamily="18" charset="0"/>
              </a:rPr>
              <a:t> tuning procedure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cxnSp>
        <p:nvCxnSpPr>
          <p:cNvPr id="3" name="Straight Arrow Connector 62">
            <a:extLst>
              <a:ext uri="{FF2B5EF4-FFF2-40B4-BE49-F238E27FC236}">
                <a16:creationId xmlns:a16="http://schemas.microsoft.com/office/drawing/2014/main" id="{2032066E-9E92-5430-6C10-7645E94332EC}"/>
              </a:ext>
            </a:extLst>
          </p:cNvPr>
          <p:cNvCxnSpPr>
            <a:cxnSpLocks/>
          </p:cNvCxnSpPr>
          <p:nvPr/>
        </p:nvCxnSpPr>
        <p:spPr>
          <a:xfrm>
            <a:off x="4507482" y="2925674"/>
            <a:ext cx="70228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1">
            <a:extLst>
              <a:ext uri="{FF2B5EF4-FFF2-40B4-BE49-F238E27FC236}">
                <a16:creationId xmlns:a16="http://schemas.microsoft.com/office/drawing/2014/main" id="{F441810E-4F9E-3BFD-02BA-D3A1FDED84F9}"/>
              </a:ext>
            </a:extLst>
          </p:cNvPr>
          <p:cNvSpPr txBox="1"/>
          <p:nvPr/>
        </p:nvSpPr>
        <p:spPr>
          <a:xfrm>
            <a:off x="5955680" y="2666607"/>
            <a:ext cx="504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This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parameters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define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it-IT" dirty="0" err="1">
                <a:latin typeface="Georgia" panose="02040502050405020303" pitchFamily="18" charset="0"/>
              </a:rPr>
              <a:t>complexity</a:t>
            </a:r>
            <a:r>
              <a:rPr lang="it-IT" dirty="0">
                <a:latin typeface="Georgia" panose="02040502050405020303" pitchFamily="18" charset="0"/>
              </a:rPr>
              <a:t> of the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structure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5" name="Elemento grafico 4" descr="Gerarchia contorno">
            <a:extLst>
              <a:ext uri="{FF2B5EF4-FFF2-40B4-BE49-F238E27FC236}">
                <a16:creationId xmlns:a16="http://schemas.microsoft.com/office/drawing/2014/main" id="{56D98457-A2EE-9609-C423-E67E5DB2E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1952" y="2568650"/>
            <a:ext cx="714047" cy="714047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385B088-C612-86BE-566D-11DCFCAA3F36}"/>
              </a:ext>
            </a:extLst>
          </p:cNvPr>
          <p:cNvSpPr txBox="1"/>
          <p:nvPr/>
        </p:nvSpPr>
        <p:spPr>
          <a:xfrm>
            <a:off x="-213240" y="2730830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3. Max Tree </a:t>
            </a:r>
            <a:r>
              <a:rPr lang="it-IT" b="1" dirty="0" err="1">
                <a:latin typeface="Georgia" panose="02040502050405020303" pitchFamily="18" charset="0"/>
              </a:rPr>
              <a:t>depth</a:t>
            </a:r>
            <a:r>
              <a:rPr lang="it-IT" b="1" dirty="0">
                <a:latin typeface="Georgia" panose="02040502050405020303" pitchFamily="18" charset="0"/>
              </a:rPr>
              <a:t> ; Min </a:t>
            </a:r>
            <a:r>
              <a:rPr lang="it-IT" b="1" dirty="0" err="1">
                <a:latin typeface="Georgia" panose="02040502050405020303" pitchFamily="18" charset="0"/>
              </a:rPr>
              <a:t>child</a:t>
            </a:r>
            <a:r>
              <a:rPr lang="it-IT" b="1" dirty="0">
                <a:latin typeface="Georgia" panose="02040502050405020303" pitchFamily="18" charset="0"/>
              </a:rPr>
              <a:t> weight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AD812EE0-3651-EAD3-B5E0-AB259604EEE5}"/>
              </a:ext>
            </a:extLst>
          </p:cNvPr>
          <p:cNvSpPr txBox="1"/>
          <p:nvPr/>
        </p:nvSpPr>
        <p:spPr>
          <a:xfrm>
            <a:off x="-137395" y="2127634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2. </a:t>
            </a:r>
            <a:r>
              <a:rPr lang="it-IT" dirty="0" err="1">
                <a:latin typeface="Georgia" panose="02040502050405020303" pitchFamily="18" charset="0"/>
              </a:rPr>
              <a:t>Tune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</p:txBody>
      </p:sp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514381" y="1638145"/>
            <a:ext cx="33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1.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B9D5350C-C67B-BE50-06CA-FDCBF32F2624}"/>
              </a:ext>
            </a:extLst>
          </p:cNvPr>
          <p:cNvSpPr txBox="1"/>
          <p:nvPr/>
        </p:nvSpPr>
        <p:spPr>
          <a:xfrm>
            <a:off x="-3485765" y="3244334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4. Gamma</a:t>
            </a:r>
          </a:p>
        </p:txBody>
      </p:sp>
      <p:cxnSp>
        <p:nvCxnSpPr>
          <p:cNvPr id="13" name="Straight Arrow Connector 62">
            <a:extLst>
              <a:ext uri="{FF2B5EF4-FFF2-40B4-BE49-F238E27FC236}">
                <a16:creationId xmlns:a16="http://schemas.microsoft.com/office/drawing/2014/main" id="{E02EC065-771B-E63F-F1B0-12BD018B3A7B}"/>
              </a:ext>
            </a:extLst>
          </p:cNvPr>
          <p:cNvCxnSpPr>
            <a:cxnSpLocks/>
          </p:cNvCxnSpPr>
          <p:nvPr/>
        </p:nvCxnSpPr>
        <p:spPr>
          <a:xfrm>
            <a:off x="12457682" y="3618340"/>
            <a:ext cx="70228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3CA2489F-8FC8-F939-8897-5E718BEF6925}"/>
              </a:ext>
            </a:extLst>
          </p:cNvPr>
          <p:cNvSpPr txBox="1"/>
          <p:nvPr/>
        </p:nvSpPr>
        <p:spPr>
          <a:xfrm>
            <a:off x="13766800" y="3353063"/>
            <a:ext cx="6077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This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parmeter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represent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en-US" dirty="0">
                <a:latin typeface="Georgia" panose="02040502050405020303" pitchFamily="18" charset="0"/>
              </a:rPr>
              <a:t>Minimum gain necessary for a split to occur: if the gain is above this threshold the split is made! 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AF5AA212-0660-8158-2CE6-A3F0E66EEA5C}"/>
              </a:ext>
            </a:extLst>
          </p:cNvPr>
          <p:cNvSpPr txBox="1"/>
          <p:nvPr/>
        </p:nvSpPr>
        <p:spPr>
          <a:xfrm>
            <a:off x="20356304" y="3382728"/>
            <a:ext cx="3400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It acts like a shield against a too </a:t>
            </a:r>
          </a:p>
          <a:p>
            <a:pPr algn="ctr"/>
            <a:r>
              <a:rPr lang="en-US" dirty="0">
                <a:latin typeface="Georgia" panose="02040502050405020303" pitchFamily="18" charset="0"/>
              </a:rPr>
              <a:t>complex tree structure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17" name="Straight Arrow Connector 62">
            <a:extLst>
              <a:ext uri="{FF2B5EF4-FFF2-40B4-BE49-F238E27FC236}">
                <a16:creationId xmlns:a16="http://schemas.microsoft.com/office/drawing/2014/main" id="{6B2DCF8A-03F2-E61A-A53A-04D1A789A25A}"/>
              </a:ext>
            </a:extLst>
          </p:cNvPr>
          <p:cNvCxnSpPr>
            <a:cxnSpLocks/>
          </p:cNvCxnSpPr>
          <p:nvPr/>
        </p:nvCxnSpPr>
        <p:spPr>
          <a:xfrm>
            <a:off x="19844084" y="3613666"/>
            <a:ext cx="43348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phic 73" descr="Scudo medievale contorno">
            <a:extLst>
              <a:ext uri="{FF2B5EF4-FFF2-40B4-BE49-F238E27FC236}">
                <a16:creationId xmlns:a16="http://schemas.microsoft.com/office/drawing/2014/main" id="{2A4697BD-3CF8-A0CE-D915-1D39309F29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800657" y="4029059"/>
            <a:ext cx="512220" cy="51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59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cxnSp>
        <p:nvCxnSpPr>
          <p:cNvPr id="3" name="Straight Arrow Connector 62">
            <a:extLst>
              <a:ext uri="{FF2B5EF4-FFF2-40B4-BE49-F238E27FC236}">
                <a16:creationId xmlns:a16="http://schemas.microsoft.com/office/drawing/2014/main" id="{2032066E-9E92-5430-6C10-7645E94332EC}"/>
              </a:ext>
            </a:extLst>
          </p:cNvPr>
          <p:cNvCxnSpPr>
            <a:cxnSpLocks/>
          </p:cNvCxnSpPr>
          <p:nvPr/>
        </p:nvCxnSpPr>
        <p:spPr>
          <a:xfrm>
            <a:off x="2033435" y="3429000"/>
            <a:ext cx="70228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4385B088-C612-86BE-566D-11DCFCAA3F36}"/>
              </a:ext>
            </a:extLst>
          </p:cNvPr>
          <p:cNvSpPr txBox="1"/>
          <p:nvPr/>
        </p:nvSpPr>
        <p:spPr>
          <a:xfrm>
            <a:off x="-26070" y="2666607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3. Max Tree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AD812EE0-3651-EAD3-B5E0-AB259604EEE5}"/>
              </a:ext>
            </a:extLst>
          </p:cNvPr>
          <p:cNvSpPr txBox="1"/>
          <p:nvPr/>
        </p:nvSpPr>
        <p:spPr>
          <a:xfrm>
            <a:off x="-137395" y="2127634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2. </a:t>
            </a:r>
            <a:r>
              <a:rPr lang="it-IT" dirty="0" err="1">
                <a:latin typeface="Georgia" panose="02040502050405020303" pitchFamily="18" charset="0"/>
              </a:rPr>
              <a:t>Tune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</p:txBody>
      </p:sp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514381" y="1638145"/>
            <a:ext cx="33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1.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BE4E6-407A-6F1D-2617-9F8A01380B81}"/>
              </a:ext>
            </a:extLst>
          </p:cNvPr>
          <p:cNvSpPr txBox="1"/>
          <p:nvPr/>
        </p:nvSpPr>
        <p:spPr>
          <a:xfrm>
            <a:off x="-1359254" y="3164127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4. Gamma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355B615-A395-E81B-D84B-32B1FF46B47C}"/>
              </a:ext>
            </a:extLst>
          </p:cNvPr>
          <p:cNvSpPr txBox="1"/>
          <p:nvPr/>
        </p:nvSpPr>
        <p:spPr>
          <a:xfrm>
            <a:off x="2665313" y="3181881"/>
            <a:ext cx="5808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Georgia" panose="02040502050405020303" pitchFamily="18" charset="0"/>
              </a:rPr>
              <a:t>represent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en-US" dirty="0">
                <a:latin typeface="Georgia" panose="02040502050405020303" pitchFamily="18" charset="0"/>
              </a:rPr>
              <a:t>Minimum gain necessary for a split to occur: if the gain is above this threshold the split is made! </a:t>
            </a:r>
          </a:p>
        </p:txBody>
      </p:sp>
      <p:cxnSp>
        <p:nvCxnSpPr>
          <p:cNvPr id="10" name="Straight Arrow Connector 62">
            <a:extLst>
              <a:ext uri="{FF2B5EF4-FFF2-40B4-BE49-F238E27FC236}">
                <a16:creationId xmlns:a16="http://schemas.microsoft.com/office/drawing/2014/main" id="{F71B60B3-0A61-A257-8C88-06ED2B6A474D}"/>
              </a:ext>
            </a:extLst>
          </p:cNvPr>
          <p:cNvCxnSpPr>
            <a:cxnSpLocks/>
          </p:cNvCxnSpPr>
          <p:nvPr/>
        </p:nvCxnSpPr>
        <p:spPr>
          <a:xfrm>
            <a:off x="8357587" y="3429000"/>
            <a:ext cx="433487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D0BA9EBF-15F0-1221-59C7-AC55C0103C6D}"/>
              </a:ext>
            </a:extLst>
          </p:cNvPr>
          <p:cNvSpPr txBox="1"/>
          <p:nvPr/>
        </p:nvSpPr>
        <p:spPr>
          <a:xfrm>
            <a:off x="8791074" y="3205580"/>
            <a:ext cx="3400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It acts like a shield against a too </a:t>
            </a:r>
          </a:p>
          <a:p>
            <a:pPr algn="ctr"/>
            <a:r>
              <a:rPr lang="en-US" dirty="0">
                <a:latin typeface="Georgia" panose="02040502050405020303" pitchFamily="18" charset="0"/>
              </a:rPr>
              <a:t>complex tree structure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14" name="Graphic 73" descr="Scudo medievale contorno">
            <a:extLst>
              <a:ext uri="{FF2B5EF4-FFF2-40B4-BE49-F238E27FC236}">
                <a16:creationId xmlns:a16="http://schemas.microsoft.com/office/drawing/2014/main" id="{B127CA49-8E67-7F79-DADB-4BD804680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979317" y="3889420"/>
            <a:ext cx="512220" cy="512220"/>
          </a:xfrm>
          <a:prstGeom prst="rect">
            <a:avLst/>
          </a:prstGeom>
        </p:spPr>
      </p:pic>
      <p:pic>
        <p:nvPicPr>
          <p:cNvPr id="15" name="Elemento grafico 14" descr="Gerarchia contorno">
            <a:extLst>
              <a:ext uri="{FF2B5EF4-FFF2-40B4-BE49-F238E27FC236}">
                <a16:creationId xmlns:a16="http://schemas.microsoft.com/office/drawing/2014/main" id="{47FD7794-DC85-C268-5757-F56481897E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46940" y="3889420"/>
            <a:ext cx="512220" cy="512220"/>
          </a:xfrm>
          <a:prstGeom prst="rect">
            <a:avLst/>
          </a:prstGeom>
        </p:spPr>
      </p:pic>
      <p:cxnSp>
        <p:nvCxnSpPr>
          <p:cNvPr id="17" name="Straight Arrow Connector 62">
            <a:extLst>
              <a:ext uri="{FF2B5EF4-FFF2-40B4-BE49-F238E27FC236}">
                <a16:creationId xmlns:a16="http://schemas.microsoft.com/office/drawing/2014/main" id="{153CE848-43AC-2E24-B4D1-F59B2845F8D8}"/>
              </a:ext>
            </a:extLst>
          </p:cNvPr>
          <p:cNvCxnSpPr>
            <a:cxnSpLocks/>
          </p:cNvCxnSpPr>
          <p:nvPr/>
        </p:nvCxnSpPr>
        <p:spPr>
          <a:xfrm>
            <a:off x="12568671" y="4762723"/>
            <a:ext cx="63401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D18195DC-0607-F8F7-5ED8-383C106EAB4D}"/>
              </a:ext>
            </a:extLst>
          </p:cNvPr>
          <p:cNvSpPr txBox="1"/>
          <p:nvPr/>
        </p:nvSpPr>
        <p:spPr>
          <a:xfrm>
            <a:off x="13436599" y="4018072"/>
            <a:ext cx="54893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The first one introduces randomness by sampling a percentage of rows before building each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The second one introduces randomness by selecting a subset of features before growing each tree, promoting feature diversity</a:t>
            </a:r>
          </a:p>
        </p:txBody>
      </p:sp>
      <p:pic>
        <p:nvPicPr>
          <p:cNvPr id="20" name="Graphic 72" descr="Tabella contorno">
            <a:extLst>
              <a:ext uri="{FF2B5EF4-FFF2-40B4-BE49-F238E27FC236}">
                <a16:creationId xmlns:a16="http://schemas.microsoft.com/office/drawing/2014/main" id="{CE02E03A-5551-7056-71E0-996D58763F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9064132" y="4889938"/>
            <a:ext cx="882460" cy="882460"/>
          </a:xfrm>
          <a:prstGeom prst="rect">
            <a:avLst/>
          </a:prstGeom>
        </p:spPr>
      </p:pic>
      <p:pic>
        <p:nvPicPr>
          <p:cNvPr id="21" name="Graphic 75" descr="Clipboard Mixed outline">
            <a:extLst>
              <a:ext uri="{FF2B5EF4-FFF2-40B4-BE49-F238E27FC236}">
                <a16:creationId xmlns:a16="http://schemas.microsoft.com/office/drawing/2014/main" id="{1C7C757A-300D-58A7-A2BF-BFB4C61FCB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989747" y="3925450"/>
            <a:ext cx="882461" cy="882461"/>
          </a:xfrm>
          <a:prstGeom prst="rect">
            <a:avLst/>
          </a:prstGeom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02939396-CAB5-050B-727B-2AB5EEBA7A1F}"/>
              </a:ext>
            </a:extLst>
          </p:cNvPr>
          <p:cNvSpPr txBox="1"/>
          <p:nvPr/>
        </p:nvSpPr>
        <p:spPr>
          <a:xfrm>
            <a:off x="-4529566" y="3960864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5. </a:t>
            </a:r>
            <a:r>
              <a:rPr lang="it-IT" dirty="0" err="1">
                <a:latin typeface="Georgia" panose="02040502050405020303" pitchFamily="18" charset="0"/>
              </a:rPr>
              <a:t>Subsample</a:t>
            </a:r>
            <a:r>
              <a:rPr lang="it-IT" dirty="0">
                <a:latin typeface="Georgia" panose="02040502050405020303" pitchFamily="18" charset="0"/>
              </a:rPr>
              <a:t> ; </a:t>
            </a:r>
            <a:r>
              <a:rPr lang="it-IT" dirty="0" err="1">
                <a:latin typeface="Georgia" panose="02040502050405020303" pitchFamily="18" charset="0"/>
              </a:rPr>
              <a:t>Colsample</a:t>
            </a:r>
            <a:r>
              <a:rPr lang="it-IT" dirty="0">
                <a:latin typeface="Georgia" panose="02040502050405020303" pitchFamily="18" charset="0"/>
              </a:rPr>
              <a:t> by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endParaRPr lang="it-IT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758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385B088-C612-86BE-566D-11DCFCAA3F36}"/>
              </a:ext>
            </a:extLst>
          </p:cNvPr>
          <p:cNvSpPr txBox="1"/>
          <p:nvPr/>
        </p:nvSpPr>
        <p:spPr>
          <a:xfrm>
            <a:off x="-33670" y="2632940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3. Max Tree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AD812EE0-3651-EAD3-B5E0-AB259604EEE5}"/>
              </a:ext>
            </a:extLst>
          </p:cNvPr>
          <p:cNvSpPr txBox="1"/>
          <p:nvPr/>
        </p:nvSpPr>
        <p:spPr>
          <a:xfrm>
            <a:off x="-137395" y="2127634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2. </a:t>
            </a:r>
            <a:r>
              <a:rPr lang="it-IT" dirty="0" err="1">
                <a:latin typeface="Georgia" panose="02040502050405020303" pitchFamily="18" charset="0"/>
              </a:rPr>
              <a:t>Tune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</p:txBody>
      </p:sp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514381" y="1638145"/>
            <a:ext cx="33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1.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BE4E6-407A-6F1D-2617-9F8A01380B81}"/>
              </a:ext>
            </a:extLst>
          </p:cNvPr>
          <p:cNvSpPr txBox="1"/>
          <p:nvPr/>
        </p:nvSpPr>
        <p:spPr>
          <a:xfrm>
            <a:off x="-1359254" y="3130460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4. Gamma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70401D65-33C0-1B94-40D1-753CCF797EF4}"/>
              </a:ext>
            </a:extLst>
          </p:cNvPr>
          <p:cNvSpPr txBox="1"/>
          <p:nvPr/>
        </p:nvSpPr>
        <p:spPr>
          <a:xfrm>
            <a:off x="-209264" y="3602475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5. </a:t>
            </a:r>
            <a:r>
              <a:rPr lang="it-IT" b="1" dirty="0" err="1">
                <a:latin typeface="Georgia" panose="02040502050405020303" pitchFamily="18" charset="0"/>
              </a:rPr>
              <a:t>Subsample</a:t>
            </a:r>
            <a:r>
              <a:rPr lang="it-IT" b="1" dirty="0">
                <a:latin typeface="Georgia" panose="02040502050405020303" pitchFamily="18" charset="0"/>
              </a:rPr>
              <a:t> ; </a:t>
            </a:r>
            <a:r>
              <a:rPr lang="it-IT" b="1" dirty="0" err="1">
                <a:latin typeface="Georgia" panose="02040502050405020303" pitchFamily="18" charset="0"/>
              </a:rPr>
              <a:t>Colsample</a:t>
            </a:r>
            <a:r>
              <a:rPr lang="it-IT" b="1" dirty="0">
                <a:latin typeface="Georgia" panose="02040502050405020303" pitchFamily="18" charset="0"/>
              </a:rPr>
              <a:t> by </a:t>
            </a:r>
            <a:r>
              <a:rPr lang="it-IT" b="1" dirty="0" err="1">
                <a:latin typeface="Georgia" panose="02040502050405020303" pitchFamily="18" charset="0"/>
              </a:rPr>
              <a:t>tree</a:t>
            </a:r>
            <a:endParaRPr lang="it-IT" b="1" dirty="0">
              <a:latin typeface="Georgia" panose="02040502050405020303" pitchFamily="18" charset="0"/>
            </a:endParaRPr>
          </a:p>
        </p:txBody>
      </p:sp>
      <p:cxnSp>
        <p:nvCxnSpPr>
          <p:cNvPr id="5" name="Straight Arrow Connector 62">
            <a:extLst>
              <a:ext uri="{FF2B5EF4-FFF2-40B4-BE49-F238E27FC236}">
                <a16:creationId xmlns:a16="http://schemas.microsoft.com/office/drawing/2014/main" id="{093498A7-D63D-A9D0-FD49-8282500A337A}"/>
              </a:ext>
            </a:extLst>
          </p:cNvPr>
          <p:cNvCxnSpPr>
            <a:cxnSpLocks/>
          </p:cNvCxnSpPr>
          <p:nvPr/>
        </p:nvCxnSpPr>
        <p:spPr>
          <a:xfrm>
            <a:off x="4272539" y="3807743"/>
            <a:ext cx="634013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">
            <a:extLst>
              <a:ext uri="{FF2B5EF4-FFF2-40B4-BE49-F238E27FC236}">
                <a16:creationId xmlns:a16="http://schemas.microsoft.com/office/drawing/2014/main" id="{46AF99D5-0DBD-CF21-C5AE-51EB3719CB69}"/>
              </a:ext>
            </a:extLst>
          </p:cNvPr>
          <p:cNvSpPr txBox="1"/>
          <p:nvPr/>
        </p:nvSpPr>
        <p:spPr>
          <a:xfrm>
            <a:off x="4938608" y="3205580"/>
            <a:ext cx="54893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The first one introduces randomness by sampling a percentage of rows before building each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The second one introduces randomness by selecting a subset of features before growing each tree, promoting feature diversity</a:t>
            </a:r>
          </a:p>
        </p:txBody>
      </p:sp>
      <p:pic>
        <p:nvPicPr>
          <p:cNvPr id="13" name="Graphic 75" descr="Clipboard Mixed outline">
            <a:extLst>
              <a:ext uri="{FF2B5EF4-FFF2-40B4-BE49-F238E27FC236}">
                <a16:creationId xmlns:a16="http://schemas.microsoft.com/office/drawing/2014/main" id="{EA434D93-2CD5-B523-A068-D3B3F0047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2017" y="3035939"/>
            <a:ext cx="882461" cy="882461"/>
          </a:xfrm>
          <a:prstGeom prst="rect">
            <a:avLst/>
          </a:prstGeom>
        </p:spPr>
      </p:pic>
      <p:pic>
        <p:nvPicPr>
          <p:cNvPr id="16" name="Graphic 72" descr="Tabella contorno">
            <a:extLst>
              <a:ext uri="{FF2B5EF4-FFF2-40B4-BE49-F238E27FC236}">
                <a16:creationId xmlns:a16="http://schemas.microsoft.com/office/drawing/2014/main" id="{3225064C-6F52-0889-B7B3-FCF0562F64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582018" y="4062002"/>
            <a:ext cx="882460" cy="882460"/>
          </a:xfrm>
          <a:prstGeom prst="rect">
            <a:avLst/>
          </a:prstGeom>
        </p:spPr>
      </p:pic>
      <p:sp>
        <p:nvSpPr>
          <p:cNvPr id="20" name="TextBox 1">
            <a:extLst>
              <a:ext uri="{FF2B5EF4-FFF2-40B4-BE49-F238E27FC236}">
                <a16:creationId xmlns:a16="http://schemas.microsoft.com/office/drawing/2014/main" id="{FEBD04AE-BE02-C5A3-BAC3-14E35A110880}"/>
              </a:ext>
            </a:extLst>
          </p:cNvPr>
          <p:cNvSpPr txBox="1"/>
          <p:nvPr/>
        </p:nvSpPr>
        <p:spPr>
          <a:xfrm>
            <a:off x="12765506" y="4150310"/>
            <a:ext cx="504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Are the </a:t>
            </a:r>
            <a:r>
              <a:rPr lang="it-IT" dirty="0" err="1">
                <a:latin typeface="Georgia" panose="02040502050405020303" pitchFamily="18" charset="0"/>
              </a:rPr>
              <a:t>regularization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parameters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that</a:t>
            </a:r>
            <a:r>
              <a:rPr lang="it-IT" dirty="0">
                <a:latin typeface="Georgia" panose="02040502050405020303" pitchFamily="18" charset="0"/>
              </a:rPr>
              <a:t> help in </a:t>
            </a:r>
            <a:r>
              <a:rPr lang="it-IT" dirty="0" err="1">
                <a:latin typeface="Georgia" panose="02040502050405020303" pitchFamily="18" charset="0"/>
              </a:rPr>
              <a:t>preventing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overfitting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B515E292-C18B-DE0A-B1E9-E5C31613B551}"/>
              </a:ext>
            </a:extLst>
          </p:cNvPr>
          <p:cNvSpPr txBox="1"/>
          <p:nvPr/>
        </p:nvSpPr>
        <p:spPr>
          <a:xfrm>
            <a:off x="-3720549" y="4288809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6. Lambda ; Alpha</a:t>
            </a:r>
          </a:p>
        </p:txBody>
      </p:sp>
      <p:pic>
        <p:nvPicPr>
          <p:cNvPr id="22" name="Graphic 74" descr="Pesi irregolari contorno">
            <a:extLst>
              <a:ext uri="{FF2B5EF4-FFF2-40B4-BE49-F238E27FC236}">
                <a16:creationId xmlns:a16="http://schemas.microsoft.com/office/drawing/2014/main" id="{2CBC4916-52FD-528C-A0C9-F1770040C1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7809453" y="4157673"/>
            <a:ext cx="638968" cy="638968"/>
          </a:xfrm>
          <a:prstGeom prst="rect">
            <a:avLst/>
          </a:prstGeom>
        </p:spPr>
      </p:pic>
      <p:pic>
        <p:nvPicPr>
          <p:cNvPr id="23" name="Graphic 76" descr="Forbici contorno">
            <a:extLst>
              <a:ext uri="{FF2B5EF4-FFF2-40B4-BE49-F238E27FC236}">
                <a16:creationId xmlns:a16="http://schemas.microsoft.com/office/drawing/2014/main" id="{2937CE35-9950-E235-6401-CB978F3C20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2195494" y="4150310"/>
            <a:ext cx="682729" cy="68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66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385B088-C612-86BE-566D-11DCFCAA3F36}"/>
              </a:ext>
            </a:extLst>
          </p:cNvPr>
          <p:cNvSpPr txBox="1"/>
          <p:nvPr/>
        </p:nvSpPr>
        <p:spPr>
          <a:xfrm>
            <a:off x="-102684" y="2642281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3. Max Tree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AD812EE0-3651-EAD3-B5E0-AB259604EEE5}"/>
              </a:ext>
            </a:extLst>
          </p:cNvPr>
          <p:cNvSpPr txBox="1"/>
          <p:nvPr/>
        </p:nvSpPr>
        <p:spPr>
          <a:xfrm>
            <a:off x="-409468" y="2151305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2. 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</p:txBody>
      </p:sp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514381" y="1638145"/>
            <a:ext cx="33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1.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BE4E6-407A-6F1D-2617-9F8A01380B81}"/>
              </a:ext>
            </a:extLst>
          </p:cNvPr>
          <p:cNvSpPr txBox="1"/>
          <p:nvPr/>
        </p:nvSpPr>
        <p:spPr>
          <a:xfrm>
            <a:off x="-1435454" y="3119822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4. Gamma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70401D65-33C0-1B94-40D1-753CCF797EF4}"/>
              </a:ext>
            </a:extLst>
          </p:cNvPr>
          <p:cNvSpPr txBox="1"/>
          <p:nvPr/>
        </p:nvSpPr>
        <p:spPr>
          <a:xfrm>
            <a:off x="-300491" y="3601364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5. </a:t>
            </a:r>
            <a:r>
              <a:rPr lang="it-IT" dirty="0" err="1">
                <a:latin typeface="Georgia" panose="02040502050405020303" pitchFamily="18" charset="0"/>
              </a:rPr>
              <a:t>Subsample</a:t>
            </a:r>
            <a:r>
              <a:rPr lang="it-IT" dirty="0">
                <a:latin typeface="Georgia" panose="02040502050405020303" pitchFamily="18" charset="0"/>
              </a:rPr>
              <a:t> ; </a:t>
            </a:r>
            <a:r>
              <a:rPr lang="it-IT" dirty="0" err="1">
                <a:latin typeface="Georgia" panose="02040502050405020303" pitchFamily="18" charset="0"/>
              </a:rPr>
              <a:t>Colsample</a:t>
            </a:r>
            <a:r>
              <a:rPr lang="it-IT" dirty="0">
                <a:latin typeface="Georgia" panose="02040502050405020303" pitchFamily="18" charset="0"/>
              </a:rPr>
              <a:t> by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25F01BC-F79A-38B3-7708-A281E058354F}"/>
              </a:ext>
            </a:extLst>
          </p:cNvPr>
          <p:cNvSpPr txBox="1"/>
          <p:nvPr/>
        </p:nvSpPr>
        <p:spPr>
          <a:xfrm>
            <a:off x="177773" y="4120674"/>
            <a:ext cx="2953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6. </a:t>
            </a:r>
            <a:r>
              <a:rPr lang="it-IT" sz="2000" b="1" dirty="0">
                <a:latin typeface="Georgia" panose="02040502050405020303" pitchFamily="18" charset="0"/>
              </a:rPr>
              <a:t>Lambda ; Alpha</a:t>
            </a:r>
          </a:p>
        </p:txBody>
      </p:sp>
      <p:pic>
        <p:nvPicPr>
          <p:cNvPr id="11" name="Graphic 74" descr="Pesi irregolari contorno">
            <a:extLst>
              <a:ext uri="{FF2B5EF4-FFF2-40B4-BE49-F238E27FC236}">
                <a16:creationId xmlns:a16="http://schemas.microsoft.com/office/drawing/2014/main" id="{E7E79E32-E23D-9B24-301C-11203FD41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02295" y="3918589"/>
            <a:ext cx="638968" cy="638968"/>
          </a:xfrm>
          <a:prstGeom prst="rect">
            <a:avLst/>
          </a:prstGeom>
        </p:spPr>
      </p:pic>
      <p:pic>
        <p:nvPicPr>
          <p:cNvPr id="14" name="Graphic 76" descr="Forbici contorno">
            <a:extLst>
              <a:ext uri="{FF2B5EF4-FFF2-40B4-BE49-F238E27FC236}">
                <a16:creationId xmlns:a16="http://schemas.microsoft.com/office/drawing/2014/main" id="{C857EEC9-8BB5-484F-CE1E-3CC873F0C8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782441" y="3922843"/>
            <a:ext cx="682729" cy="682729"/>
          </a:xfrm>
          <a:prstGeom prst="rect">
            <a:avLst/>
          </a:prstGeom>
        </p:spPr>
      </p:pic>
      <p:sp>
        <p:nvSpPr>
          <p:cNvPr id="15" name="TextBox 1">
            <a:extLst>
              <a:ext uri="{FF2B5EF4-FFF2-40B4-BE49-F238E27FC236}">
                <a16:creationId xmlns:a16="http://schemas.microsoft.com/office/drawing/2014/main" id="{5310A886-47BE-55E7-CB01-1970C9E19538}"/>
              </a:ext>
            </a:extLst>
          </p:cNvPr>
          <p:cNvSpPr txBox="1"/>
          <p:nvPr/>
        </p:nvSpPr>
        <p:spPr>
          <a:xfrm>
            <a:off x="4869101" y="3959241"/>
            <a:ext cx="504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Are the </a:t>
            </a:r>
            <a:r>
              <a:rPr lang="it-IT" dirty="0" err="1">
                <a:latin typeface="Georgia" panose="02040502050405020303" pitchFamily="18" charset="0"/>
              </a:rPr>
              <a:t>regularization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parameters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that</a:t>
            </a:r>
            <a:r>
              <a:rPr lang="it-IT" dirty="0">
                <a:latin typeface="Georgia" panose="02040502050405020303" pitchFamily="18" charset="0"/>
              </a:rPr>
              <a:t> help in </a:t>
            </a:r>
            <a:r>
              <a:rPr lang="it-IT" dirty="0" err="1">
                <a:latin typeface="Georgia" panose="02040502050405020303" pitchFamily="18" charset="0"/>
              </a:rPr>
              <a:t>preventing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overfitting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17" name="Straight Arrow Connector 62">
            <a:extLst>
              <a:ext uri="{FF2B5EF4-FFF2-40B4-BE49-F238E27FC236}">
                <a16:creationId xmlns:a16="http://schemas.microsoft.com/office/drawing/2014/main" id="{DAA24833-7884-BB23-22FF-6DD35B557F25}"/>
              </a:ext>
            </a:extLst>
          </p:cNvPr>
          <p:cNvCxnSpPr>
            <a:cxnSpLocks/>
          </p:cNvCxnSpPr>
          <p:nvPr/>
        </p:nvCxnSpPr>
        <p:spPr>
          <a:xfrm>
            <a:off x="3011060" y="4370805"/>
            <a:ext cx="1039945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">
            <a:extLst>
              <a:ext uri="{FF2B5EF4-FFF2-40B4-BE49-F238E27FC236}">
                <a16:creationId xmlns:a16="http://schemas.microsoft.com/office/drawing/2014/main" id="{CCE47341-B164-DC95-7F50-62B9E28C565E}"/>
              </a:ext>
            </a:extLst>
          </p:cNvPr>
          <p:cNvSpPr txBox="1"/>
          <p:nvPr/>
        </p:nvSpPr>
        <p:spPr>
          <a:xfrm>
            <a:off x="-2508172" y="4628795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7. Learning rate (</a:t>
            </a:r>
            <a:r>
              <a:rPr lang="it-IT" dirty="0" err="1">
                <a:latin typeface="Georgia" panose="02040502050405020303" pitchFamily="18" charset="0"/>
              </a:rPr>
              <a:t>eta</a:t>
            </a:r>
            <a:r>
              <a:rPr lang="it-IT" dirty="0">
                <a:latin typeface="Georgia" panose="02040502050405020303" pitchFamily="18" charset="0"/>
              </a:rPr>
              <a:t>)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F487F40D-4369-F1B5-601E-28502D82984E}"/>
              </a:ext>
            </a:extLst>
          </p:cNvPr>
          <p:cNvSpPr txBox="1"/>
          <p:nvPr/>
        </p:nvSpPr>
        <p:spPr>
          <a:xfrm>
            <a:off x="12856536" y="4557173"/>
            <a:ext cx="504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controls the step size at each iteration during the optimization process.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22" name="Picture 54" descr="Grafico di tendenza al ribasso contorno">
            <a:extLst>
              <a:ext uri="{FF2B5EF4-FFF2-40B4-BE49-F238E27FC236}">
                <a16:creationId xmlns:a16="http://schemas.microsoft.com/office/drawing/2014/main" id="{6675AFFF-8B75-2997-8D2B-85A90EE52E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2402442" y="4623192"/>
            <a:ext cx="579603" cy="57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83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7" name="TextBox 1">
            <a:extLst>
              <a:ext uri="{FF2B5EF4-FFF2-40B4-BE49-F238E27FC236}">
                <a16:creationId xmlns:a16="http://schemas.microsoft.com/office/drawing/2014/main" id="{4385B088-C612-86BE-566D-11DCFCAA3F36}"/>
              </a:ext>
            </a:extLst>
          </p:cNvPr>
          <p:cNvSpPr txBox="1"/>
          <p:nvPr/>
        </p:nvSpPr>
        <p:spPr>
          <a:xfrm>
            <a:off x="-51438" y="2635000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3. Max Tree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 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AD812EE0-3651-EAD3-B5E0-AB259604EEE5}"/>
              </a:ext>
            </a:extLst>
          </p:cNvPr>
          <p:cNvSpPr txBox="1"/>
          <p:nvPr/>
        </p:nvSpPr>
        <p:spPr>
          <a:xfrm>
            <a:off x="-137395" y="2127634"/>
            <a:ext cx="5043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2. </a:t>
            </a:r>
            <a:r>
              <a:rPr lang="it-IT" dirty="0" err="1">
                <a:latin typeface="Georgia" panose="02040502050405020303" pitchFamily="18" charset="0"/>
              </a:rPr>
              <a:t>Tune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</p:txBody>
      </p:sp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514381" y="1638145"/>
            <a:ext cx="33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1.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BE4E6-407A-6F1D-2617-9F8A01380B81}"/>
              </a:ext>
            </a:extLst>
          </p:cNvPr>
          <p:cNvSpPr txBox="1"/>
          <p:nvPr/>
        </p:nvSpPr>
        <p:spPr>
          <a:xfrm>
            <a:off x="157717" y="3153212"/>
            <a:ext cx="1976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4. </a:t>
            </a:r>
            <a:r>
              <a:rPr lang="it-IT" sz="2000" dirty="0">
                <a:latin typeface="Georgia" panose="02040502050405020303" pitchFamily="18" charset="0"/>
              </a:rPr>
              <a:t>Gamma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70401D65-33C0-1B94-40D1-753CCF797EF4}"/>
              </a:ext>
            </a:extLst>
          </p:cNvPr>
          <p:cNvSpPr txBox="1"/>
          <p:nvPr/>
        </p:nvSpPr>
        <p:spPr>
          <a:xfrm>
            <a:off x="459329" y="3516826"/>
            <a:ext cx="4022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5</a:t>
            </a:r>
            <a:r>
              <a:rPr lang="it-IT" sz="2000" dirty="0">
                <a:latin typeface="Georgia" panose="02040502050405020303" pitchFamily="18" charset="0"/>
              </a:rPr>
              <a:t>.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Subsample</a:t>
            </a:r>
            <a:r>
              <a:rPr lang="it-IT" sz="2000" dirty="0">
                <a:latin typeface="Georgia" panose="02040502050405020303" pitchFamily="18" charset="0"/>
              </a:rPr>
              <a:t> ; </a:t>
            </a:r>
            <a:r>
              <a:rPr lang="it-IT" sz="2000" dirty="0" err="1">
                <a:latin typeface="Georgia" panose="02040502050405020303" pitchFamily="18" charset="0"/>
              </a:rPr>
              <a:t>Colsample</a:t>
            </a:r>
            <a:r>
              <a:rPr lang="it-IT" sz="2000" dirty="0">
                <a:latin typeface="Georgia" panose="02040502050405020303" pitchFamily="18" charset="0"/>
              </a:rPr>
              <a:t> by </a:t>
            </a:r>
            <a:r>
              <a:rPr lang="it-IT" sz="2000" dirty="0" err="1">
                <a:latin typeface="Georgia" panose="02040502050405020303" pitchFamily="18" charset="0"/>
              </a:rPr>
              <a:t>tree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25F01BC-F79A-38B3-7708-A281E058354F}"/>
              </a:ext>
            </a:extLst>
          </p:cNvPr>
          <p:cNvSpPr txBox="1"/>
          <p:nvPr/>
        </p:nvSpPr>
        <p:spPr>
          <a:xfrm>
            <a:off x="367666" y="4126873"/>
            <a:ext cx="2573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6. </a:t>
            </a:r>
            <a:r>
              <a:rPr lang="it-IT" sz="2000" dirty="0">
                <a:latin typeface="Georgia" panose="02040502050405020303" pitchFamily="18" charset="0"/>
              </a:rPr>
              <a:t>Lambda ; Alpha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5310A886-47BE-55E7-CB01-1970C9E19538}"/>
              </a:ext>
            </a:extLst>
          </p:cNvPr>
          <p:cNvSpPr txBox="1"/>
          <p:nvPr/>
        </p:nvSpPr>
        <p:spPr>
          <a:xfrm>
            <a:off x="4834683" y="4521654"/>
            <a:ext cx="5043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controls the step size at each iteration during the optimization process.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17" name="Straight Arrow Connector 62">
            <a:extLst>
              <a:ext uri="{FF2B5EF4-FFF2-40B4-BE49-F238E27FC236}">
                <a16:creationId xmlns:a16="http://schemas.microsoft.com/office/drawing/2014/main" id="{DAA24833-7884-BB23-22FF-6DD35B557F25}"/>
              </a:ext>
            </a:extLst>
          </p:cNvPr>
          <p:cNvCxnSpPr>
            <a:cxnSpLocks/>
          </p:cNvCxnSpPr>
          <p:nvPr/>
        </p:nvCxnSpPr>
        <p:spPr>
          <a:xfrm>
            <a:off x="3253563" y="4849683"/>
            <a:ext cx="797442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1">
            <a:extLst>
              <a:ext uri="{FF2B5EF4-FFF2-40B4-BE49-F238E27FC236}">
                <a16:creationId xmlns:a16="http://schemas.microsoft.com/office/drawing/2014/main" id="{DE58D8F6-F511-1981-2B14-77A64BE85076}"/>
              </a:ext>
            </a:extLst>
          </p:cNvPr>
          <p:cNvSpPr txBox="1"/>
          <p:nvPr/>
        </p:nvSpPr>
        <p:spPr>
          <a:xfrm>
            <a:off x="459328" y="4665017"/>
            <a:ext cx="2687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7. Learning rate (</a:t>
            </a:r>
            <a:r>
              <a:rPr lang="it-IT" b="1" dirty="0" err="1">
                <a:latin typeface="Georgia" panose="02040502050405020303" pitchFamily="18" charset="0"/>
              </a:rPr>
              <a:t>eta</a:t>
            </a:r>
            <a:r>
              <a:rPr lang="it-IT" b="1" dirty="0">
                <a:latin typeface="Georgia" panose="02040502050405020303" pitchFamily="18" charset="0"/>
              </a:rPr>
              <a:t>)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pic>
        <p:nvPicPr>
          <p:cNvPr id="6" name="Picture 54" descr="Grafico di tendenza al ribasso contorno">
            <a:extLst>
              <a:ext uri="{FF2B5EF4-FFF2-40B4-BE49-F238E27FC236}">
                <a16:creationId xmlns:a16="http://schemas.microsoft.com/office/drawing/2014/main" id="{B8D8B77B-4FF0-A7BB-06DA-A6B64970B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255080" y="4568391"/>
            <a:ext cx="651472" cy="651472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26B1A65E-A7BA-82B7-7C18-B4EE73360C0F}"/>
              </a:ext>
            </a:extLst>
          </p:cNvPr>
          <p:cNvSpPr txBox="1"/>
          <p:nvPr/>
        </p:nvSpPr>
        <p:spPr>
          <a:xfrm>
            <a:off x="-2430711" y="5219863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8. Max delta step</a:t>
            </a:r>
            <a:endParaRPr lang="it-IT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463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531621" y="1525696"/>
            <a:ext cx="48196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Max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Gamma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Subsample</a:t>
            </a:r>
            <a:r>
              <a:rPr lang="it-IT" dirty="0">
                <a:latin typeface="Georgia" panose="02040502050405020303" pitchFamily="18" charset="0"/>
              </a:rPr>
              <a:t> ; </a:t>
            </a:r>
            <a:r>
              <a:rPr lang="it-IT" dirty="0" err="1">
                <a:latin typeface="Georgia" panose="02040502050405020303" pitchFamily="18" charset="0"/>
              </a:rPr>
              <a:t>Colsample</a:t>
            </a:r>
            <a:r>
              <a:rPr lang="it-IT" dirty="0">
                <a:latin typeface="Georgia" panose="02040502050405020303" pitchFamily="18" charset="0"/>
              </a:rPr>
              <a:t> by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Lambda ; Alpha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DE58D8F6-F511-1981-2B14-77A64BE85076}"/>
              </a:ext>
            </a:extLst>
          </p:cNvPr>
          <p:cNvSpPr txBox="1"/>
          <p:nvPr/>
        </p:nvSpPr>
        <p:spPr>
          <a:xfrm>
            <a:off x="459328" y="4742932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7. Learning rate (</a:t>
            </a:r>
            <a:r>
              <a:rPr lang="it-IT" dirty="0" err="1">
                <a:latin typeface="Georgia" panose="02040502050405020303" pitchFamily="18" charset="0"/>
              </a:rPr>
              <a:t>eta</a:t>
            </a:r>
            <a:r>
              <a:rPr lang="it-IT" dirty="0">
                <a:latin typeface="Georgia" panose="02040502050405020303" pitchFamily="18" charset="0"/>
              </a:rPr>
              <a:t>)</a:t>
            </a:r>
            <a:endParaRPr lang="it-IT" sz="2000" dirty="0">
              <a:latin typeface="Georgia" panose="02040502050405020303" pitchFamily="18" charset="0"/>
            </a:endParaRPr>
          </a:p>
        </p:txBody>
      </p:sp>
      <p:pic>
        <p:nvPicPr>
          <p:cNvPr id="6" name="Picture 54" descr="Passi di danza contorno">
            <a:extLst>
              <a:ext uri="{FF2B5EF4-FFF2-40B4-BE49-F238E27FC236}">
                <a16:creationId xmlns:a16="http://schemas.microsoft.com/office/drawing/2014/main" id="{B8D8B77B-4FF0-A7BB-06DA-A6B64970B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615695" y="5041354"/>
            <a:ext cx="651472" cy="651472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2AB36F88-5C2D-B1BD-E03F-91697F0DE5DF}"/>
              </a:ext>
            </a:extLst>
          </p:cNvPr>
          <p:cNvSpPr txBox="1"/>
          <p:nvPr/>
        </p:nvSpPr>
        <p:spPr>
          <a:xfrm>
            <a:off x="332218" y="5289205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8. Max delta step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sp>
        <p:nvSpPr>
          <p:cNvPr id="12" name="Parentesi graffa aperta 11">
            <a:extLst>
              <a:ext uri="{FF2B5EF4-FFF2-40B4-BE49-F238E27FC236}">
                <a16:creationId xmlns:a16="http://schemas.microsoft.com/office/drawing/2014/main" id="{44F3FF9F-3541-0064-C20B-534A41B40414}"/>
              </a:ext>
            </a:extLst>
          </p:cNvPr>
          <p:cNvSpPr/>
          <p:nvPr/>
        </p:nvSpPr>
        <p:spPr>
          <a:xfrm rot="10800000">
            <a:off x="-776055" y="1525696"/>
            <a:ext cx="655426" cy="4316299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4825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531621" y="1525696"/>
            <a:ext cx="48196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Max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Gamma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Subsample</a:t>
            </a:r>
            <a:r>
              <a:rPr lang="it-IT" dirty="0">
                <a:latin typeface="Georgia" panose="02040502050405020303" pitchFamily="18" charset="0"/>
              </a:rPr>
              <a:t> ; </a:t>
            </a:r>
            <a:r>
              <a:rPr lang="it-IT" dirty="0" err="1">
                <a:latin typeface="Georgia" panose="02040502050405020303" pitchFamily="18" charset="0"/>
              </a:rPr>
              <a:t>Colsample</a:t>
            </a:r>
            <a:r>
              <a:rPr lang="it-IT" dirty="0">
                <a:latin typeface="Georgia" panose="02040502050405020303" pitchFamily="18" charset="0"/>
              </a:rPr>
              <a:t> by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Lambda ; Alpha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DE58D8F6-F511-1981-2B14-77A64BE85076}"/>
              </a:ext>
            </a:extLst>
          </p:cNvPr>
          <p:cNvSpPr txBox="1"/>
          <p:nvPr/>
        </p:nvSpPr>
        <p:spPr>
          <a:xfrm>
            <a:off x="459328" y="4742932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7. Learning rate (</a:t>
            </a:r>
            <a:r>
              <a:rPr lang="it-IT" dirty="0" err="1">
                <a:latin typeface="Georgia" panose="02040502050405020303" pitchFamily="18" charset="0"/>
              </a:rPr>
              <a:t>eta</a:t>
            </a:r>
            <a:r>
              <a:rPr lang="it-IT" dirty="0">
                <a:latin typeface="Georgia" panose="02040502050405020303" pitchFamily="18" charset="0"/>
              </a:rPr>
              <a:t>)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AB36F88-5C2D-B1BD-E03F-91697F0DE5DF}"/>
              </a:ext>
            </a:extLst>
          </p:cNvPr>
          <p:cNvSpPr txBox="1"/>
          <p:nvPr/>
        </p:nvSpPr>
        <p:spPr>
          <a:xfrm>
            <a:off x="243318" y="5290083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8. Max delta step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" name="Parentesi graffa aperta 1">
            <a:extLst>
              <a:ext uri="{FF2B5EF4-FFF2-40B4-BE49-F238E27FC236}">
                <a16:creationId xmlns:a16="http://schemas.microsoft.com/office/drawing/2014/main" id="{8BEFD278-2BDC-A301-877B-AF2F6F62A1E3}"/>
              </a:ext>
            </a:extLst>
          </p:cNvPr>
          <p:cNvSpPr/>
          <p:nvPr/>
        </p:nvSpPr>
        <p:spPr>
          <a:xfrm rot="10800000">
            <a:off x="4474754" y="1525696"/>
            <a:ext cx="655426" cy="4316299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FF222A5-E833-FCEF-E26D-97D423674B64}"/>
              </a:ext>
            </a:extLst>
          </p:cNvPr>
          <p:cNvSpPr txBox="1"/>
          <p:nvPr/>
        </p:nvSpPr>
        <p:spPr>
          <a:xfrm>
            <a:off x="4948243" y="3329903"/>
            <a:ext cx="66232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To ensure robust results and prevent overfitting, we employed</a:t>
            </a:r>
            <a:r>
              <a:rPr lang="en-US" sz="2000" b="1" dirty="0">
                <a:latin typeface="Georgia" panose="02040502050405020303" pitchFamily="18" charset="0"/>
              </a:rPr>
              <a:t> </a:t>
            </a:r>
            <a:r>
              <a:rPr lang="en-US" sz="2000" dirty="0">
                <a:latin typeface="Georgia" panose="02040502050405020303" pitchFamily="18" charset="0"/>
              </a:rPr>
              <a:t>a</a:t>
            </a:r>
            <a:r>
              <a:rPr lang="en-US" sz="2000" b="1" dirty="0">
                <a:latin typeface="Georgia" panose="02040502050405020303" pitchFamily="18" charset="0"/>
              </a:rPr>
              <a:t> 5-fold cross validation at each step.</a:t>
            </a:r>
          </a:p>
          <a:p>
            <a:pPr algn="ctr"/>
            <a:endParaRPr lang="en-US" sz="2000" b="1" dirty="0">
              <a:latin typeface="Georgia" panose="02040502050405020303" pitchFamily="18" charset="0"/>
            </a:endParaRPr>
          </a:p>
          <a:p>
            <a:pPr algn="ctr"/>
            <a:endParaRPr lang="en-US" sz="2000" b="1" dirty="0">
              <a:latin typeface="Georgia" panose="02040502050405020303" pitchFamily="18" charset="0"/>
            </a:endParaRPr>
          </a:p>
          <a:p>
            <a:pPr algn="ctr"/>
            <a:endParaRPr lang="en-US" sz="2000" b="1" dirty="0">
              <a:latin typeface="Georgia" panose="02040502050405020303" pitchFamily="18" charset="0"/>
            </a:endParaRPr>
          </a:p>
          <a:p>
            <a:pPr algn="ctr"/>
            <a:r>
              <a:rPr lang="en-US" sz="2000" dirty="0">
                <a:latin typeface="Georgia" panose="02040502050405020303" pitchFamily="18" charset="0"/>
              </a:rPr>
              <a:t>By cycling through different training validation splits, we avoided bias from any single partitioning of the dataset and ensured that the results were generalizable.</a:t>
            </a:r>
            <a:r>
              <a:rPr lang="en-US" sz="2000" b="1" dirty="0">
                <a:latin typeface="Georgia" panose="02040502050405020303" pitchFamily="18" charset="0"/>
              </a:rPr>
              <a:t> 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pic>
        <p:nvPicPr>
          <p:cNvPr id="7" name="Elemento grafico 6" descr="Ingranaggi contorno">
            <a:extLst>
              <a:ext uri="{FF2B5EF4-FFF2-40B4-BE49-F238E27FC236}">
                <a16:creationId xmlns:a16="http://schemas.microsoft.com/office/drawing/2014/main" id="{F5D5DA4D-877F-27BF-1B89-D1607B2B5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3179" y="3199090"/>
            <a:ext cx="914400" cy="914400"/>
          </a:xfrm>
          <a:prstGeom prst="rect">
            <a:avLst/>
          </a:prstGeom>
        </p:spPr>
      </p:pic>
      <p:cxnSp>
        <p:nvCxnSpPr>
          <p:cNvPr id="8" name="Straight Arrow Connector 62">
            <a:extLst>
              <a:ext uri="{FF2B5EF4-FFF2-40B4-BE49-F238E27FC236}">
                <a16:creationId xmlns:a16="http://schemas.microsoft.com/office/drawing/2014/main" id="{3FB2F4AC-0241-3EC9-D000-663782BA6CE4}"/>
              </a:ext>
            </a:extLst>
          </p:cNvPr>
          <p:cNvCxnSpPr>
            <a:cxnSpLocks/>
          </p:cNvCxnSpPr>
          <p:nvPr/>
        </p:nvCxnSpPr>
        <p:spPr>
          <a:xfrm>
            <a:off x="8293100" y="4113490"/>
            <a:ext cx="0" cy="62944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rentesi graffa aperta 13">
            <a:extLst>
              <a:ext uri="{FF2B5EF4-FFF2-40B4-BE49-F238E27FC236}">
                <a16:creationId xmlns:a16="http://schemas.microsoft.com/office/drawing/2014/main" id="{2EF947E7-AA53-D060-8461-D280CA0873CC}"/>
              </a:ext>
            </a:extLst>
          </p:cNvPr>
          <p:cNvSpPr/>
          <p:nvPr/>
        </p:nvSpPr>
        <p:spPr>
          <a:xfrm rot="10800000">
            <a:off x="-890466" y="1525696"/>
            <a:ext cx="655426" cy="4316299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59971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-4472179" y="1292435"/>
            <a:ext cx="48196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Max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Gamma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Subsample</a:t>
            </a:r>
            <a:r>
              <a:rPr lang="it-IT" dirty="0">
                <a:latin typeface="Georgia" panose="02040502050405020303" pitchFamily="18" charset="0"/>
              </a:rPr>
              <a:t> ; </a:t>
            </a:r>
            <a:r>
              <a:rPr lang="it-IT" dirty="0" err="1">
                <a:latin typeface="Georgia" panose="02040502050405020303" pitchFamily="18" charset="0"/>
              </a:rPr>
              <a:t>Colsample</a:t>
            </a:r>
            <a:r>
              <a:rPr lang="it-IT" dirty="0">
                <a:latin typeface="Georgia" panose="02040502050405020303" pitchFamily="18" charset="0"/>
              </a:rPr>
              <a:t> by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Lambda ; Alpha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DE58D8F6-F511-1981-2B14-77A64BE85076}"/>
              </a:ext>
            </a:extLst>
          </p:cNvPr>
          <p:cNvSpPr txBox="1"/>
          <p:nvPr/>
        </p:nvSpPr>
        <p:spPr>
          <a:xfrm>
            <a:off x="-4544472" y="4491587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7. Learning rate (</a:t>
            </a:r>
            <a:r>
              <a:rPr lang="it-IT" dirty="0" err="1">
                <a:latin typeface="Georgia" panose="02040502050405020303" pitchFamily="18" charset="0"/>
              </a:rPr>
              <a:t>eta</a:t>
            </a:r>
            <a:r>
              <a:rPr lang="it-IT" dirty="0">
                <a:latin typeface="Georgia" panose="02040502050405020303" pitchFamily="18" charset="0"/>
              </a:rPr>
              <a:t>)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AB36F88-5C2D-B1BD-E03F-91697F0DE5DF}"/>
              </a:ext>
            </a:extLst>
          </p:cNvPr>
          <p:cNvSpPr txBox="1"/>
          <p:nvPr/>
        </p:nvSpPr>
        <p:spPr>
          <a:xfrm>
            <a:off x="-4747782" y="5048783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8. Max delta step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" name="Parentesi graffa aperta 1">
            <a:extLst>
              <a:ext uri="{FF2B5EF4-FFF2-40B4-BE49-F238E27FC236}">
                <a16:creationId xmlns:a16="http://schemas.microsoft.com/office/drawing/2014/main" id="{8BEFD278-2BDC-A301-877B-AF2F6F62A1E3}"/>
              </a:ext>
            </a:extLst>
          </p:cNvPr>
          <p:cNvSpPr/>
          <p:nvPr/>
        </p:nvSpPr>
        <p:spPr>
          <a:xfrm rot="10800000">
            <a:off x="-720601" y="1325291"/>
            <a:ext cx="655426" cy="4316299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FF222A5-E833-FCEF-E26D-97D423674B64}"/>
              </a:ext>
            </a:extLst>
          </p:cNvPr>
          <p:cNvSpPr txBox="1"/>
          <p:nvPr/>
        </p:nvSpPr>
        <p:spPr>
          <a:xfrm>
            <a:off x="-92049" y="1670434"/>
            <a:ext cx="6623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To ensure robust results and prevent overfitting, we employed</a:t>
            </a:r>
            <a:r>
              <a:rPr lang="en-US" sz="2000" b="1" dirty="0">
                <a:latin typeface="Georgia" panose="02040502050405020303" pitchFamily="18" charset="0"/>
              </a:rPr>
              <a:t> </a:t>
            </a:r>
            <a:r>
              <a:rPr lang="en-US" sz="2000" dirty="0">
                <a:latin typeface="Georgia" panose="02040502050405020303" pitchFamily="18" charset="0"/>
              </a:rPr>
              <a:t>a</a:t>
            </a:r>
            <a:r>
              <a:rPr lang="en-US" sz="2000" b="1" dirty="0">
                <a:latin typeface="Georgia" panose="02040502050405020303" pitchFamily="18" charset="0"/>
              </a:rPr>
              <a:t> 5-fold cross validation at each step. 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pic>
        <p:nvPicPr>
          <p:cNvPr id="7" name="Elemento grafico 6" descr="Ingranaggi contorno">
            <a:extLst>
              <a:ext uri="{FF2B5EF4-FFF2-40B4-BE49-F238E27FC236}">
                <a16:creationId xmlns:a16="http://schemas.microsoft.com/office/drawing/2014/main" id="{F5D5DA4D-877F-27BF-1B89-D1607B2B5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5339" y="1567177"/>
            <a:ext cx="914400" cy="9144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2B0C236-01F1-6F94-A104-226E028E7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40" y="2970849"/>
            <a:ext cx="3941699" cy="2594716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045B6B0D-4C6D-517A-4919-B0A4A94B1E30}"/>
              </a:ext>
            </a:extLst>
          </p:cNvPr>
          <p:cNvSpPr txBox="1"/>
          <p:nvPr/>
        </p:nvSpPr>
        <p:spPr>
          <a:xfrm>
            <a:off x="5405500" y="3791649"/>
            <a:ext cx="475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At each step, we store the best values and use them for further tuning in the next step…</a:t>
            </a:r>
            <a:endParaRPr lang="it-IT" b="1" dirty="0">
              <a:latin typeface="Georgia" panose="02040502050405020303" pitchFamily="18" charset="0"/>
            </a:endParaRPr>
          </a:p>
        </p:txBody>
      </p:sp>
      <p:cxnSp>
        <p:nvCxnSpPr>
          <p:cNvPr id="11" name="Straight Arrow Connector 62">
            <a:extLst>
              <a:ext uri="{FF2B5EF4-FFF2-40B4-BE49-F238E27FC236}">
                <a16:creationId xmlns:a16="http://schemas.microsoft.com/office/drawing/2014/main" id="{DBAF36D9-160A-B036-8B3F-B3E34CFFA49C}"/>
              </a:ext>
            </a:extLst>
          </p:cNvPr>
          <p:cNvCxnSpPr>
            <a:cxnSpLocks/>
          </p:cNvCxnSpPr>
          <p:nvPr/>
        </p:nvCxnSpPr>
        <p:spPr>
          <a:xfrm>
            <a:off x="4483100" y="4000515"/>
            <a:ext cx="80810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">
            <a:extLst>
              <a:ext uri="{FF2B5EF4-FFF2-40B4-BE49-F238E27FC236}">
                <a16:creationId xmlns:a16="http://schemas.microsoft.com/office/drawing/2014/main" id="{0CDC667F-0D46-0034-0C41-5F650574BF09}"/>
              </a:ext>
            </a:extLst>
          </p:cNvPr>
          <p:cNvSpPr txBox="1"/>
          <p:nvPr/>
        </p:nvSpPr>
        <p:spPr>
          <a:xfrm>
            <a:off x="6095999" y="4587118"/>
            <a:ext cx="3085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rgbClr val="FF0000"/>
                </a:solidFill>
                <a:latin typeface="Georgia" panose="02040502050405020303" pitchFamily="18" charset="0"/>
              </a:rPr>
              <a:t>max_tree_depth</a:t>
            </a:r>
            <a:r>
              <a:rPr lang="it-IT" dirty="0">
                <a:solidFill>
                  <a:srgbClr val="FF0000"/>
                </a:solidFill>
                <a:latin typeface="Georgia" panose="02040502050405020303" pitchFamily="18" charset="0"/>
              </a:rPr>
              <a:t> = 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rgbClr val="FF0000"/>
                </a:solidFill>
                <a:latin typeface="Georgia" panose="02040502050405020303" pitchFamily="18" charset="0"/>
              </a:rPr>
              <a:t>min_child_weight</a:t>
            </a:r>
            <a:r>
              <a:rPr lang="it-IT" dirty="0">
                <a:solidFill>
                  <a:srgbClr val="FF0000"/>
                </a:solidFill>
                <a:latin typeface="Georgia" panose="02040502050405020303" pitchFamily="18" charset="0"/>
              </a:rPr>
              <a:t> = 1</a:t>
            </a:r>
          </a:p>
          <a:p>
            <a:pPr algn="ctr"/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3" name="Straight Connector 5">
            <a:extLst>
              <a:ext uri="{FF2B5EF4-FFF2-40B4-BE49-F238E27FC236}">
                <a16:creationId xmlns:a16="http://schemas.microsoft.com/office/drawing/2014/main" id="{B056AE3A-FC44-BF21-71A2-BD8E93E90388}"/>
              </a:ext>
            </a:extLst>
          </p:cNvPr>
          <p:cNvCxnSpPr>
            <a:cxnSpLocks/>
          </p:cNvCxnSpPr>
          <p:nvPr/>
        </p:nvCxnSpPr>
        <p:spPr>
          <a:xfrm>
            <a:off x="12727940" y="2784702"/>
            <a:ext cx="0" cy="285688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118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-4472179" y="1292435"/>
            <a:ext cx="48196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Max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Gamma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Subsample</a:t>
            </a:r>
            <a:r>
              <a:rPr lang="it-IT" dirty="0">
                <a:latin typeface="Georgia" panose="02040502050405020303" pitchFamily="18" charset="0"/>
              </a:rPr>
              <a:t> ; </a:t>
            </a:r>
            <a:r>
              <a:rPr lang="it-IT" dirty="0" err="1">
                <a:latin typeface="Georgia" panose="02040502050405020303" pitchFamily="18" charset="0"/>
              </a:rPr>
              <a:t>Colsample</a:t>
            </a:r>
            <a:r>
              <a:rPr lang="it-IT" dirty="0">
                <a:latin typeface="Georgia" panose="02040502050405020303" pitchFamily="18" charset="0"/>
              </a:rPr>
              <a:t> by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Lambda ; Alpha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DE58D8F6-F511-1981-2B14-77A64BE85076}"/>
              </a:ext>
            </a:extLst>
          </p:cNvPr>
          <p:cNvSpPr txBox="1"/>
          <p:nvPr/>
        </p:nvSpPr>
        <p:spPr>
          <a:xfrm>
            <a:off x="-4544472" y="4491587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7. Learning rate (</a:t>
            </a:r>
            <a:r>
              <a:rPr lang="it-IT" dirty="0" err="1">
                <a:latin typeface="Georgia" panose="02040502050405020303" pitchFamily="18" charset="0"/>
              </a:rPr>
              <a:t>eta</a:t>
            </a:r>
            <a:r>
              <a:rPr lang="it-IT" dirty="0">
                <a:latin typeface="Georgia" panose="02040502050405020303" pitchFamily="18" charset="0"/>
              </a:rPr>
              <a:t>)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AB36F88-5C2D-B1BD-E03F-91697F0DE5DF}"/>
              </a:ext>
            </a:extLst>
          </p:cNvPr>
          <p:cNvSpPr txBox="1"/>
          <p:nvPr/>
        </p:nvSpPr>
        <p:spPr>
          <a:xfrm>
            <a:off x="-4747782" y="5048783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8. Max delta step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" name="Parentesi graffa aperta 1">
            <a:extLst>
              <a:ext uri="{FF2B5EF4-FFF2-40B4-BE49-F238E27FC236}">
                <a16:creationId xmlns:a16="http://schemas.microsoft.com/office/drawing/2014/main" id="{8BEFD278-2BDC-A301-877B-AF2F6F62A1E3}"/>
              </a:ext>
            </a:extLst>
          </p:cNvPr>
          <p:cNvSpPr/>
          <p:nvPr/>
        </p:nvSpPr>
        <p:spPr>
          <a:xfrm rot="10800000">
            <a:off x="-720601" y="1325291"/>
            <a:ext cx="655426" cy="4316299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FF222A5-E833-FCEF-E26D-97D423674B64}"/>
              </a:ext>
            </a:extLst>
          </p:cNvPr>
          <p:cNvSpPr txBox="1"/>
          <p:nvPr/>
        </p:nvSpPr>
        <p:spPr>
          <a:xfrm>
            <a:off x="-92049" y="1670434"/>
            <a:ext cx="6623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To ensure robust results and prevent overfitting, we employed</a:t>
            </a:r>
            <a:r>
              <a:rPr lang="en-US" sz="2000" b="1" dirty="0">
                <a:latin typeface="Georgia" panose="02040502050405020303" pitchFamily="18" charset="0"/>
              </a:rPr>
              <a:t> </a:t>
            </a:r>
            <a:r>
              <a:rPr lang="en-US" sz="2000" dirty="0">
                <a:latin typeface="Georgia" panose="02040502050405020303" pitchFamily="18" charset="0"/>
              </a:rPr>
              <a:t>a</a:t>
            </a:r>
            <a:r>
              <a:rPr lang="en-US" sz="2000" b="1" dirty="0">
                <a:latin typeface="Georgia" panose="02040502050405020303" pitchFamily="18" charset="0"/>
              </a:rPr>
              <a:t> 5-fold cross validation at each step. 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pic>
        <p:nvPicPr>
          <p:cNvPr id="7" name="Elemento grafico 6" descr="Ingranaggi contorno">
            <a:extLst>
              <a:ext uri="{FF2B5EF4-FFF2-40B4-BE49-F238E27FC236}">
                <a16:creationId xmlns:a16="http://schemas.microsoft.com/office/drawing/2014/main" id="{F5D5DA4D-877F-27BF-1B89-D1607B2B5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5339" y="1567177"/>
            <a:ext cx="914400" cy="9144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2B0C236-01F1-6F94-A104-226E028E7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669" y="2973065"/>
            <a:ext cx="2068469" cy="1361618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00383960-7487-FEB8-AB8D-99991D302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3823" y="2823283"/>
            <a:ext cx="4499617" cy="2868715"/>
          </a:xfrm>
          <a:prstGeom prst="rect">
            <a:avLst/>
          </a:prstGeom>
        </p:spPr>
      </p:pic>
      <p:sp>
        <p:nvSpPr>
          <p:cNvPr id="17" name="TextBox 1">
            <a:extLst>
              <a:ext uri="{FF2B5EF4-FFF2-40B4-BE49-F238E27FC236}">
                <a16:creationId xmlns:a16="http://schemas.microsoft.com/office/drawing/2014/main" id="{8E0C8F60-0451-E81A-56E6-75375F4CD8CB}"/>
              </a:ext>
            </a:extLst>
          </p:cNvPr>
          <p:cNvSpPr txBox="1"/>
          <p:nvPr/>
        </p:nvSpPr>
        <p:spPr>
          <a:xfrm>
            <a:off x="206549" y="4639266"/>
            <a:ext cx="227826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solidFill>
                  <a:srgbClr val="FF0000"/>
                </a:solidFill>
                <a:latin typeface="Georgia" panose="02040502050405020303" pitchFamily="18" charset="0"/>
              </a:rPr>
              <a:t>max_tree_depth</a:t>
            </a:r>
            <a:r>
              <a:rPr lang="it-IT" sz="1400" dirty="0">
                <a:solidFill>
                  <a:srgbClr val="FF0000"/>
                </a:solidFill>
                <a:latin typeface="Georgia" panose="02040502050405020303" pitchFamily="18" charset="0"/>
              </a:rPr>
              <a:t> =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solidFill>
                  <a:srgbClr val="FF0000"/>
                </a:solidFill>
                <a:latin typeface="Georgia" panose="02040502050405020303" pitchFamily="18" charset="0"/>
              </a:rPr>
              <a:t>min_child_weight</a:t>
            </a:r>
            <a:r>
              <a:rPr lang="it-IT" sz="1400" dirty="0">
                <a:solidFill>
                  <a:srgbClr val="FF0000"/>
                </a:solidFill>
                <a:latin typeface="Georgia" panose="02040502050405020303" pitchFamily="18" charset="0"/>
              </a:rPr>
              <a:t> = 1</a:t>
            </a:r>
          </a:p>
          <a:p>
            <a:pPr algn="ctr"/>
            <a:endParaRPr lang="it-IT" dirty="0">
              <a:latin typeface="Georgia" panose="02040502050405020303" pitchFamily="18" charset="0"/>
            </a:endParaRPr>
          </a:p>
        </p:txBody>
      </p:sp>
      <p:sp>
        <p:nvSpPr>
          <p:cNvPr id="18" name="TextBox 1">
            <a:extLst>
              <a:ext uri="{FF2B5EF4-FFF2-40B4-BE49-F238E27FC236}">
                <a16:creationId xmlns:a16="http://schemas.microsoft.com/office/drawing/2014/main" id="{10E9D0FF-F236-041B-F058-C3AA0C75720E}"/>
              </a:ext>
            </a:extLst>
          </p:cNvPr>
          <p:cNvSpPr txBox="1"/>
          <p:nvPr/>
        </p:nvSpPr>
        <p:spPr>
          <a:xfrm>
            <a:off x="7972942" y="3645769"/>
            <a:ext cx="308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FF0000"/>
                </a:solidFill>
                <a:latin typeface="Georgia" panose="02040502050405020303" pitchFamily="18" charset="0"/>
              </a:rPr>
              <a:t>Gamma = 1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20" name="Straight Connector 5">
            <a:extLst>
              <a:ext uri="{FF2B5EF4-FFF2-40B4-BE49-F238E27FC236}">
                <a16:creationId xmlns:a16="http://schemas.microsoft.com/office/drawing/2014/main" id="{EFC78C82-EC2C-FA16-5434-2549E9BB83B0}"/>
              </a:ext>
            </a:extLst>
          </p:cNvPr>
          <p:cNvCxnSpPr>
            <a:cxnSpLocks/>
          </p:cNvCxnSpPr>
          <p:nvPr/>
        </p:nvCxnSpPr>
        <p:spPr>
          <a:xfrm>
            <a:off x="2834640" y="2708677"/>
            <a:ext cx="0" cy="285688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5">
            <a:extLst>
              <a:ext uri="{FF2B5EF4-FFF2-40B4-BE49-F238E27FC236}">
                <a16:creationId xmlns:a16="http://schemas.microsoft.com/office/drawing/2014/main" id="{81CF2AD3-F35A-1A9D-3372-C75532AEA09A}"/>
              </a:ext>
            </a:extLst>
          </p:cNvPr>
          <p:cNvCxnSpPr>
            <a:cxnSpLocks/>
          </p:cNvCxnSpPr>
          <p:nvPr/>
        </p:nvCxnSpPr>
        <p:spPr>
          <a:xfrm>
            <a:off x="12402820" y="2862095"/>
            <a:ext cx="0" cy="285688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71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Step-</a:t>
            </a:r>
            <a:r>
              <a:rPr lang="it-IT" sz="2800" dirty="0" err="1">
                <a:latin typeface="Georgia" panose="02040502050405020303" pitchFamily="18" charset="0"/>
              </a:rPr>
              <a:t>wise</a:t>
            </a:r>
            <a:r>
              <a:rPr lang="it-IT" sz="2800" dirty="0">
                <a:latin typeface="Georgia" panose="02040502050405020303" pitchFamily="18" charset="0"/>
              </a:rPr>
              <a:t> tuning strategy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9" name="TextBox 44">
            <a:extLst>
              <a:ext uri="{FF2B5EF4-FFF2-40B4-BE49-F238E27FC236}">
                <a16:creationId xmlns:a16="http://schemas.microsoft.com/office/drawing/2014/main" id="{1D833B6A-0F88-9EBA-1691-7CC333BCEA77}"/>
              </a:ext>
            </a:extLst>
          </p:cNvPr>
          <p:cNvSpPr txBox="1"/>
          <p:nvPr/>
        </p:nvSpPr>
        <p:spPr>
          <a:xfrm>
            <a:off x="-4472179" y="1292435"/>
            <a:ext cx="481961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 Start the </a:t>
            </a:r>
            <a:r>
              <a:rPr lang="it-IT" dirty="0" err="1">
                <a:latin typeface="Georgia" panose="02040502050405020303" pitchFamily="18" charset="0"/>
              </a:rPr>
              <a:t>initial</a:t>
            </a:r>
            <a:r>
              <a:rPr lang="it-IT" dirty="0">
                <a:latin typeface="Georgia" panose="02040502050405020303" pitchFamily="18" charset="0"/>
              </a:rPr>
              <a:t> default </a:t>
            </a:r>
            <a:r>
              <a:rPr lang="it-IT" dirty="0" err="1">
                <a:latin typeface="Georgia" panose="02040502050405020303" pitchFamily="18" charset="0"/>
              </a:rPr>
              <a:t>values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boosting</a:t>
            </a:r>
            <a:r>
              <a:rPr lang="it-IT" dirty="0">
                <a:latin typeface="Georgia" panose="02040502050405020303" pitchFamily="18" charset="0"/>
              </a:rPr>
              <a:t> rounds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Max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depth</a:t>
            </a:r>
            <a:r>
              <a:rPr lang="it-IT" dirty="0">
                <a:latin typeface="Georgia" panose="02040502050405020303" pitchFamily="18" charset="0"/>
              </a:rPr>
              <a:t> ; Min </a:t>
            </a:r>
            <a:r>
              <a:rPr lang="it-IT" dirty="0" err="1">
                <a:latin typeface="Georgia" panose="02040502050405020303" pitchFamily="18" charset="0"/>
              </a:rPr>
              <a:t>child</a:t>
            </a:r>
            <a:r>
              <a:rPr lang="it-IT" dirty="0">
                <a:latin typeface="Georgia" panose="02040502050405020303" pitchFamily="18" charset="0"/>
              </a:rPr>
              <a:t> weight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Gamma</a:t>
            </a: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Georgia" panose="02040502050405020303" pitchFamily="18" charset="0"/>
              </a:rPr>
              <a:t>Subsample</a:t>
            </a:r>
            <a:r>
              <a:rPr lang="it-IT" dirty="0">
                <a:latin typeface="Georgia" panose="02040502050405020303" pitchFamily="18" charset="0"/>
              </a:rPr>
              <a:t> ; </a:t>
            </a:r>
            <a:r>
              <a:rPr lang="it-IT" dirty="0" err="1">
                <a:latin typeface="Georgia" panose="02040502050405020303" pitchFamily="18" charset="0"/>
              </a:rPr>
              <a:t>Colsample</a:t>
            </a:r>
            <a:r>
              <a:rPr lang="it-IT" dirty="0">
                <a:latin typeface="Georgia" panose="02040502050405020303" pitchFamily="18" charset="0"/>
              </a:rPr>
              <a:t> by </a:t>
            </a:r>
            <a:r>
              <a:rPr lang="it-IT" dirty="0" err="1">
                <a:latin typeface="Georgia" panose="02040502050405020303" pitchFamily="18" charset="0"/>
              </a:rPr>
              <a:t>tree</a:t>
            </a: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it-IT" dirty="0">
              <a:latin typeface="Georgia" panose="02040502050405020303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Georgia" panose="02040502050405020303" pitchFamily="18" charset="0"/>
              </a:rPr>
              <a:t>Lambda ; Alpha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DE58D8F6-F511-1981-2B14-77A64BE85076}"/>
              </a:ext>
            </a:extLst>
          </p:cNvPr>
          <p:cNvSpPr txBox="1"/>
          <p:nvPr/>
        </p:nvSpPr>
        <p:spPr>
          <a:xfrm>
            <a:off x="-4544472" y="4491587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7. Learning rate (</a:t>
            </a:r>
            <a:r>
              <a:rPr lang="it-IT" dirty="0" err="1">
                <a:latin typeface="Georgia" panose="02040502050405020303" pitchFamily="18" charset="0"/>
              </a:rPr>
              <a:t>eta</a:t>
            </a:r>
            <a:r>
              <a:rPr lang="it-IT" dirty="0">
                <a:latin typeface="Georgia" panose="02040502050405020303" pitchFamily="18" charset="0"/>
              </a:rPr>
              <a:t>)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AB36F88-5C2D-B1BD-E03F-91697F0DE5DF}"/>
              </a:ext>
            </a:extLst>
          </p:cNvPr>
          <p:cNvSpPr txBox="1"/>
          <p:nvPr/>
        </p:nvSpPr>
        <p:spPr>
          <a:xfrm>
            <a:off x="-4747782" y="5048783"/>
            <a:ext cx="2482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8. Max delta step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" name="Parentesi graffa aperta 1">
            <a:extLst>
              <a:ext uri="{FF2B5EF4-FFF2-40B4-BE49-F238E27FC236}">
                <a16:creationId xmlns:a16="http://schemas.microsoft.com/office/drawing/2014/main" id="{8BEFD278-2BDC-A301-877B-AF2F6F62A1E3}"/>
              </a:ext>
            </a:extLst>
          </p:cNvPr>
          <p:cNvSpPr/>
          <p:nvPr/>
        </p:nvSpPr>
        <p:spPr>
          <a:xfrm rot="10800000">
            <a:off x="-720601" y="1325291"/>
            <a:ext cx="655426" cy="4316299"/>
          </a:xfrm>
          <a:prstGeom prst="leftBrace">
            <a:avLst>
              <a:gd name="adj1" fmla="val 57673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FF222A5-E833-FCEF-E26D-97D423674B64}"/>
              </a:ext>
            </a:extLst>
          </p:cNvPr>
          <p:cNvSpPr txBox="1"/>
          <p:nvPr/>
        </p:nvSpPr>
        <p:spPr>
          <a:xfrm>
            <a:off x="-92049" y="1670434"/>
            <a:ext cx="6623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To ensure robust results and prevent overfitting, we employed</a:t>
            </a:r>
            <a:r>
              <a:rPr lang="en-US" sz="2000" b="1" dirty="0">
                <a:latin typeface="Georgia" panose="02040502050405020303" pitchFamily="18" charset="0"/>
              </a:rPr>
              <a:t> </a:t>
            </a:r>
            <a:r>
              <a:rPr lang="en-US" sz="2000" dirty="0">
                <a:latin typeface="Georgia" panose="02040502050405020303" pitchFamily="18" charset="0"/>
              </a:rPr>
              <a:t>a</a:t>
            </a:r>
            <a:r>
              <a:rPr lang="en-US" sz="2000" b="1" dirty="0">
                <a:latin typeface="Georgia" panose="02040502050405020303" pitchFamily="18" charset="0"/>
              </a:rPr>
              <a:t> 5-fold cross validation at each step. </a:t>
            </a:r>
            <a:endParaRPr lang="it-IT" sz="2000" b="1" dirty="0">
              <a:latin typeface="Georgia" panose="02040502050405020303" pitchFamily="18" charset="0"/>
            </a:endParaRPr>
          </a:p>
        </p:txBody>
      </p:sp>
      <p:pic>
        <p:nvPicPr>
          <p:cNvPr id="7" name="Elemento grafico 6" descr="Ingranaggi contorno">
            <a:extLst>
              <a:ext uri="{FF2B5EF4-FFF2-40B4-BE49-F238E27FC236}">
                <a16:creationId xmlns:a16="http://schemas.microsoft.com/office/drawing/2014/main" id="{F5D5DA4D-877F-27BF-1B89-D1607B2B5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5339" y="1567177"/>
            <a:ext cx="914400" cy="914400"/>
          </a:xfrm>
          <a:prstGeom prst="rect">
            <a:avLst/>
          </a:prstGeom>
        </p:spPr>
      </p:pic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0BAFADBD-08F8-3E08-8683-F732CF4C6017}"/>
              </a:ext>
            </a:extLst>
          </p:cNvPr>
          <p:cNvCxnSpPr>
            <a:cxnSpLocks/>
          </p:cNvCxnSpPr>
          <p:nvPr/>
        </p:nvCxnSpPr>
        <p:spPr>
          <a:xfrm>
            <a:off x="2814320" y="2862095"/>
            <a:ext cx="0" cy="285688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magine 15">
            <a:extLst>
              <a:ext uri="{FF2B5EF4-FFF2-40B4-BE49-F238E27FC236}">
                <a16:creationId xmlns:a16="http://schemas.microsoft.com/office/drawing/2014/main" id="{00383960-7487-FEB8-AB8D-99991D302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908" y="2806018"/>
            <a:ext cx="2549992" cy="1625738"/>
          </a:xfrm>
          <a:prstGeom prst="rect">
            <a:avLst/>
          </a:prstGeom>
        </p:spPr>
      </p:pic>
      <p:sp>
        <p:nvSpPr>
          <p:cNvPr id="18" name="TextBox 1">
            <a:extLst>
              <a:ext uri="{FF2B5EF4-FFF2-40B4-BE49-F238E27FC236}">
                <a16:creationId xmlns:a16="http://schemas.microsoft.com/office/drawing/2014/main" id="{10E9D0FF-F236-041B-F058-C3AA0C75720E}"/>
              </a:ext>
            </a:extLst>
          </p:cNvPr>
          <p:cNvSpPr txBox="1"/>
          <p:nvPr/>
        </p:nvSpPr>
        <p:spPr>
          <a:xfrm>
            <a:off x="347440" y="4730865"/>
            <a:ext cx="3085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FF0000"/>
                </a:solidFill>
                <a:latin typeface="Georgia" panose="02040502050405020303" pitchFamily="18" charset="0"/>
              </a:rPr>
              <a:t>Gamma = 1</a:t>
            </a:r>
            <a:endParaRPr lang="it-IT" dirty="0">
              <a:latin typeface="Georgia" panose="02040502050405020303" pitchFamily="18" charset="0"/>
            </a:endParaRPr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F28B085F-B1F0-49AE-4869-9BC9595D908C}"/>
              </a:ext>
            </a:extLst>
          </p:cNvPr>
          <p:cNvCxnSpPr>
            <a:cxnSpLocks/>
          </p:cNvCxnSpPr>
          <p:nvPr/>
        </p:nvCxnSpPr>
        <p:spPr>
          <a:xfrm>
            <a:off x="12745720" y="2835110"/>
            <a:ext cx="0" cy="285688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magine 11">
            <a:extLst>
              <a:ext uri="{FF2B5EF4-FFF2-40B4-BE49-F238E27FC236}">
                <a16:creationId xmlns:a16="http://schemas.microsoft.com/office/drawing/2014/main" id="{099AF436-58D8-569E-0EF9-F84A1AEA2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890" y="2964225"/>
            <a:ext cx="4206913" cy="2626081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482F7179-F2B9-D7AD-5C05-A52E67952519}"/>
              </a:ext>
            </a:extLst>
          </p:cNvPr>
          <p:cNvSpPr txBox="1"/>
          <p:nvPr/>
        </p:nvSpPr>
        <p:spPr>
          <a:xfrm>
            <a:off x="7962238" y="3353935"/>
            <a:ext cx="3085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rgbClr val="FF0000"/>
                </a:solidFill>
                <a:latin typeface="Georgia" panose="02040502050405020303" pitchFamily="18" charset="0"/>
              </a:rPr>
              <a:t>Subsample</a:t>
            </a:r>
            <a:r>
              <a:rPr lang="it-IT" dirty="0">
                <a:solidFill>
                  <a:srgbClr val="FF0000"/>
                </a:solidFill>
                <a:latin typeface="Georgia" panose="02040502050405020303" pitchFamily="18" charset="0"/>
              </a:rPr>
              <a:t> = 0.9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>
                <a:solidFill>
                  <a:srgbClr val="FF0000"/>
                </a:solidFill>
                <a:latin typeface="Georgia" panose="02040502050405020303" pitchFamily="18" charset="0"/>
              </a:rPr>
              <a:t>Colsample</a:t>
            </a:r>
            <a:r>
              <a:rPr lang="it-IT" dirty="0">
                <a:solidFill>
                  <a:srgbClr val="FF0000"/>
                </a:solidFill>
                <a:latin typeface="Georgia" panose="02040502050405020303" pitchFamily="18" charset="0"/>
              </a:rPr>
              <a:t> by </a:t>
            </a:r>
            <a:r>
              <a:rPr lang="it-IT" dirty="0" err="1">
                <a:solidFill>
                  <a:srgbClr val="FF0000"/>
                </a:solidFill>
                <a:latin typeface="Georgia" panose="02040502050405020303" pitchFamily="18" charset="0"/>
              </a:rPr>
              <a:t>tree</a:t>
            </a:r>
            <a:r>
              <a:rPr lang="it-IT" dirty="0">
                <a:solidFill>
                  <a:srgbClr val="FF0000"/>
                </a:solidFill>
                <a:latin typeface="Georgia" panose="02040502050405020303" pitchFamily="18" charset="0"/>
              </a:rPr>
              <a:t> = 1</a:t>
            </a:r>
          </a:p>
          <a:p>
            <a:pPr algn="ctr"/>
            <a:endParaRPr lang="it-IT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880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Stepwise</a:t>
            </a:r>
            <a:r>
              <a:rPr lang="it-IT" sz="2800" dirty="0">
                <a:latin typeface="Georgia" panose="02040502050405020303" pitchFamily="18" charset="0"/>
              </a:rPr>
              <a:t> tuning procedure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2E365F9E-C31D-1A54-38EF-49CC7DF01227}"/>
              </a:ext>
            </a:extLst>
          </p:cNvPr>
          <p:cNvSpPr txBox="1"/>
          <p:nvPr/>
        </p:nvSpPr>
        <p:spPr>
          <a:xfrm>
            <a:off x="1487962" y="1807842"/>
            <a:ext cx="50439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50" dirty="0">
                <a:latin typeface="Georgia" panose="02040502050405020303" pitchFamily="18" charset="0"/>
              </a:rPr>
              <a:t>Update the </a:t>
            </a:r>
            <a:r>
              <a:rPr lang="it-IT" sz="1050" dirty="0" err="1">
                <a:latin typeface="Georgia" panose="02040502050405020303" pitchFamily="18" charset="0"/>
              </a:rPr>
              <a:t>initial</a:t>
            </a:r>
            <a:r>
              <a:rPr lang="it-IT" sz="1050" dirty="0">
                <a:latin typeface="Georgia" panose="02040502050405020303" pitchFamily="18" charset="0"/>
              </a:rPr>
              <a:t> default </a:t>
            </a:r>
            <a:r>
              <a:rPr lang="it-IT" sz="1050" dirty="0" err="1">
                <a:latin typeface="Georgia" panose="02040502050405020303" pitchFamily="18" charset="0"/>
              </a:rPr>
              <a:t>values</a:t>
            </a:r>
            <a:r>
              <a:rPr lang="it-IT" sz="1050" dirty="0">
                <a:latin typeface="Georgia" panose="02040502050405020303" pitchFamily="18" charset="0"/>
              </a:rPr>
              <a:t> with:</a:t>
            </a:r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30E355B7-EDD5-7167-C2BC-F73FABEAEDE1}"/>
              </a:ext>
            </a:extLst>
          </p:cNvPr>
          <p:cNvCxnSpPr>
            <a:cxnSpLocks/>
          </p:cNvCxnSpPr>
          <p:nvPr/>
        </p:nvCxnSpPr>
        <p:spPr>
          <a:xfrm>
            <a:off x="5282131" y="1617527"/>
            <a:ext cx="0" cy="1801746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BAD447C6-25D9-1539-E414-DEE889C909B1}"/>
              </a:ext>
            </a:extLst>
          </p:cNvPr>
          <p:cNvSpPr txBox="1"/>
          <p:nvPr/>
        </p:nvSpPr>
        <p:spPr>
          <a:xfrm>
            <a:off x="2998557" y="4605666"/>
            <a:ext cx="2658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FF0000"/>
                </a:solidFill>
                <a:latin typeface="Georgia" panose="02040502050405020303" pitchFamily="18" charset="0"/>
              </a:rPr>
              <a:t>Alpha = 0.5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FF0000"/>
                </a:solidFill>
                <a:latin typeface="Georgia" panose="02040502050405020303" pitchFamily="18" charset="0"/>
              </a:rPr>
              <a:t>Lambda = 1</a:t>
            </a:r>
          </a:p>
        </p:txBody>
      </p:sp>
      <p:cxnSp>
        <p:nvCxnSpPr>
          <p:cNvPr id="14" name="Straight Connector 5">
            <a:extLst>
              <a:ext uri="{FF2B5EF4-FFF2-40B4-BE49-F238E27FC236}">
                <a16:creationId xmlns:a16="http://schemas.microsoft.com/office/drawing/2014/main" id="{D00AC421-9AB1-17E5-D258-D0D44F3E9BEB}"/>
              </a:ext>
            </a:extLst>
          </p:cNvPr>
          <p:cNvCxnSpPr>
            <a:cxnSpLocks/>
          </p:cNvCxnSpPr>
          <p:nvPr/>
        </p:nvCxnSpPr>
        <p:spPr>
          <a:xfrm flipH="1">
            <a:off x="125128" y="3406334"/>
            <a:ext cx="5157003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29EC4227-4155-014E-ADDF-546E98BFD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761" y="1353569"/>
            <a:ext cx="2480065" cy="154813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E0DA2063-4B39-D8AC-C420-F2BDBFB85666}"/>
              </a:ext>
            </a:extLst>
          </p:cNvPr>
          <p:cNvSpPr txBox="1"/>
          <p:nvPr/>
        </p:nvSpPr>
        <p:spPr>
          <a:xfrm>
            <a:off x="2916951" y="2160304"/>
            <a:ext cx="2743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 err="1">
                <a:solidFill>
                  <a:srgbClr val="FF0000"/>
                </a:solidFill>
                <a:latin typeface="Georgia" panose="02040502050405020303" pitchFamily="18" charset="0"/>
              </a:rPr>
              <a:t>Subsample</a:t>
            </a:r>
            <a:r>
              <a:rPr lang="it-IT" sz="1100" dirty="0">
                <a:solidFill>
                  <a:srgbClr val="FF0000"/>
                </a:solidFill>
                <a:latin typeface="Georgia" panose="02040502050405020303" pitchFamily="18" charset="0"/>
              </a:rPr>
              <a:t> = 0.9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100" dirty="0" err="1">
                <a:solidFill>
                  <a:srgbClr val="FF0000"/>
                </a:solidFill>
                <a:latin typeface="Georgia" panose="02040502050405020303" pitchFamily="18" charset="0"/>
              </a:rPr>
              <a:t>Colsample</a:t>
            </a:r>
            <a:r>
              <a:rPr lang="it-IT" sz="1100" dirty="0">
                <a:solidFill>
                  <a:srgbClr val="FF0000"/>
                </a:solidFill>
                <a:latin typeface="Georgia" panose="02040502050405020303" pitchFamily="18" charset="0"/>
              </a:rPr>
              <a:t> by </a:t>
            </a:r>
            <a:r>
              <a:rPr lang="it-IT" sz="1100" dirty="0" err="1">
                <a:solidFill>
                  <a:srgbClr val="FF0000"/>
                </a:solidFill>
                <a:latin typeface="Georgia" panose="02040502050405020303" pitchFamily="18" charset="0"/>
              </a:rPr>
              <a:t>tree</a:t>
            </a:r>
            <a:r>
              <a:rPr lang="it-IT" sz="1100" dirty="0">
                <a:solidFill>
                  <a:srgbClr val="FF0000"/>
                </a:solidFill>
                <a:latin typeface="Georgia" panose="02040502050405020303" pitchFamily="18" charset="0"/>
              </a:rPr>
              <a:t> = 1</a:t>
            </a:r>
          </a:p>
          <a:p>
            <a:pPr algn="ctr"/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3BF21F9E-95B7-51DF-25D7-E5647625E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793" y="2160304"/>
            <a:ext cx="6100720" cy="350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76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Stepwise</a:t>
            </a:r>
            <a:r>
              <a:rPr lang="it-IT" sz="2800" dirty="0">
                <a:latin typeface="Georgia" panose="02040502050405020303" pitchFamily="18" charset="0"/>
              </a:rPr>
              <a:t> tuning procedure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30E355B7-EDD5-7167-C2BC-F73FABEAEDE1}"/>
              </a:ext>
            </a:extLst>
          </p:cNvPr>
          <p:cNvCxnSpPr>
            <a:cxnSpLocks/>
          </p:cNvCxnSpPr>
          <p:nvPr/>
        </p:nvCxnSpPr>
        <p:spPr>
          <a:xfrm>
            <a:off x="5282131" y="3406334"/>
            <a:ext cx="0" cy="282807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BAD447C6-25D9-1539-E414-DEE889C909B1}"/>
              </a:ext>
            </a:extLst>
          </p:cNvPr>
          <p:cNvSpPr txBox="1"/>
          <p:nvPr/>
        </p:nvSpPr>
        <p:spPr>
          <a:xfrm>
            <a:off x="557561" y="5649636"/>
            <a:ext cx="2658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FF0000"/>
                </a:solidFill>
                <a:latin typeface="Georgia" panose="02040502050405020303" pitchFamily="18" charset="0"/>
              </a:rPr>
              <a:t>Alpha = 0.5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FF0000"/>
                </a:solidFill>
                <a:latin typeface="Georgia" panose="02040502050405020303" pitchFamily="18" charset="0"/>
              </a:rPr>
              <a:t>Lambda = 1</a:t>
            </a:r>
          </a:p>
        </p:txBody>
      </p:sp>
      <p:cxnSp>
        <p:nvCxnSpPr>
          <p:cNvPr id="14" name="Straight Connector 5">
            <a:extLst>
              <a:ext uri="{FF2B5EF4-FFF2-40B4-BE49-F238E27FC236}">
                <a16:creationId xmlns:a16="http://schemas.microsoft.com/office/drawing/2014/main" id="{D00AC421-9AB1-17E5-D258-D0D44F3E9BEB}"/>
              </a:ext>
            </a:extLst>
          </p:cNvPr>
          <p:cNvCxnSpPr>
            <a:cxnSpLocks/>
          </p:cNvCxnSpPr>
          <p:nvPr/>
        </p:nvCxnSpPr>
        <p:spPr>
          <a:xfrm flipH="1">
            <a:off x="125128" y="3406334"/>
            <a:ext cx="5157003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">
            <a:extLst>
              <a:ext uri="{FF2B5EF4-FFF2-40B4-BE49-F238E27FC236}">
                <a16:creationId xmlns:a16="http://schemas.microsoft.com/office/drawing/2014/main" id="{E0DA2063-4B39-D8AC-C420-F2BDBFB85666}"/>
              </a:ext>
            </a:extLst>
          </p:cNvPr>
          <p:cNvSpPr txBox="1"/>
          <p:nvPr/>
        </p:nvSpPr>
        <p:spPr>
          <a:xfrm>
            <a:off x="1390538" y="2599311"/>
            <a:ext cx="4270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FF0000"/>
                </a:solidFill>
                <a:latin typeface="Georgia" panose="02040502050405020303" pitchFamily="18" charset="0"/>
              </a:rPr>
              <a:t>Learning rate (</a:t>
            </a:r>
            <a:r>
              <a:rPr lang="it-IT" sz="2400" dirty="0" err="1">
                <a:solidFill>
                  <a:srgbClr val="FF0000"/>
                </a:solidFill>
                <a:latin typeface="Georgia" panose="02040502050405020303" pitchFamily="18" charset="0"/>
              </a:rPr>
              <a:t>eta</a:t>
            </a:r>
            <a:r>
              <a:rPr lang="it-IT" sz="2400" dirty="0">
                <a:solidFill>
                  <a:srgbClr val="FF0000"/>
                </a:solidFill>
                <a:latin typeface="Georgia" panose="02040502050405020303" pitchFamily="18" charset="0"/>
              </a:rPr>
              <a:t>) = 0.025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3BF21F9E-95B7-51DF-25D7-E5647625E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61" y="3694814"/>
            <a:ext cx="3086289" cy="177319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8382BC6-CBCE-42AF-F7FE-36262C422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60" y="2173354"/>
            <a:ext cx="5980933" cy="362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88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Prediction</a:t>
            </a:r>
            <a:r>
              <a:rPr lang="it-IT" sz="2800" dirty="0">
                <a:latin typeface="Georgia" panose="02040502050405020303" pitchFamily="18" charset="0"/>
              </a:rPr>
              <a:t> Performance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72B857A-F7BD-431D-3B15-CCD06BAF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1" y="2176476"/>
            <a:ext cx="5890128" cy="4152072"/>
          </a:xfrm>
          <a:prstGeom prst="rect">
            <a:avLst/>
          </a:prstGeom>
        </p:spPr>
      </p:pic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D68B83AE-4ED0-5873-0E3D-5DC3C3113F9A}"/>
              </a:ext>
            </a:extLst>
          </p:cNvPr>
          <p:cNvCxnSpPr>
            <a:cxnSpLocks/>
          </p:cNvCxnSpPr>
          <p:nvPr/>
        </p:nvCxnSpPr>
        <p:spPr>
          <a:xfrm>
            <a:off x="6276228" y="2106724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>
            <a:extLst>
              <a:ext uri="{FF2B5EF4-FFF2-40B4-BE49-F238E27FC236}">
                <a16:creationId xmlns:a16="http://schemas.microsoft.com/office/drawing/2014/main" id="{1F792141-D1E4-D39A-7843-1D4B5577A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268" y="2215205"/>
            <a:ext cx="5470710" cy="3975233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CF8F911F-627E-26C0-2495-0C5BE5BC8CC1}"/>
              </a:ext>
            </a:extLst>
          </p:cNvPr>
          <p:cNvSpPr txBox="1"/>
          <p:nvPr/>
        </p:nvSpPr>
        <p:spPr>
          <a:xfrm>
            <a:off x="1397667" y="1558969"/>
            <a:ext cx="585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Three-class analysis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C1DA66AB-3BD9-36AD-98E7-9851BB1521C9}"/>
              </a:ext>
            </a:extLst>
          </p:cNvPr>
          <p:cNvSpPr txBox="1"/>
          <p:nvPr/>
        </p:nvSpPr>
        <p:spPr>
          <a:xfrm>
            <a:off x="7973177" y="1585582"/>
            <a:ext cx="585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Two-class analysis</a:t>
            </a:r>
          </a:p>
        </p:txBody>
      </p:sp>
    </p:spTree>
    <p:extLst>
      <p:ext uri="{BB962C8B-B14F-4D97-AF65-F5344CB8AC3E}">
        <p14:creationId xmlns:p14="http://schemas.microsoft.com/office/powerpoint/2010/main" val="2972616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predictions</a:t>
            </a:r>
            <a:r>
              <a:rPr lang="it-IT" sz="2800" dirty="0">
                <a:latin typeface="Georgia" panose="02040502050405020303" pitchFamily="18" charset="0"/>
              </a:rPr>
              <a:t> in 3-class </a:t>
            </a:r>
            <a:r>
              <a:rPr lang="it-IT" sz="2800" dirty="0" err="1">
                <a:latin typeface="Georgia" panose="02040502050405020303" pitchFamily="18" charset="0"/>
              </a:rPr>
              <a:t>analysis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D9B638CF-1B38-E6C2-B517-B6E73AC922BB}"/>
              </a:ext>
            </a:extLst>
          </p:cNvPr>
          <p:cNvSpPr txBox="1"/>
          <p:nvPr/>
        </p:nvSpPr>
        <p:spPr>
          <a:xfrm>
            <a:off x="6281974" y="1664955"/>
            <a:ext cx="5859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model is highly reliable when it comes to predicting the “Graduate” class.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72B857A-F7BD-431D-3B15-CCD06BAF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0" y="1427615"/>
            <a:ext cx="6045719" cy="477105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15DD2F1-ADC3-8352-5044-04FD8D75E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76131" y="2949023"/>
            <a:ext cx="4537219" cy="1694046"/>
          </a:xfrm>
          <a:prstGeom prst="rect">
            <a:avLst/>
          </a:prstGeom>
        </p:spPr>
      </p:pic>
      <p:cxnSp>
        <p:nvCxnSpPr>
          <p:cNvPr id="12" name="Connector: Curved 4">
            <a:extLst>
              <a:ext uri="{FF2B5EF4-FFF2-40B4-BE49-F238E27FC236}">
                <a16:creationId xmlns:a16="http://schemas.microsoft.com/office/drawing/2014/main" id="{2E94ABE1-B3FD-E868-1BBD-DF496AF9F8EB}"/>
              </a:ext>
            </a:extLst>
          </p:cNvPr>
          <p:cNvCxnSpPr>
            <a:cxnSpLocks/>
          </p:cNvCxnSpPr>
          <p:nvPr/>
        </p:nvCxnSpPr>
        <p:spPr>
          <a:xfrm flipV="1">
            <a:off x="4905789" y="1769117"/>
            <a:ext cx="1376185" cy="717034"/>
          </a:xfrm>
          <a:prstGeom prst="curvedConnector3">
            <a:avLst>
              <a:gd name="adj1" fmla="val 50000"/>
            </a:avLst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">
            <a:extLst>
              <a:ext uri="{FF2B5EF4-FFF2-40B4-BE49-F238E27FC236}">
                <a16:creationId xmlns:a16="http://schemas.microsoft.com/office/drawing/2014/main" id="{1DFCB72F-FD30-B275-B0B3-E941641309BD}"/>
              </a:ext>
            </a:extLst>
          </p:cNvPr>
          <p:cNvCxnSpPr>
            <a:cxnSpLocks/>
          </p:cNvCxnSpPr>
          <p:nvPr/>
        </p:nvCxnSpPr>
        <p:spPr>
          <a:xfrm>
            <a:off x="8456179" y="2357120"/>
            <a:ext cx="0" cy="101905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1">
            <a:extLst>
              <a:ext uri="{FF2B5EF4-FFF2-40B4-BE49-F238E27FC236}">
                <a16:creationId xmlns:a16="http://schemas.microsoft.com/office/drawing/2014/main" id="{7358139A-2479-AE8B-170D-E60EFE3815F9}"/>
              </a:ext>
            </a:extLst>
          </p:cNvPr>
          <p:cNvSpPr txBox="1"/>
          <p:nvPr/>
        </p:nvSpPr>
        <p:spPr>
          <a:xfrm>
            <a:off x="6166160" y="3515007"/>
            <a:ext cx="5859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Georgia" panose="02040502050405020303" pitchFamily="18" charset="0"/>
              </a:rPr>
              <a:t>It correctly classifies 94% of the “Graduate” cases and only misclassifies 3.2% and 2.8% of “Graduate” students, respectively, as “Enrolled” and  “Dropout”.</a:t>
            </a:r>
            <a:endParaRPr lang="en-US" dirty="0">
              <a:latin typeface="Georgia" panose="02040502050405020303" pitchFamily="18" charset="0"/>
            </a:endParaRPr>
          </a:p>
        </p:txBody>
      </p:sp>
      <p:cxnSp>
        <p:nvCxnSpPr>
          <p:cNvPr id="2" name="Straight Connector 5">
            <a:extLst>
              <a:ext uri="{FF2B5EF4-FFF2-40B4-BE49-F238E27FC236}">
                <a16:creationId xmlns:a16="http://schemas.microsoft.com/office/drawing/2014/main" id="{49C6CD4E-C705-8A69-67FD-F7195A943D6B}"/>
              </a:ext>
            </a:extLst>
          </p:cNvPr>
          <p:cNvCxnSpPr>
            <a:cxnSpLocks/>
          </p:cNvCxnSpPr>
          <p:nvPr/>
        </p:nvCxnSpPr>
        <p:spPr>
          <a:xfrm>
            <a:off x="12910944" y="1979133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228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predictions</a:t>
            </a:r>
            <a:r>
              <a:rPr lang="it-IT" sz="2800" dirty="0">
                <a:latin typeface="Georgia" panose="02040502050405020303" pitchFamily="18" charset="0"/>
              </a:rPr>
              <a:t> in 3-class </a:t>
            </a:r>
            <a:r>
              <a:rPr lang="it-IT" sz="2800" dirty="0" err="1">
                <a:latin typeface="Georgia" panose="02040502050405020303" pitchFamily="18" charset="0"/>
              </a:rPr>
              <a:t>analysis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D9B638CF-1B38-E6C2-B517-B6E73AC922BB}"/>
              </a:ext>
            </a:extLst>
          </p:cNvPr>
          <p:cNvSpPr txBox="1"/>
          <p:nvPr/>
        </p:nvSpPr>
        <p:spPr>
          <a:xfrm>
            <a:off x="6281974" y="1664955"/>
            <a:ext cx="5859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Georgia" panose="02040502050405020303" pitchFamily="18" charset="0"/>
              </a:rPr>
              <a:t>The “Enrolled” class is often confused with the extreme classes (“Graduate” and “Dropout”). </a:t>
            </a:r>
            <a:endParaRPr lang="it-IT" sz="1800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72B857A-F7BD-431D-3B15-CCD06BAF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581" y="1385319"/>
            <a:ext cx="6045719" cy="477105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15DD2F1-ADC3-8352-5044-04FD8D75E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1891" y="2817107"/>
            <a:ext cx="4537219" cy="2072926"/>
          </a:xfrm>
          <a:prstGeom prst="rect">
            <a:avLst/>
          </a:prstGeom>
        </p:spPr>
      </p:pic>
      <p:cxnSp>
        <p:nvCxnSpPr>
          <p:cNvPr id="12" name="Connector: Curved 4">
            <a:extLst>
              <a:ext uri="{FF2B5EF4-FFF2-40B4-BE49-F238E27FC236}">
                <a16:creationId xmlns:a16="http://schemas.microsoft.com/office/drawing/2014/main" id="{2E94ABE1-B3FD-E868-1BBD-DF496AF9F8EB}"/>
              </a:ext>
            </a:extLst>
          </p:cNvPr>
          <p:cNvCxnSpPr>
            <a:cxnSpLocks/>
          </p:cNvCxnSpPr>
          <p:nvPr/>
        </p:nvCxnSpPr>
        <p:spPr>
          <a:xfrm flipV="1">
            <a:off x="3851499" y="1838425"/>
            <a:ext cx="2244500" cy="1153193"/>
          </a:xfrm>
          <a:prstGeom prst="curvedConnector3">
            <a:avLst>
              <a:gd name="adj1" fmla="val 50000"/>
            </a:avLst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">
            <a:extLst>
              <a:ext uri="{FF2B5EF4-FFF2-40B4-BE49-F238E27FC236}">
                <a16:creationId xmlns:a16="http://schemas.microsoft.com/office/drawing/2014/main" id="{1DFCB72F-FD30-B275-B0B3-E941641309BD}"/>
              </a:ext>
            </a:extLst>
          </p:cNvPr>
          <p:cNvCxnSpPr>
            <a:cxnSpLocks/>
          </p:cNvCxnSpPr>
          <p:nvPr/>
        </p:nvCxnSpPr>
        <p:spPr>
          <a:xfrm>
            <a:off x="8328166" y="2334135"/>
            <a:ext cx="0" cy="50830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1">
            <a:extLst>
              <a:ext uri="{FF2B5EF4-FFF2-40B4-BE49-F238E27FC236}">
                <a16:creationId xmlns:a16="http://schemas.microsoft.com/office/drawing/2014/main" id="{7358139A-2479-AE8B-170D-E60EFE3815F9}"/>
              </a:ext>
            </a:extLst>
          </p:cNvPr>
          <p:cNvSpPr txBox="1"/>
          <p:nvPr/>
        </p:nvSpPr>
        <p:spPr>
          <a:xfrm>
            <a:off x="6281974" y="2842435"/>
            <a:ext cx="5859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model misclassifies 41.5% of “Enrolled” students </a:t>
            </a:r>
            <a:r>
              <a:rPr lang="en-US" dirty="0" err="1">
                <a:latin typeface="Georgia" panose="02040502050405020303" pitchFamily="18" charset="0"/>
              </a:rPr>
              <a:t>as“Graduates</a:t>
            </a:r>
            <a:r>
              <a:rPr lang="en-US" dirty="0">
                <a:latin typeface="Georgia" panose="02040502050405020303" pitchFamily="18" charset="0"/>
              </a:rPr>
              <a:t>”, 30% as  “Dropout” and only 28% of the times it predict the correct class “Enrolled”.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9A8ECB1C-4501-90F7-5E49-10A57916CE2F}"/>
              </a:ext>
            </a:extLst>
          </p:cNvPr>
          <p:cNvSpPr txBox="1"/>
          <p:nvPr/>
        </p:nvSpPr>
        <p:spPr>
          <a:xfrm>
            <a:off x="6281974" y="4384715"/>
            <a:ext cx="58597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Georgia" panose="02040502050405020303" pitchFamily="18" charset="0"/>
              </a:rPr>
              <a:t>This is likely because the data associated with “Enrolled” students can resemble characteristics of both “Graduate” and “Dropout” students. As a transitional or “limbo” class it is naturally harder to define, making it more susceptible to misclassification when compared to the more distinct “Graduate” and “Dropout” classes.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cxnSp>
        <p:nvCxnSpPr>
          <p:cNvPr id="7" name="Straight Arrow Connector 2">
            <a:extLst>
              <a:ext uri="{FF2B5EF4-FFF2-40B4-BE49-F238E27FC236}">
                <a16:creationId xmlns:a16="http://schemas.microsoft.com/office/drawing/2014/main" id="{ABF29F88-C033-AF79-1D3B-4555093CEC3E}"/>
              </a:ext>
            </a:extLst>
          </p:cNvPr>
          <p:cNvCxnSpPr>
            <a:cxnSpLocks/>
          </p:cNvCxnSpPr>
          <p:nvPr/>
        </p:nvCxnSpPr>
        <p:spPr>
          <a:xfrm>
            <a:off x="8342418" y="3853570"/>
            <a:ext cx="0" cy="53114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10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predictions</a:t>
            </a:r>
            <a:r>
              <a:rPr lang="it-IT" sz="2800" dirty="0">
                <a:latin typeface="Georgia" panose="02040502050405020303" pitchFamily="18" charset="0"/>
              </a:rPr>
              <a:t> in 3-class </a:t>
            </a:r>
            <a:r>
              <a:rPr lang="it-IT" sz="2800" dirty="0" err="1">
                <a:latin typeface="Georgia" panose="02040502050405020303" pitchFamily="18" charset="0"/>
              </a:rPr>
              <a:t>analysis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D9B638CF-1B38-E6C2-B517-B6E73AC922BB}"/>
              </a:ext>
            </a:extLst>
          </p:cNvPr>
          <p:cNvSpPr txBox="1"/>
          <p:nvPr/>
        </p:nvSpPr>
        <p:spPr>
          <a:xfrm>
            <a:off x="6227884" y="1663537"/>
            <a:ext cx="5859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Regarding the “Dropout” class the model achieves good performance by correctly classifying almost 76% of the students in that class.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72B857A-F7BD-431D-3B15-CCD06BAF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" y="1325291"/>
            <a:ext cx="6045719" cy="477105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715DD2F1-ADC3-8352-5044-04FD8D75E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497965" y="2937408"/>
            <a:ext cx="4250969" cy="1694046"/>
          </a:xfrm>
          <a:prstGeom prst="rect">
            <a:avLst/>
          </a:prstGeom>
        </p:spPr>
      </p:pic>
      <p:cxnSp>
        <p:nvCxnSpPr>
          <p:cNvPr id="12" name="Connector: Curved 4">
            <a:extLst>
              <a:ext uri="{FF2B5EF4-FFF2-40B4-BE49-F238E27FC236}">
                <a16:creationId xmlns:a16="http://schemas.microsoft.com/office/drawing/2014/main" id="{2E94ABE1-B3FD-E868-1BBD-DF496AF9F8EB}"/>
              </a:ext>
            </a:extLst>
          </p:cNvPr>
          <p:cNvCxnSpPr>
            <a:cxnSpLocks/>
          </p:cNvCxnSpPr>
          <p:nvPr/>
        </p:nvCxnSpPr>
        <p:spPr>
          <a:xfrm flipV="1">
            <a:off x="2474543" y="1819175"/>
            <a:ext cx="3691617" cy="1645586"/>
          </a:xfrm>
          <a:prstGeom prst="curvedConnector3">
            <a:avLst>
              <a:gd name="adj1" fmla="val 57561"/>
            </a:avLst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">
            <a:extLst>
              <a:ext uri="{FF2B5EF4-FFF2-40B4-BE49-F238E27FC236}">
                <a16:creationId xmlns:a16="http://schemas.microsoft.com/office/drawing/2014/main" id="{1DFCB72F-FD30-B275-B0B3-E941641309BD}"/>
              </a:ext>
            </a:extLst>
          </p:cNvPr>
          <p:cNvCxnSpPr>
            <a:cxnSpLocks/>
          </p:cNvCxnSpPr>
          <p:nvPr/>
        </p:nvCxnSpPr>
        <p:spPr>
          <a:xfrm>
            <a:off x="8648684" y="2472011"/>
            <a:ext cx="0" cy="101905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1">
            <a:extLst>
              <a:ext uri="{FF2B5EF4-FFF2-40B4-BE49-F238E27FC236}">
                <a16:creationId xmlns:a16="http://schemas.microsoft.com/office/drawing/2014/main" id="{7358139A-2479-AE8B-170D-E60EFE3815F9}"/>
              </a:ext>
            </a:extLst>
          </p:cNvPr>
          <p:cNvSpPr txBox="1"/>
          <p:nvPr/>
        </p:nvSpPr>
        <p:spPr>
          <a:xfrm>
            <a:off x="6166160" y="3515007"/>
            <a:ext cx="58597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main issue is that 17% of the time the model misclassifies a student by predicting “Graduate” instead when the student is “Dropout”. This result is somewhat unexpected, as the model is confusing the two most extreme classes.</a:t>
            </a:r>
          </a:p>
        </p:txBody>
      </p:sp>
    </p:spTree>
    <p:extLst>
      <p:ext uri="{BB962C8B-B14F-4D97-AF65-F5344CB8AC3E}">
        <p14:creationId xmlns:p14="http://schemas.microsoft.com/office/powerpoint/2010/main" val="1898143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predictions</a:t>
            </a:r>
            <a:r>
              <a:rPr lang="it-IT" sz="2800" dirty="0">
                <a:latin typeface="Georgia" panose="02040502050405020303" pitchFamily="18" charset="0"/>
              </a:rPr>
              <a:t> in 2-class </a:t>
            </a:r>
            <a:r>
              <a:rPr lang="it-IT" sz="2800" dirty="0" err="1">
                <a:latin typeface="Georgia" panose="02040502050405020303" pitchFamily="18" charset="0"/>
              </a:rPr>
              <a:t>analysis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B159347-F1B8-C3C0-14A5-BE5EAE955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45" y="1486342"/>
            <a:ext cx="5470710" cy="4328064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D916687A-74B4-B0F0-C4CD-B9A2505FD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876132" y="2782786"/>
            <a:ext cx="4250969" cy="1976119"/>
          </a:xfrm>
          <a:prstGeom prst="rect">
            <a:avLst/>
          </a:prstGeom>
        </p:spPr>
      </p:pic>
      <p:cxnSp>
        <p:nvCxnSpPr>
          <p:cNvPr id="6" name="Connector: Curved 4">
            <a:extLst>
              <a:ext uri="{FF2B5EF4-FFF2-40B4-BE49-F238E27FC236}">
                <a16:creationId xmlns:a16="http://schemas.microsoft.com/office/drawing/2014/main" id="{A1CD88C0-C1D2-B4E5-E589-B2D8A43FB27E}"/>
              </a:ext>
            </a:extLst>
          </p:cNvPr>
          <p:cNvCxnSpPr>
            <a:cxnSpLocks/>
          </p:cNvCxnSpPr>
          <p:nvPr/>
        </p:nvCxnSpPr>
        <p:spPr>
          <a:xfrm flipV="1">
            <a:off x="4858244" y="1845001"/>
            <a:ext cx="1552181" cy="90471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">
            <a:extLst>
              <a:ext uri="{FF2B5EF4-FFF2-40B4-BE49-F238E27FC236}">
                <a16:creationId xmlns:a16="http://schemas.microsoft.com/office/drawing/2014/main" id="{85E5C3FC-3C63-F462-34EC-139B4A95E58C}"/>
              </a:ext>
            </a:extLst>
          </p:cNvPr>
          <p:cNvSpPr txBox="1"/>
          <p:nvPr/>
        </p:nvSpPr>
        <p:spPr>
          <a:xfrm>
            <a:off x="6531186" y="1645361"/>
            <a:ext cx="5494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model </a:t>
            </a:r>
            <a:r>
              <a:rPr lang="en-US" dirty="0" err="1">
                <a:latin typeface="Georgia" panose="02040502050405020303" pitchFamily="18" charset="0"/>
              </a:rPr>
              <a:t>XGBoost</a:t>
            </a:r>
            <a:r>
              <a:rPr lang="en-US" dirty="0">
                <a:latin typeface="Georgia" panose="02040502050405020303" pitchFamily="18" charset="0"/>
              </a:rPr>
              <a:t> in this binary framework performs extremely well in predicting the “Success” cases. 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FD60D19F-9FB1-40F2-E0F4-C653E19D2CF9}"/>
              </a:ext>
            </a:extLst>
          </p:cNvPr>
          <p:cNvSpPr txBox="1"/>
          <p:nvPr/>
        </p:nvSpPr>
        <p:spPr>
          <a:xfrm>
            <a:off x="6531186" y="3429000"/>
            <a:ext cx="5494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Regarding the “Success” class it correctly classifies 90% of the cases and makes a mistake only 10% of the times!</a:t>
            </a:r>
          </a:p>
        </p:txBody>
      </p:sp>
      <p:cxnSp>
        <p:nvCxnSpPr>
          <p:cNvPr id="15" name="Straight Arrow Connector 2">
            <a:extLst>
              <a:ext uri="{FF2B5EF4-FFF2-40B4-BE49-F238E27FC236}">
                <a16:creationId xmlns:a16="http://schemas.microsoft.com/office/drawing/2014/main" id="{1E586C53-03E0-2FF5-8727-8BCF22D2D674}"/>
              </a:ext>
            </a:extLst>
          </p:cNvPr>
          <p:cNvCxnSpPr>
            <a:cxnSpLocks/>
          </p:cNvCxnSpPr>
          <p:nvPr/>
        </p:nvCxnSpPr>
        <p:spPr>
          <a:xfrm>
            <a:off x="8648684" y="2472011"/>
            <a:ext cx="0" cy="790953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972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XGBoost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predictions</a:t>
            </a:r>
            <a:r>
              <a:rPr lang="it-IT" sz="2800" dirty="0">
                <a:latin typeface="Georgia" panose="02040502050405020303" pitchFamily="18" charset="0"/>
              </a:rPr>
              <a:t> in 2-class </a:t>
            </a:r>
            <a:r>
              <a:rPr lang="it-IT" sz="2800" dirty="0" err="1">
                <a:latin typeface="Georgia" panose="02040502050405020303" pitchFamily="18" charset="0"/>
              </a:rPr>
              <a:t>analysis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3B159347-F1B8-C3C0-14A5-BE5EAE955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45" y="1486342"/>
            <a:ext cx="5470710" cy="4328064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3221A60C-940F-3304-26F5-C3820E33B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10420" y="2861913"/>
            <a:ext cx="4250969" cy="1976119"/>
          </a:xfrm>
          <a:prstGeom prst="rect">
            <a:avLst/>
          </a:prstGeom>
        </p:spPr>
      </p:pic>
      <p:cxnSp>
        <p:nvCxnSpPr>
          <p:cNvPr id="4" name="Connector: Curved 4">
            <a:extLst>
              <a:ext uri="{FF2B5EF4-FFF2-40B4-BE49-F238E27FC236}">
                <a16:creationId xmlns:a16="http://schemas.microsoft.com/office/drawing/2014/main" id="{A71A5205-1234-0377-1FB7-882FD3A3560A}"/>
              </a:ext>
            </a:extLst>
          </p:cNvPr>
          <p:cNvCxnSpPr>
            <a:cxnSpLocks/>
          </p:cNvCxnSpPr>
          <p:nvPr/>
        </p:nvCxnSpPr>
        <p:spPr>
          <a:xfrm flipV="1">
            <a:off x="2874700" y="1827105"/>
            <a:ext cx="3404747" cy="76209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AA6CA9D3-6D15-DE6D-4F6F-569094076286}"/>
              </a:ext>
            </a:extLst>
          </p:cNvPr>
          <p:cNvSpPr txBox="1"/>
          <p:nvPr/>
        </p:nvSpPr>
        <p:spPr>
          <a:xfrm>
            <a:off x="6531185" y="1645361"/>
            <a:ext cx="552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challenge in this binary framework lies in correctly identifying the positive class “Failed”. 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300F05F-E3BE-F4AC-9C03-5E77F679106D}"/>
              </a:ext>
            </a:extLst>
          </p:cNvPr>
          <p:cNvSpPr txBox="1"/>
          <p:nvPr/>
        </p:nvSpPr>
        <p:spPr>
          <a:xfrm>
            <a:off x="6531186" y="3388307"/>
            <a:ext cx="5494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18.7% of the times, the model makes an error by predicting a success case when the student has actually failed, resulting in false negatives.</a:t>
            </a:r>
          </a:p>
        </p:txBody>
      </p:sp>
      <p:cxnSp>
        <p:nvCxnSpPr>
          <p:cNvPr id="14" name="Straight Arrow Connector 2">
            <a:extLst>
              <a:ext uri="{FF2B5EF4-FFF2-40B4-BE49-F238E27FC236}">
                <a16:creationId xmlns:a16="http://schemas.microsoft.com/office/drawing/2014/main" id="{411BA048-33F9-270D-99B4-44E13D9DCCC7}"/>
              </a:ext>
            </a:extLst>
          </p:cNvPr>
          <p:cNvCxnSpPr>
            <a:cxnSpLocks/>
          </p:cNvCxnSpPr>
          <p:nvPr/>
        </p:nvCxnSpPr>
        <p:spPr>
          <a:xfrm>
            <a:off x="8648684" y="2472011"/>
            <a:ext cx="0" cy="790953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295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Summary</a:t>
            </a:r>
            <a:r>
              <a:rPr lang="it-IT" sz="2800" dirty="0">
                <a:latin typeface="Georgia" panose="02040502050405020303" pitchFamily="18" charset="0"/>
              </a:rPr>
              <a:t> of  </a:t>
            </a:r>
            <a:r>
              <a:rPr lang="it-IT" sz="2800" dirty="0" err="1">
                <a:latin typeface="Georgia" panose="02040502050405020303" pitchFamily="18" charset="0"/>
              </a:rPr>
              <a:t>Predictions</a:t>
            </a:r>
            <a:r>
              <a:rPr lang="it-IT" sz="2800" dirty="0">
                <a:latin typeface="Georgia" panose="02040502050405020303" pitchFamily="18" charset="0"/>
              </a:rPr>
              <a:t> in 2-Class and 3-Class </a:t>
            </a:r>
            <a:r>
              <a:rPr lang="it-IT" sz="2800" dirty="0" err="1">
                <a:latin typeface="Georgia" panose="02040502050405020303" pitchFamily="18" charset="0"/>
              </a:rPr>
              <a:t>analyses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D1A1348-896B-E204-A4AC-61B9AE73A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25" y="2127634"/>
            <a:ext cx="10972967" cy="353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64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224816D-058C-3D31-9399-3D970D7D1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09" y="1877550"/>
            <a:ext cx="6774857" cy="4016523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62290CD0-A648-AB0C-848A-9534C94EAF5A}"/>
              </a:ext>
            </a:extLst>
          </p:cNvPr>
          <p:cNvSpPr txBox="1"/>
          <p:nvPr/>
        </p:nvSpPr>
        <p:spPr>
          <a:xfrm>
            <a:off x="7104165" y="1972179"/>
            <a:ext cx="48651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The best-performing variables, used in all frameworks and algorithms, are  the total number of approved units and the second semester grade.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7 of these 11 variables are related to student’s performance after starting university</a:t>
            </a:r>
            <a:r>
              <a:rPr lang="en-US" dirty="0"/>
              <a:t>.</a:t>
            </a: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3EB33648-34B8-5230-7484-CAB2DFAFD144}"/>
              </a:ext>
            </a:extLst>
          </p:cNvPr>
          <p:cNvSpPr txBox="1"/>
          <p:nvPr/>
        </p:nvSpPr>
        <p:spPr>
          <a:xfrm>
            <a:off x="7160782" y="4893295"/>
            <a:ext cx="4865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variables related to students’ performance during their first year are necessary to build a reliable model.</a:t>
            </a:r>
            <a:endParaRPr lang="en-US" dirty="0">
              <a:latin typeface="Georgia" panose="02040502050405020303" pitchFamily="18" charset="0"/>
            </a:endParaRPr>
          </a:p>
        </p:txBody>
      </p:sp>
      <p:cxnSp>
        <p:nvCxnSpPr>
          <p:cNvPr id="13" name="Straight Arrow Connector 2">
            <a:extLst>
              <a:ext uri="{FF2B5EF4-FFF2-40B4-BE49-F238E27FC236}">
                <a16:creationId xmlns:a16="http://schemas.microsoft.com/office/drawing/2014/main" id="{24F3797A-B58F-DEB7-0DB7-A7FAAD5E0AD5}"/>
              </a:ext>
            </a:extLst>
          </p:cNvPr>
          <p:cNvCxnSpPr>
            <a:cxnSpLocks/>
          </p:cNvCxnSpPr>
          <p:nvPr/>
        </p:nvCxnSpPr>
        <p:spPr>
          <a:xfrm>
            <a:off x="9275545" y="3959920"/>
            <a:ext cx="0" cy="804586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667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analysis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A114B4-E0A2-C483-6135-1CAC0A52D52B}"/>
              </a:ext>
            </a:extLst>
          </p:cNvPr>
          <p:cNvSpPr txBox="1"/>
          <p:nvPr/>
        </p:nvSpPr>
        <p:spPr>
          <a:xfrm>
            <a:off x="764079" y="3309180"/>
            <a:ext cx="549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Prediction Performance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509C5A6C-70F2-8F1E-7823-AC2398E19519}"/>
              </a:ext>
            </a:extLst>
          </p:cNvPr>
          <p:cNvSpPr/>
          <p:nvPr/>
        </p:nvSpPr>
        <p:spPr>
          <a:xfrm>
            <a:off x="435915" y="2392891"/>
            <a:ext cx="4081112" cy="21672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58749A09-06C1-E53F-A6ED-AF8965CC8E7D}"/>
              </a:ext>
            </a:extLst>
          </p:cNvPr>
          <p:cNvSpPr/>
          <p:nvPr/>
        </p:nvSpPr>
        <p:spPr>
          <a:xfrm>
            <a:off x="12475453" y="2345389"/>
            <a:ext cx="4081112" cy="21672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Straight Arrow Connector 2">
            <a:extLst>
              <a:ext uri="{FF2B5EF4-FFF2-40B4-BE49-F238E27FC236}">
                <a16:creationId xmlns:a16="http://schemas.microsoft.com/office/drawing/2014/main" id="{CFA481F9-3FC5-07C0-19D8-4C02867F6BB8}"/>
              </a:ext>
            </a:extLst>
          </p:cNvPr>
          <p:cNvCxnSpPr>
            <a:cxnSpLocks/>
          </p:cNvCxnSpPr>
          <p:nvPr/>
        </p:nvCxnSpPr>
        <p:spPr>
          <a:xfrm>
            <a:off x="4809095" y="3540012"/>
            <a:ext cx="1722091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E37EBE38-087F-968B-1B6B-FEC6300917C0}"/>
              </a:ext>
            </a:extLst>
          </p:cNvPr>
          <p:cNvSpPr txBox="1"/>
          <p:nvPr/>
        </p:nvSpPr>
        <p:spPr>
          <a:xfrm>
            <a:off x="13163570" y="3198167"/>
            <a:ext cx="433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Variable Importance</a:t>
            </a:r>
          </a:p>
        </p:txBody>
      </p:sp>
    </p:spTree>
    <p:extLst>
      <p:ext uri="{BB962C8B-B14F-4D97-AF65-F5344CB8AC3E}">
        <p14:creationId xmlns:p14="http://schemas.microsoft.com/office/powerpoint/2010/main" val="3769186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analysis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A114B4-E0A2-C483-6135-1CAC0A52D52B}"/>
              </a:ext>
            </a:extLst>
          </p:cNvPr>
          <p:cNvSpPr txBox="1"/>
          <p:nvPr/>
        </p:nvSpPr>
        <p:spPr>
          <a:xfrm>
            <a:off x="764079" y="3309180"/>
            <a:ext cx="549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Prediction Performance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509C5A6C-70F2-8F1E-7823-AC2398E19519}"/>
              </a:ext>
            </a:extLst>
          </p:cNvPr>
          <p:cNvSpPr/>
          <p:nvPr/>
        </p:nvSpPr>
        <p:spPr>
          <a:xfrm>
            <a:off x="435915" y="2392891"/>
            <a:ext cx="4081112" cy="21672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58749A09-06C1-E53F-A6ED-AF8965CC8E7D}"/>
              </a:ext>
            </a:extLst>
          </p:cNvPr>
          <p:cNvSpPr/>
          <p:nvPr/>
        </p:nvSpPr>
        <p:spPr>
          <a:xfrm>
            <a:off x="6775045" y="2392891"/>
            <a:ext cx="4081112" cy="21672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Straight Arrow Connector 2">
            <a:extLst>
              <a:ext uri="{FF2B5EF4-FFF2-40B4-BE49-F238E27FC236}">
                <a16:creationId xmlns:a16="http://schemas.microsoft.com/office/drawing/2014/main" id="{CFA481F9-3FC5-07C0-19D8-4C02867F6BB8}"/>
              </a:ext>
            </a:extLst>
          </p:cNvPr>
          <p:cNvCxnSpPr>
            <a:cxnSpLocks/>
          </p:cNvCxnSpPr>
          <p:nvPr/>
        </p:nvCxnSpPr>
        <p:spPr>
          <a:xfrm>
            <a:off x="4809095" y="3540012"/>
            <a:ext cx="1722091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E37EBE38-087F-968B-1B6B-FEC6300917C0}"/>
              </a:ext>
            </a:extLst>
          </p:cNvPr>
          <p:cNvSpPr txBox="1"/>
          <p:nvPr/>
        </p:nvSpPr>
        <p:spPr>
          <a:xfrm>
            <a:off x="7421716" y="3245668"/>
            <a:ext cx="433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Variable Importance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F582EBFB-4080-28AC-7B5A-C6FC10FE57C5}"/>
              </a:ext>
            </a:extLst>
          </p:cNvPr>
          <p:cNvCxnSpPr>
            <a:cxnSpLocks/>
          </p:cNvCxnSpPr>
          <p:nvPr/>
        </p:nvCxnSpPr>
        <p:spPr>
          <a:xfrm>
            <a:off x="13078667" y="1666843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F648EA79-0F50-7F71-2E72-6D37CCD4F261}"/>
              </a:ext>
            </a:extLst>
          </p:cNvPr>
          <p:cNvSpPr txBox="1"/>
          <p:nvPr/>
        </p:nvSpPr>
        <p:spPr>
          <a:xfrm>
            <a:off x="6775045" y="7268818"/>
            <a:ext cx="51078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“Pre-Enrollment</a:t>
            </a:r>
            <a:r>
              <a:rPr lang="en-US" dirty="0">
                <a:latin typeface="Georgia" panose="02040502050405020303" pitchFamily="18" charset="0"/>
              </a:rPr>
              <a:t>” analysis allows to address potential issues related to university dropout before students even begin their academic journey. 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Thus, we are able to understand </a:t>
            </a:r>
            <a:r>
              <a:rPr lang="en-US" b="1" dirty="0">
                <a:latin typeface="Georgia" panose="02040502050405020303" pitchFamily="18" charset="0"/>
              </a:rPr>
              <a:t>in early stage </a:t>
            </a:r>
            <a:r>
              <a:rPr lang="en-US" dirty="0">
                <a:latin typeface="Georgia" panose="02040502050405020303" pitchFamily="18" charset="0"/>
              </a:rPr>
              <a:t>which factors contribute to dropout, enabling the creation of targeted support programs to assist students from the beginning of their university studies.</a:t>
            </a:r>
          </a:p>
        </p:txBody>
      </p:sp>
    </p:spTree>
    <p:extLst>
      <p:ext uri="{BB962C8B-B14F-4D97-AF65-F5344CB8AC3E}">
        <p14:creationId xmlns:p14="http://schemas.microsoft.com/office/powerpoint/2010/main" val="2683439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analysis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A114B4-E0A2-C483-6135-1CAC0A52D52B}"/>
              </a:ext>
            </a:extLst>
          </p:cNvPr>
          <p:cNvSpPr txBox="1"/>
          <p:nvPr/>
        </p:nvSpPr>
        <p:spPr>
          <a:xfrm>
            <a:off x="226613" y="3356447"/>
            <a:ext cx="5494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Prediction Performance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509C5A6C-70F2-8F1E-7823-AC2398E19519}"/>
              </a:ext>
            </a:extLst>
          </p:cNvPr>
          <p:cNvSpPr/>
          <p:nvPr/>
        </p:nvSpPr>
        <p:spPr>
          <a:xfrm>
            <a:off x="88772" y="2970855"/>
            <a:ext cx="2575152" cy="110973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58749A09-06C1-E53F-A6ED-AF8965CC8E7D}"/>
              </a:ext>
            </a:extLst>
          </p:cNvPr>
          <p:cNvSpPr/>
          <p:nvPr/>
        </p:nvSpPr>
        <p:spPr>
          <a:xfrm>
            <a:off x="3413931" y="2909964"/>
            <a:ext cx="2445243" cy="117062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Straight Arrow Connector 2">
            <a:extLst>
              <a:ext uri="{FF2B5EF4-FFF2-40B4-BE49-F238E27FC236}">
                <a16:creationId xmlns:a16="http://schemas.microsoft.com/office/drawing/2014/main" id="{CFA481F9-3FC5-07C0-19D8-4C02867F6BB8}"/>
              </a:ext>
            </a:extLst>
          </p:cNvPr>
          <p:cNvCxnSpPr>
            <a:cxnSpLocks/>
          </p:cNvCxnSpPr>
          <p:nvPr/>
        </p:nvCxnSpPr>
        <p:spPr>
          <a:xfrm flipV="1">
            <a:off x="2814320" y="3525723"/>
            <a:ext cx="512540" cy="10684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E37EBE38-087F-968B-1B6B-FEC6300917C0}"/>
              </a:ext>
            </a:extLst>
          </p:cNvPr>
          <p:cNvSpPr txBox="1"/>
          <p:nvPr/>
        </p:nvSpPr>
        <p:spPr>
          <a:xfrm>
            <a:off x="3554148" y="3347124"/>
            <a:ext cx="4334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Variable Importance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74D16600-E16C-068F-908C-A2DAB014A258}"/>
              </a:ext>
            </a:extLst>
          </p:cNvPr>
          <p:cNvSpPr txBox="1"/>
          <p:nvPr/>
        </p:nvSpPr>
        <p:spPr>
          <a:xfrm>
            <a:off x="6531186" y="2187388"/>
            <a:ext cx="51078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“Pre-Enrollment</a:t>
            </a:r>
            <a:r>
              <a:rPr lang="en-US" dirty="0">
                <a:latin typeface="Georgia" panose="02040502050405020303" pitchFamily="18" charset="0"/>
              </a:rPr>
              <a:t>” analysis allows to address potential issues related to university dropout before students even begin their academic journey. 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Thus, we are able to understand </a:t>
            </a:r>
            <a:r>
              <a:rPr lang="en-US" b="1" dirty="0">
                <a:latin typeface="Georgia" panose="02040502050405020303" pitchFamily="18" charset="0"/>
              </a:rPr>
              <a:t>in early stage </a:t>
            </a:r>
            <a:r>
              <a:rPr lang="en-US" dirty="0">
                <a:latin typeface="Georgia" panose="02040502050405020303" pitchFamily="18" charset="0"/>
              </a:rPr>
              <a:t>which factors contribute to dropout, enabling the creation of targeted support programs to assist students from the beginning of their university studies.</a:t>
            </a:r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73D133FE-DF82-5EE0-32E3-3CC80DA54473}"/>
              </a:ext>
            </a:extLst>
          </p:cNvPr>
          <p:cNvCxnSpPr>
            <a:cxnSpLocks/>
          </p:cNvCxnSpPr>
          <p:nvPr/>
        </p:nvCxnSpPr>
        <p:spPr>
          <a:xfrm>
            <a:off x="6230393" y="177720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522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4480-599D-1256-F097-FAE30CF3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E685E7-7023-0161-BA55-FB52E275B507}"/>
              </a:ext>
            </a:extLst>
          </p:cNvPr>
          <p:cNvSpPr txBox="1"/>
          <p:nvPr/>
        </p:nvSpPr>
        <p:spPr>
          <a:xfrm>
            <a:off x="721333" y="768923"/>
            <a:ext cx="1768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D1E353-8CEF-B53B-5D90-9328CE14881D}"/>
              </a:ext>
            </a:extLst>
          </p:cNvPr>
          <p:cNvCxnSpPr>
            <a:cxnSpLocks/>
          </p:cNvCxnSpPr>
          <p:nvPr/>
        </p:nvCxnSpPr>
        <p:spPr>
          <a:xfrm>
            <a:off x="1138496" y="4976698"/>
            <a:ext cx="0" cy="46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74EF14-66C8-9B5A-E0EC-25851E33014B}"/>
              </a:ext>
            </a:extLst>
          </p:cNvPr>
          <p:cNvCxnSpPr>
            <a:cxnSpLocks/>
          </p:cNvCxnSpPr>
          <p:nvPr/>
        </p:nvCxnSpPr>
        <p:spPr>
          <a:xfrm flipV="1">
            <a:off x="1121182" y="2479408"/>
            <a:ext cx="906634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1B2497-F585-6310-BE2D-4AE29B63E202}"/>
              </a:ext>
            </a:extLst>
          </p:cNvPr>
          <p:cNvSpPr txBox="1"/>
          <p:nvPr/>
        </p:nvSpPr>
        <p:spPr>
          <a:xfrm>
            <a:off x="2481629" y="2230847"/>
            <a:ext cx="176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Demografic</a:t>
            </a:r>
            <a:r>
              <a:rPr lang="it-IT" sz="1100" dirty="0">
                <a:latin typeface="Georgia" panose="02040502050405020303" pitchFamily="18" charset="0"/>
              </a:rPr>
              <a:t> 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6287DB-F277-8EFD-AB41-1BE13AE5E6C7}"/>
              </a:ext>
            </a:extLst>
          </p:cNvPr>
          <p:cNvCxnSpPr>
            <a:cxnSpLocks/>
          </p:cNvCxnSpPr>
          <p:nvPr/>
        </p:nvCxnSpPr>
        <p:spPr>
          <a:xfrm>
            <a:off x="1121142" y="3159279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6462A0-5BB4-D39F-FF83-74E4A1CA9924}"/>
              </a:ext>
            </a:extLst>
          </p:cNvPr>
          <p:cNvSpPr txBox="1"/>
          <p:nvPr/>
        </p:nvSpPr>
        <p:spPr>
          <a:xfrm>
            <a:off x="2453467" y="2943312"/>
            <a:ext cx="256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Socio-economic</a:t>
            </a:r>
            <a:r>
              <a:rPr lang="it-IT" dirty="0">
                <a:latin typeface="Georgia" panose="02040502050405020303" pitchFamily="18" charset="0"/>
              </a:rPr>
              <a:t> status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B9328A-19E0-3163-8948-606D8DF5FFAA}"/>
              </a:ext>
            </a:extLst>
          </p:cNvPr>
          <p:cNvCxnSpPr>
            <a:cxnSpLocks/>
          </p:cNvCxnSpPr>
          <p:nvPr/>
        </p:nvCxnSpPr>
        <p:spPr>
          <a:xfrm>
            <a:off x="1136075" y="3978269"/>
            <a:ext cx="8917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427FCE-1425-8AC2-DEFB-94F91991839F}"/>
              </a:ext>
            </a:extLst>
          </p:cNvPr>
          <p:cNvCxnSpPr>
            <a:cxnSpLocks/>
          </p:cNvCxnSpPr>
          <p:nvPr/>
        </p:nvCxnSpPr>
        <p:spPr>
          <a:xfrm>
            <a:off x="1136075" y="473934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958BF6-614B-59D1-BC3E-D7B1C577961B}"/>
              </a:ext>
            </a:extLst>
          </p:cNvPr>
          <p:cNvCxnSpPr>
            <a:cxnSpLocks/>
          </p:cNvCxnSpPr>
          <p:nvPr/>
        </p:nvCxnSpPr>
        <p:spPr>
          <a:xfrm>
            <a:off x="1129031" y="544400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Soldi volanti con riempimento a tinta unita">
            <a:extLst>
              <a:ext uri="{FF2B5EF4-FFF2-40B4-BE49-F238E27FC236}">
                <a16:creationId xmlns:a16="http://schemas.microsoft.com/office/drawing/2014/main" id="{2AE147A2-2445-A8AC-61F8-66D79E002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02826" y="2888687"/>
            <a:ext cx="415635" cy="41563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CA764F5-A739-F900-B404-1574E07A58CA}"/>
              </a:ext>
            </a:extLst>
          </p:cNvPr>
          <p:cNvSpPr txBox="1"/>
          <p:nvPr/>
        </p:nvSpPr>
        <p:spPr>
          <a:xfrm>
            <a:off x="2504155" y="3802154"/>
            <a:ext cx="2204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Family background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DF399B-B0DE-D29D-11E0-ED8C2F2F9D29}"/>
              </a:ext>
            </a:extLst>
          </p:cNvPr>
          <p:cNvSpPr txBox="1"/>
          <p:nvPr/>
        </p:nvSpPr>
        <p:spPr>
          <a:xfrm>
            <a:off x="2570359" y="4516546"/>
            <a:ext cx="2782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Academic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57D21F-E74C-3541-0858-266060986CCE}"/>
              </a:ext>
            </a:extLst>
          </p:cNvPr>
          <p:cNvSpPr txBox="1"/>
          <p:nvPr/>
        </p:nvSpPr>
        <p:spPr>
          <a:xfrm>
            <a:off x="2525759" y="5245708"/>
            <a:ext cx="235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Academic</a:t>
            </a:r>
            <a:r>
              <a:rPr lang="it-IT" dirty="0">
                <a:latin typeface="Georgia" panose="02040502050405020303" pitchFamily="18" charset="0"/>
              </a:rPr>
              <a:t> pathway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A50807-167D-A180-3981-1C34F362501F}"/>
              </a:ext>
            </a:extLst>
          </p:cNvPr>
          <p:cNvSpPr txBox="1"/>
          <p:nvPr/>
        </p:nvSpPr>
        <p:spPr>
          <a:xfrm>
            <a:off x="2444756" y="5830874"/>
            <a:ext cx="375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Regional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Macroeconomic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context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36" name="Graphic 35" descr="Document outline">
            <a:extLst>
              <a:ext uri="{FF2B5EF4-FFF2-40B4-BE49-F238E27FC236}">
                <a16:creationId xmlns:a16="http://schemas.microsoft.com/office/drawing/2014/main" id="{9D8F87AE-2FFD-4053-CA18-CC49BBCCD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3541" y="4297187"/>
            <a:ext cx="569225" cy="569225"/>
          </a:xfrm>
          <a:prstGeom prst="rect">
            <a:avLst/>
          </a:prstGeom>
        </p:spPr>
      </p:pic>
      <p:pic>
        <p:nvPicPr>
          <p:cNvPr id="37" name="Graphic 36" descr="Utente con riempimento a tinta unita">
            <a:extLst>
              <a:ext uri="{FF2B5EF4-FFF2-40B4-BE49-F238E27FC236}">
                <a16:creationId xmlns:a16="http://schemas.microsoft.com/office/drawing/2014/main" id="{B1F2A652-5AA7-8AD2-5105-029DF9756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65278" y="2155940"/>
            <a:ext cx="401062" cy="401062"/>
          </a:xfrm>
          <a:prstGeom prst="rect">
            <a:avLst/>
          </a:prstGeom>
        </p:spPr>
      </p:pic>
      <p:pic>
        <p:nvPicPr>
          <p:cNvPr id="38" name="Graphic 37" descr="Clipboard Mixed outline">
            <a:extLst>
              <a:ext uri="{FF2B5EF4-FFF2-40B4-BE49-F238E27FC236}">
                <a16:creationId xmlns:a16="http://schemas.microsoft.com/office/drawing/2014/main" id="{667F047B-621D-6446-DF86-3F5AB7EC8D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1007" y="5040663"/>
            <a:ext cx="531412" cy="53141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E2E5620C-BDBA-2C08-C89B-2BB18133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DATASET AND PREPROCESSING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41D1D8-3481-F98D-D08B-D762770DEA6E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“Pre-Enrollment” Features</a:t>
            </a:r>
            <a:endParaRPr lang="it-IT" sz="28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6B87A2-05CF-17C9-5ECF-2F2CFA1B9647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C5D5E2F-88B6-B31F-C31C-4CCA223DDF9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A7E24BF-38B2-FAE9-282D-5EB64BF1E893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C24B300-0F90-BC77-AA98-50BC19C86736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A91E298-9CC4-31E8-DE8E-EAD5383A646B}"/>
              </a:ext>
            </a:extLst>
          </p:cNvPr>
          <p:cNvSpPr txBox="1"/>
          <p:nvPr/>
        </p:nvSpPr>
        <p:spPr>
          <a:xfrm>
            <a:off x="4997730" y="1358692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Georgia" panose="02040502050405020303" pitchFamily="18" charset="0"/>
              </a:rPr>
              <a:t>Gender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0C811F7-8382-4F90-7DAC-1C710089487A}"/>
              </a:ext>
            </a:extLst>
          </p:cNvPr>
          <p:cNvSpPr txBox="1"/>
          <p:nvPr/>
        </p:nvSpPr>
        <p:spPr>
          <a:xfrm>
            <a:off x="4997729" y="1651165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Georgia" panose="02040502050405020303" pitchFamily="18" charset="0"/>
              </a:rPr>
              <a:t>Nationality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C1A086-4C2C-BEA7-C804-25B1C8903FF0}"/>
              </a:ext>
            </a:extLst>
          </p:cNvPr>
          <p:cNvSpPr txBox="1"/>
          <p:nvPr/>
        </p:nvSpPr>
        <p:spPr>
          <a:xfrm>
            <a:off x="4997728" y="1955056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Georgia" panose="02040502050405020303" pitchFamily="18" charset="0"/>
              </a:rPr>
              <a:t>Age </a:t>
            </a:r>
            <a:r>
              <a:rPr lang="it-IT" sz="1400" dirty="0" err="1">
                <a:latin typeface="Georgia" panose="02040502050405020303" pitchFamily="18" charset="0"/>
              </a:rPr>
              <a:t>at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enrollment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60E775-7A1A-B791-4C55-182893AD19A3}"/>
              </a:ext>
            </a:extLst>
          </p:cNvPr>
          <p:cNvSpPr txBox="1"/>
          <p:nvPr/>
        </p:nvSpPr>
        <p:spPr>
          <a:xfrm>
            <a:off x="8375973" y="1979644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5. </a:t>
            </a:r>
            <a:r>
              <a:rPr lang="it-IT" sz="1400" dirty="0" err="1">
                <a:latin typeface="Georgia" panose="02040502050405020303" pitchFamily="18" charset="0"/>
              </a:rPr>
              <a:t>Tuition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fees</a:t>
            </a:r>
            <a:r>
              <a:rPr lang="it-IT" sz="1400" dirty="0">
                <a:latin typeface="Georgia" panose="02040502050405020303" pitchFamily="18" charset="0"/>
              </a:rPr>
              <a:t> up-to-date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E6BC242-2D9D-45E3-35B5-47534C51D3D7}"/>
              </a:ext>
            </a:extLst>
          </p:cNvPr>
          <p:cNvSpPr txBox="1"/>
          <p:nvPr/>
        </p:nvSpPr>
        <p:spPr>
          <a:xfrm>
            <a:off x="8375973" y="1651165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4. </a:t>
            </a:r>
            <a:r>
              <a:rPr lang="it-IT" sz="1400" dirty="0" err="1">
                <a:latin typeface="Georgia" panose="02040502050405020303" pitchFamily="18" charset="0"/>
              </a:rPr>
              <a:t>Debtor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F387E6-FEA0-65D0-6ADD-565B98A11ECB}"/>
              </a:ext>
            </a:extLst>
          </p:cNvPr>
          <p:cNvSpPr txBox="1"/>
          <p:nvPr/>
        </p:nvSpPr>
        <p:spPr>
          <a:xfrm>
            <a:off x="8398430" y="2328238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6. </a:t>
            </a:r>
            <a:r>
              <a:rPr lang="it-IT" sz="1400" dirty="0" err="1">
                <a:latin typeface="Georgia" panose="02040502050405020303" pitchFamily="18" charset="0"/>
              </a:rPr>
              <a:t>Scholarship</a:t>
            </a:r>
            <a:r>
              <a:rPr lang="it-IT" sz="1400" dirty="0">
                <a:latin typeface="Georgia" panose="02040502050405020303" pitchFamily="18" charset="0"/>
              </a:rPr>
              <a:t> holder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08C9AF-3FC8-43EC-4303-41C9C36196FF}"/>
              </a:ext>
            </a:extLst>
          </p:cNvPr>
          <p:cNvSpPr txBox="1"/>
          <p:nvPr/>
        </p:nvSpPr>
        <p:spPr>
          <a:xfrm>
            <a:off x="5643523" y="3130560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8. </a:t>
            </a:r>
            <a:r>
              <a:rPr lang="it-IT" sz="1400" dirty="0" err="1">
                <a:latin typeface="Georgia" panose="02040502050405020303" pitchFamily="18" charset="0"/>
              </a:rPr>
              <a:t>Father’s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qualification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6E60BD-7099-DB24-4316-AF98FE61A9CA}"/>
              </a:ext>
            </a:extLst>
          </p:cNvPr>
          <p:cNvSpPr txBox="1"/>
          <p:nvPr/>
        </p:nvSpPr>
        <p:spPr>
          <a:xfrm>
            <a:off x="5643523" y="3403821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9. </a:t>
            </a:r>
            <a:r>
              <a:rPr lang="it-IT" sz="1400" dirty="0" err="1">
                <a:latin typeface="Georgia" panose="02040502050405020303" pitchFamily="18" charset="0"/>
              </a:rPr>
              <a:t>Mother’s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qualification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pic>
        <p:nvPicPr>
          <p:cNvPr id="4" name="Picture 3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25B60E1-6C2E-7952-548B-4A9C566A6A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5" name="Elemento grafico 4" descr="Calendario mensile con riempimento a tinta unita">
            <a:extLst>
              <a:ext uri="{FF2B5EF4-FFF2-40B4-BE49-F238E27FC236}">
                <a16:creationId xmlns:a16="http://schemas.microsoft.com/office/drawing/2014/main" id="{1051ABB6-51E3-8FD8-7829-FD5C7705E9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849" y="1100322"/>
            <a:ext cx="891975" cy="891975"/>
          </a:xfrm>
          <a:prstGeom prst="rect">
            <a:avLst/>
          </a:prstGeom>
        </p:spPr>
      </p:pic>
      <p:cxnSp>
        <p:nvCxnSpPr>
          <p:cNvPr id="60" name="Straight Connector 12">
            <a:extLst>
              <a:ext uri="{FF2B5EF4-FFF2-40B4-BE49-F238E27FC236}">
                <a16:creationId xmlns:a16="http://schemas.microsoft.com/office/drawing/2014/main" id="{FDDB654D-8C46-A7FD-19F1-F12A59091893}"/>
              </a:ext>
            </a:extLst>
          </p:cNvPr>
          <p:cNvCxnSpPr>
            <a:cxnSpLocks/>
          </p:cNvCxnSpPr>
          <p:nvPr/>
        </p:nvCxnSpPr>
        <p:spPr>
          <a:xfrm>
            <a:off x="1121142" y="2056331"/>
            <a:ext cx="0" cy="4319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12">
            <a:extLst>
              <a:ext uri="{FF2B5EF4-FFF2-40B4-BE49-F238E27FC236}">
                <a16:creationId xmlns:a16="http://schemas.microsoft.com/office/drawing/2014/main" id="{E26A9354-0835-C3AE-5DBA-D92118A997C1}"/>
              </a:ext>
            </a:extLst>
          </p:cNvPr>
          <p:cNvCxnSpPr>
            <a:cxnSpLocks/>
          </p:cNvCxnSpPr>
          <p:nvPr/>
        </p:nvCxnSpPr>
        <p:spPr>
          <a:xfrm>
            <a:off x="1121142" y="2711215"/>
            <a:ext cx="2602" cy="448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12">
            <a:extLst>
              <a:ext uri="{FF2B5EF4-FFF2-40B4-BE49-F238E27FC236}">
                <a16:creationId xmlns:a16="http://schemas.microsoft.com/office/drawing/2014/main" id="{6613CA49-07BD-C0E4-B63F-BE8B4BEA5E7F}"/>
              </a:ext>
            </a:extLst>
          </p:cNvPr>
          <p:cNvCxnSpPr>
            <a:cxnSpLocks/>
          </p:cNvCxnSpPr>
          <p:nvPr/>
        </p:nvCxnSpPr>
        <p:spPr>
          <a:xfrm>
            <a:off x="1121142" y="3462504"/>
            <a:ext cx="7889" cy="515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7">
            <a:extLst>
              <a:ext uri="{FF2B5EF4-FFF2-40B4-BE49-F238E27FC236}">
                <a16:creationId xmlns:a16="http://schemas.microsoft.com/office/drawing/2014/main" id="{C4BD0AA4-0E08-8846-2ED7-A31503B15E46}"/>
              </a:ext>
            </a:extLst>
          </p:cNvPr>
          <p:cNvCxnSpPr>
            <a:cxnSpLocks/>
          </p:cNvCxnSpPr>
          <p:nvPr/>
        </p:nvCxnSpPr>
        <p:spPr>
          <a:xfrm flipH="1">
            <a:off x="1138255" y="4260698"/>
            <a:ext cx="4581" cy="465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12">
            <a:extLst>
              <a:ext uri="{FF2B5EF4-FFF2-40B4-BE49-F238E27FC236}">
                <a16:creationId xmlns:a16="http://schemas.microsoft.com/office/drawing/2014/main" id="{0D1F6431-C9B5-6E04-F23F-2AAC9039294A}"/>
              </a:ext>
            </a:extLst>
          </p:cNvPr>
          <p:cNvCxnSpPr>
            <a:cxnSpLocks/>
          </p:cNvCxnSpPr>
          <p:nvPr/>
        </p:nvCxnSpPr>
        <p:spPr>
          <a:xfrm>
            <a:off x="1142836" y="5637689"/>
            <a:ext cx="0" cy="46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24">
            <a:extLst>
              <a:ext uri="{FF2B5EF4-FFF2-40B4-BE49-F238E27FC236}">
                <a16:creationId xmlns:a16="http://schemas.microsoft.com/office/drawing/2014/main" id="{4DE6BBD3-7C72-997F-D625-1FEB9921286B}"/>
              </a:ext>
            </a:extLst>
          </p:cNvPr>
          <p:cNvCxnSpPr>
            <a:cxnSpLocks/>
          </p:cNvCxnSpPr>
          <p:nvPr/>
        </p:nvCxnSpPr>
        <p:spPr>
          <a:xfrm>
            <a:off x="1152105" y="60952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" name="Elemento grafico 102" descr="Gruppo con riempimento a tinta unita">
            <a:extLst>
              <a:ext uri="{FF2B5EF4-FFF2-40B4-BE49-F238E27FC236}">
                <a16:creationId xmlns:a16="http://schemas.microsoft.com/office/drawing/2014/main" id="{B5D3EEA7-579A-A9AD-7F94-EBD6905D08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66511" y="3677641"/>
            <a:ext cx="459248" cy="459248"/>
          </a:xfrm>
          <a:prstGeom prst="rect">
            <a:avLst/>
          </a:prstGeom>
        </p:spPr>
      </p:pic>
      <p:cxnSp>
        <p:nvCxnSpPr>
          <p:cNvPr id="104" name="Straight Connector 12">
            <a:extLst>
              <a:ext uri="{FF2B5EF4-FFF2-40B4-BE49-F238E27FC236}">
                <a16:creationId xmlns:a16="http://schemas.microsoft.com/office/drawing/2014/main" id="{83BCA0F9-B956-4970-13AE-E689E17A1A14}"/>
              </a:ext>
            </a:extLst>
          </p:cNvPr>
          <p:cNvCxnSpPr>
            <a:cxnSpLocks/>
          </p:cNvCxnSpPr>
          <p:nvPr/>
        </p:nvCxnSpPr>
        <p:spPr>
          <a:xfrm>
            <a:off x="3961855" y="1546309"/>
            <a:ext cx="0" cy="919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5">
            <a:extLst>
              <a:ext uri="{FF2B5EF4-FFF2-40B4-BE49-F238E27FC236}">
                <a16:creationId xmlns:a16="http://schemas.microsoft.com/office/drawing/2014/main" id="{5C422CD7-EEF0-0ABA-7822-B87ADEEBE03E}"/>
              </a:ext>
            </a:extLst>
          </p:cNvPr>
          <p:cNvCxnSpPr>
            <a:cxnSpLocks/>
          </p:cNvCxnSpPr>
          <p:nvPr/>
        </p:nvCxnSpPr>
        <p:spPr>
          <a:xfrm>
            <a:off x="3961855" y="1541382"/>
            <a:ext cx="918865" cy="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5">
            <a:extLst>
              <a:ext uri="{FF2B5EF4-FFF2-40B4-BE49-F238E27FC236}">
                <a16:creationId xmlns:a16="http://schemas.microsoft.com/office/drawing/2014/main" id="{1C9972B2-3343-99D6-8413-9CA560739C97}"/>
              </a:ext>
            </a:extLst>
          </p:cNvPr>
          <p:cNvCxnSpPr>
            <a:cxnSpLocks/>
          </p:cNvCxnSpPr>
          <p:nvPr/>
        </p:nvCxnSpPr>
        <p:spPr>
          <a:xfrm>
            <a:off x="3961855" y="1541920"/>
            <a:ext cx="918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5">
            <a:extLst>
              <a:ext uri="{FF2B5EF4-FFF2-40B4-BE49-F238E27FC236}">
                <a16:creationId xmlns:a16="http://schemas.microsoft.com/office/drawing/2014/main" id="{3CC4D0BE-94A7-5D9A-2B6A-9C140FA9AECC}"/>
              </a:ext>
            </a:extLst>
          </p:cNvPr>
          <p:cNvCxnSpPr>
            <a:cxnSpLocks/>
          </p:cNvCxnSpPr>
          <p:nvPr/>
        </p:nvCxnSpPr>
        <p:spPr>
          <a:xfrm flipV="1">
            <a:off x="4702999" y="3435880"/>
            <a:ext cx="906634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2">
            <a:extLst>
              <a:ext uri="{FF2B5EF4-FFF2-40B4-BE49-F238E27FC236}">
                <a16:creationId xmlns:a16="http://schemas.microsoft.com/office/drawing/2014/main" id="{A31317CC-8F73-61F1-D9EA-151D0899190E}"/>
              </a:ext>
            </a:extLst>
          </p:cNvPr>
          <p:cNvCxnSpPr>
            <a:cxnSpLocks/>
          </p:cNvCxnSpPr>
          <p:nvPr/>
        </p:nvCxnSpPr>
        <p:spPr>
          <a:xfrm>
            <a:off x="4891061" y="2466212"/>
            <a:ext cx="0" cy="7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5">
            <a:extLst>
              <a:ext uri="{FF2B5EF4-FFF2-40B4-BE49-F238E27FC236}">
                <a16:creationId xmlns:a16="http://schemas.microsoft.com/office/drawing/2014/main" id="{2CC25F01-7580-2EE3-D2F6-B7A30CAC68BC}"/>
              </a:ext>
            </a:extLst>
          </p:cNvPr>
          <p:cNvCxnSpPr>
            <a:cxnSpLocks/>
          </p:cNvCxnSpPr>
          <p:nvPr/>
        </p:nvCxnSpPr>
        <p:spPr>
          <a:xfrm>
            <a:off x="4880720" y="2467990"/>
            <a:ext cx="3445946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2">
            <a:extLst>
              <a:ext uri="{FF2B5EF4-FFF2-40B4-BE49-F238E27FC236}">
                <a16:creationId xmlns:a16="http://schemas.microsoft.com/office/drawing/2014/main" id="{433C47A5-90C6-A553-41DD-D32C51B9103B}"/>
              </a:ext>
            </a:extLst>
          </p:cNvPr>
          <p:cNvCxnSpPr>
            <a:cxnSpLocks/>
          </p:cNvCxnSpPr>
          <p:nvPr/>
        </p:nvCxnSpPr>
        <p:spPr>
          <a:xfrm>
            <a:off x="4697557" y="3432058"/>
            <a:ext cx="10885" cy="6513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">
            <a:extLst>
              <a:ext uri="{FF2B5EF4-FFF2-40B4-BE49-F238E27FC236}">
                <a16:creationId xmlns:a16="http://schemas.microsoft.com/office/drawing/2014/main" id="{D77FCB72-5056-104C-4C39-6D2AA7387560}"/>
              </a:ext>
            </a:extLst>
          </p:cNvPr>
          <p:cNvCxnSpPr>
            <a:cxnSpLocks/>
          </p:cNvCxnSpPr>
          <p:nvPr/>
        </p:nvCxnSpPr>
        <p:spPr>
          <a:xfrm>
            <a:off x="4708442" y="5047103"/>
            <a:ext cx="0" cy="49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5">
            <a:extLst>
              <a:ext uri="{FF2B5EF4-FFF2-40B4-BE49-F238E27FC236}">
                <a16:creationId xmlns:a16="http://schemas.microsoft.com/office/drawing/2014/main" id="{66750729-04BB-BA98-A1A6-5C91E157DE56}"/>
              </a:ext>
            </a:extLst>
          </p:cNvPr>
          <p:cNvCxnSpPr>
            <a:cxnSpLocks/>
          </p:cNvCxnSpPr>
          <p:nvPr/>
        </p:nvCxnSpPr>
        <p:spPr>
          <a:xfrm flipV="1">
            <a:off x="4693740" y="5023932"/>
            <a:ext cx="906634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78">
            <a:extLst>
              <a:ext uri="{FF2B5EF4-FFF2-40B4-BE49-F238E27FC236}">
                <a16:creationId xmlns:a16="http://schemas.microsoft.com/office/drawing/2014/main" id="{0315AAA3-A2D8-97EE-EAED-E845C0AAC0D5}"/>
              </a:ext>
            </a:extLst>
          </p:cNvPr>
          <p:cNvSpPr txBox="1"/>
          <p:nvPr/>
        </p:nvSpPr>
        <p:spPr>
          <a:xfrm>
            <a:off x="5660812" y="4832842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15. Course</a:t>
            </a:r>
          </a:p>
        </p:txBody>
      </p:sp>
      <p:sp>
        <p:nvSpPr>
          <p:cNvPr id="132" name="TextBox 78">
            <a:extLst>
              <a:ext uri="{FF2B5EF4-FFF2-40B4-BE49-F238E27FC236}">
                <a16:creationId xmlns:a16="http://schemas.microsoft.com/office/drawing/2014/main" id="{F4124C0C-3844-A742-D864-81B1521E5154}"/>
              </a:ext>
            </a:extLst>
          </p:cNvPr>
          <p:cNvSpPr txBox="1"/>
          <p:nvPr/>
        </p:nvSpPr>
        <p:spPr>
          <a:xfrm>
            <a:off x="5635453" y="5125503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16. </a:t>
            </a:r>
            <a:r>
              <a:rPr lang="it-IT" sz="1400" dirty="0" err="1">
                <a:latin typeface="Georgia" panose="02040502050405020303" pitchFamily="18" charset="0"/>
              </a:rPr>
              <a:t>Attendance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42" name="TextBox 78">
            <a:extLst>
              <a:ext uri="{FF2B5EF4-FFF2-40B4-BE49-F238E27FC236}">
                <a16:creationId xmlns:a16="http://schemas.microsoft.com/office/drawing/2014/main" id="{E78A1686-4EEC-2D89-61CF-6C05401CDF25}"/>
              </a:ext>
            </a:extLst>
          </p:cNvPr>
          <p:cNvSpPr txBox="1"/>
          <p:nvPr/>
        </p:nvSpPr>
        <p:spPr>
          <a:xfrm>
            <a:off x="5595256" y="3681926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10. </a:t>
            </a:r>
            <a:r>
              <a:rPr lang="it-IT" sz="1400" dirty="0" err="1">
                <a:latin typeface="Georgia" panose="02040502050405020303" pitchFamily="18" charset="0"/>
              </a:rPr>
              <a:t>Father’s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occupation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45" name="TextBox 79">
            <a:extLst>
              <a:ext uri="{FF2B5EF4-FFF2-40B4-BE49-F238E27FC236}">
                <a16:creationId xmlns:a16="http://schemas.microsoft.com/office/drawing/2014/main" id="{E9538EF8-88BC-1F52-D97C-953FFD80DC35}"/>
              </a:ext>
            </a:extLst>
          </p:cNvPr>
          <p:cNvSpPr txBox="1"/>
          <p:nvPr/>
        </p:nvSpPr>
        <p:spPr>
          <a:xfrm>
            <a:off x="8398430" y="2642459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7. </a:t>
            </a:r>
            <a:r>
              <a:rPr lang="it-IT" sz="1400" dirty="0" err="1">
                <a:latin typeface="Georgia" panose="02040502050405020303" pitchFamily="18" charset="0"/>
              </a:rPr>
              <a:t>Displaced</a:t>
            </a:r>
            <a:endParaRPr lang="it-IT" sz="1400" dirty="0">
              <a:latin typeface="Georgia" panose="02040502050405020303" pitchFamily="18" charset="0"/>
            </a:endParaRPr>
          </a:p>
        </p:txBody>
      </p:sp>
      <p:pic>
        <p:nvPicPr>
          <p:cNvPr id="150" name="Elemento grafico 149" descr="Fabbrica con riempimento a tinta unita">
            <a:extLst>
              <a:ext uri="{FF2B5EF4-FFF2-40B4-BE49-F238E27FC236}">
                <a16:creationId xmlns:a16="http://schemas.microsoft.com/office/drawing/2014/main" id="{B41ED10F-8D88-0F40-0395-C68CA9D714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65278" y="5727404"/>
            <a:ext cx="467304" cy="467304"/>
          </a:xfrm>
          <a:prstGeom prst="rect">
            <a:avLst/>
          </a:prstGeom>
        </p:spPr>
      </p:pic>
      <p:pic>
        <p:nvPicPr>
          <p:cNvPr id="3" name="Elemento grafico 2" descr="Chiudi con riempimento a tinta unita">
            <a:extLst>
              <a:ext uri="{FF2B5EF4-FFF2-40B4-BE49-F238E27FC236}">
                <a16:creationId xmlns:a16="http://schemas.microsoft.com/office/drawing/2014/main" id="{53CD108D-47B9-DF7C-DF13-FC91A3167A8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80420" y="1973878"/>
            <a:ext cx="336691" cy="336691"/>
          </a:xfrm>
          <a:prstGeom prst="rect">
            <a:avLst/>
          </a:prstGeom>
        </p:spPr>
      </p:pic>
      <p:pic>
        <p:nvPicPr>
          <p:cNvPr id="6" name="Elemento grafico 5" descr="Chiudi con riempimento a tinta unita">
            <a:extLst>
              <a:ext uri="{FF2B5EF4-FFF2-40B4-BE49-F238E27FC236}">
                <a16:creationId xmlns:a16="http://schemas.microsoft.com/office/drawing/2014/main" id="{60C4D463-F12B-C35B-999B-CC191C1812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15739" y="4450908"/>
            <a:ext cx="523276" cy="523276"/>
          </a:xfrm>
          <a:prstGeom prst="rect">
            <a:avLst/>
          </a:prstGeom>
        </p:spPr>
      </p:pic>
      <p:pic>
        <p:nvPicPr>
          <p:cNvPr id="8" name="Elemento grafico 7" descr="Chiudi con riempimento a tinta unita">
            <a:extLst>
              <a:ext uri="{FF2B5EF4-FFF2-40B4-BE49-F238E27FC236}">
                <a16:creationId xmlns:a16="http://schemas.microsoft.com/office/drawing/2014/main" id="{7AC9E259-3ADF-76DD-2796-894F8C1E240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68338" y="5168247"/>
            <a:ext cx="307542" cy="307542"/>
          </a:xfrm>
          <a:prstGeom prst="rect">
            <a:avLst/>
          </a:prstGeom>
        </p:spPr>
      </p:pic>
      <p:pic>
        <p:nvPicPr>
          <p:cNvPr id="9" name="Elemento grafico 8" descr="Chiudi con riempimento a tinta unita">
            <a:extLst>
              <a:ext uri="{FF2B5EF4-FFF2-40B4-BE49-F238E27FC236}">
                <a16:creationId xmlns:a16="http://schemas.microsoft.com/office/drawing/2014/main" id="{0AE9C09C-2CC7-0668-543D-F10CF1FE618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67045" y="5702997"/>
            <a:ext cx="564137" cy="564137"/>
          </a:xfrm>
          <a:prstGeom prst="rect">
            <a:avLst/>
          </a:prstGeom>
        </p:spPr>
      </p:pic>
      <p:sp>
        <p:nvSpPr>
          <p:cNvPr id="2" name="TextBox 80">
            <a:extLst>
              <a:ext uri="{FF2B5EF4-FFF2-40B4-BE49-F238E27FC236}">
                <a16:creationId xmlns:a16="http://schemas.microsoft.com/office/drawing/2014/main" id="{7AE96134-8551-2CE6-26DF-4368E781CD31}"/>
              </a:ext>
            </a:extLst>
          </p:cNvPr>
          <p:cNvSpPr txBox="1"/>
          <p:nvPr/>
        </p:nvSpPr>
        <p:spPr>
          <a:xfrm>
            <a:off x="5635451" y="3967960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11. </a:t>
            </a:r>
            <a:r>
              <a:rPr lang="it-IT" sz="1400" dirty="0" err="1">
                <a:latin typeface="Georgia" panose="02040502050405020303" pitchFamily="18" charset="0"/>
              </a:rPr>
              <a:t>Mother’s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qualification</a:t>
            </a:r>
            <a:endParaRPr lang="it-IT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093608"/>
      </p:ext>
    </p:extLst>
  </p:cSld>
  <p:clrMapOvr>
    <a:masterClrMapping/>
  </p:clrMapOvr>
  <p:transition spd="slow">
    <p:push dir="u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6C63192-98A8-128A-C76F-CE0E5A0CE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263" y="1599444"/>
            <a:ext cx="7704198" cy="4101860"/>
          </a:xfrm>
          <a:prstGeom prst="rect">
            <a:avLst/>
          </a:prstGeom>
        </p:spPr>
      </p:pic>
      <p:cxnSp>
        <p:nvCxnSpPr>
          <p:cNvPr id="2" name="Straight Connector 5">
            <a:extLst>
              <a:ext uri="{FF2B5EF4-FFF2-40B4-BE49-F238E27FC236}">
                <a16:creationId xmlns:a16="http://schemas.microsoft.com/office/drawing/2014/main" id="{9A0500D4-E6AF-7427-631F-0191C2EE37C6}"/>
              </a:ext>
            </a:extLst>
          </p:cNvPr>
          <p:cNvCxnSpPr>
            <a:cxnSpLocks/>
          </p:cNvCxnSpPr>
          <p:nvPr/>
        </p:nvCxnSpPr>
        <p:spPr>
          <a:xfrm>
            <a:off x="12576650" y="1618563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13317"/>
      </p:ext>
    </p:extLst>
  </p:cSld>
  <p:clrMapOvr>
    <a:masterClrMapping/>
  </p:clrMapOvr>
  <p:transition spd="slow">
    <p:push dir="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6C63192-98A8-128A-C76F-CE0E5A0CE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2" y="2227454"/>
            <a:ext cx="6570427" cy="3498219"/>
          </a:xfrm>
          <a:prstGeom prst="rect">
            <a:avLst/>
          </a:prstGeom>
        </p:spPr>
      </p:pic>
      <p:cxnSp>
        <p:nvCxnSpPr>
          <p:cNvPr id="2" name="Straight Connector 5">
            <a:extLst>
              <a:ext uri="{FF2B5EF4-FFF2-40B4-BE49-F238E27FC236}">
                <a16:creationId xmlns:a16="http://schemas.microsoft.com/office/drawing/2014/main" id="{5BFE68C6-AA51-E4A3-13FA-8A7E778B6396}"/>
              </a:ext>
            </a:extLst>
          </p:cNvPr>
          <p:cNvCxnSpPr>
            <a:cxnSpLocks/>
          </p:cNvCxnSpPr>
          <p:nvPr/>
        </p:nvCxnSpPr>
        <p:spPr>
          <a:xfrm>
            <a:off x="6817534" y="199475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1">
            <a:extLst>
              <a:ext uri="{FF2B5EF4-FFF2-40B4-BE49-F238E27FC236}">
                <a16:creationId xmlns:a16="http://schemas.microsoft.com/office/drawing/2014/main" id="{1D20445D-A7A8-17FC-6449-9E44ABD40B6B}"/>
              </a:ext>
            </a:extLst>
          </p:cNvPr>
          <p:cNvSpPr txBox="1"/>
          <p:nvPr/>
        </p:nvSpPr>
        <p:spPr>
          <a:xfrm>
            <a:off x="7000377" y="2601773"/>
            <a:ext cx="50878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We observe that the two variables with the highest scores are “Admission Grade” and “Course” chosen by the students, both of which consistently appear in the top 5 in all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eorgia" panose="02040502050405020303" pitchFamily="18" charset="0"/>
              </a:rPr>
              <a:t>Four of these nine variables, are directly related to a student’s economic situation.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3434872-7094-1E36-2418-43112E761ABE}"/>
              </a:ext>
            </a:extLst>
          </p:cNvPr>
          <p:cNvSpPr txBox="1"/>
          <p:nvPr/>
        </p:nvSpPr>
        <p:spPr>
          <a:xfrm>
            <a:off x="-3659660" y="2129904"/>
            <a:ext cx="50878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Father’s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Mother’s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Debtor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Scholarship holder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852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1D20445D-A7A8-17FC-6449-9E44ABD40B6B}"/>
              </a:ext>
            </a:extLst>
          </p:cNvPr>
          <p:cNvSpPr txBox="1"/>
          <p:nvPr/>
        </p:nvSpPr>
        <p:spPr>
          <a:xfrm>
            <a:off x="286636" y="1972053"/>
            <a:ext cx="50878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Father’s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Mother’s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Debtor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Scholarship holder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CCF57D0-5D9E-49A4-E90B-F289AA22F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1410591" y="1972053"/>
            <a:ext cx="866770" cy="1577190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612EB30B-DEE5-0624-9B97-E09A187BAD74}"/>
              </a:ext>
            </a:extLst>
          </p:cNvPr>
          <p:cNvSpPr txBox="1"/>
          <p:nvPr/>
        </p:nvSpPr>
        <p:spPr>
          <a:xfrm>
            <a:off x="2830552" y="7031322"/>
            <a:ext cx="508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eorgia" panose="02040502050405020303" pitchFamily="18" charset="0"/>
              </a:rPr>
              <a:t>“Financial variable”</a:t>
            </a:r>
          </a:p>
        </p:txBody>
      </p:sp>
      <p:pic>
        <p:nvPicPr>
          <p:cNvPr id="10" name="Elemento grafico 9" descr="Soldi volanti contorno">
            <a:extLst>
              <a:ext uri="{FF2B5EF4-FFF2-40B4-BE49-F238E27FC236}">
                <a16:creationId xmlns:a16="http://schemas.microsoft.com/office/drawing/2014/main" id="{50FDD5C1-5084-88FA-84CF-C71EBD78C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334498" y="6858000"/>
            <a:ext cx="932177" cy="932177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82832239-C71F-F653-19A7-0F9754F68217}"/>
              </a:ext>
            </a:extLst>
          </p:cNvPr>
          <p:cNvSpPr txBox="1"/>
          <p:nvPr/>
        </p:nvSpPr>
        <p:spPr>
          <a:xfrm>
            <a:off x="12344655" y="2110552"/>
            <a:ext cx="5087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This factor is reflecting whether a student has more or fewer financial resources and seem to be critical in determining the academic performances of the students.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E4B52D60-C53A-4B89-0C0C-805098A30D7C}"/>
              </a:ext>
            </a:extLst>
          </p:cNvPr>
          <p:cNvSpPr txBox="1"/>
          <p:nvPr/>
        </p:nvSpPr>
        <p:spPr>
          <a:xfrm>
            <a:off x="13328417" y="5262380"/>
            <a:ext cx="4415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In this analysis students’ performance is measured by 3 key variables:</a:t>
            </a:r>
          </a:p>
        </p:txBody>
      </p:sp>
      <p:pic>
        <p:nvPicPr>
          <p:cNvPr id="3" name="Elemento grafico 2" descr="Monete contorno">
            <a:extLst>
              <a:ext uri="{FF2B5EF4-FFF2-40B4-BE49-F238E27FC236}">
                <a16:creationId xmlns:a16="http://schemas.microsoft.com/office/drawing/2014/main" id="{81453228-6685-D112-0CBD-83E84A39A9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2258" y="68757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41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1D20445D-A7A8-17FC-6449-9E44ABD40B6B}"/>
              </a:ext>
            </a:extLst>
          </p:cNvPr>
          <p:cNvSpPr txBox="1"/>
          <p:nvPr/>
        </p:nvSpPr>
        <p:spPr>
          <a:xfrm>
            <a:off x="286636" y="1972053"/>
            <a:ext cx="50878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Father’s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Mother’s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Debtor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Scholarship holder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CCF57D0-5D9E-49A4-E90B-F289AA22F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562462" y="1985835"/>
            <a:ext cx="866770" cy="1577190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612EB30B-DEE5-0624-9B97-E09A187BAD74}"/>
              </a:ext>
            </a:extLst>
          </p:cNvPr>
          <p:cNvSpPr txBox="1"/>
          <p:nvPr/>
        </p:nvSpPr>
        <p:spPr>
          <a:xfrm>
            <a:off x="4852741" y="2577058"/>
            <a:ext cx="508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eorgia" panose="02040502050405020303" pitchFamily="18" charset="0"/>
              </a:rPr>
              <a:t>“Financial variable”</a:t>
            </a:r>
          </a:p>
        </p:txBody>
      </p:sp>
      <p:pic>
        <p:nvPicPr>
          <p:cNvPr id="10" name="Elemento grafico 9" descr="Soldi volanti contorno">
            <a:extLst>
              <a:ext uri="{FF2B5EF4-FFF2-40B4-BE49-F238E27FC236}">
                <a16:creationId xmlns:a16="http://schemas.microsoft.com/office/drawing/2014/main" id="{50FDD5C1-5084-88FA-84CF-C71EBD78C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294493" y="2372580"/>
            <a:ext cx="932177" cy="932177"/>
          </a:xfrm>
          <a:prstGeom prst="rect">
            <a:avLst/>
          </a:prstGeom>
        </p:spPr>
      </p:pic>
      <p:pic>
        <p:nvPicPr>
          <p:cNvPr id="3" name="Elemento grafico 2" descr="Monete contorno">
            <a:extLst>
              <a:ext uri="{FF2B5EF4-FFF2-40B4-BE49-F238E27FC236}">
                <a16:creationId xmlns:a16="http://schemas.microsoft.com/office/drawing/2014/main" id="{81453228-6685-D112-0CBD-83E84A39A9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418" y="2360269"/>
            <a:ext cx="914400" cy="914400"/>
          </a:xfrm>
          <a:prstGeom prst="rect">
            <a:avLst/>
          </a:prstGeom>
        </p:spPr>
      </p:pic>
      <p:cxnSp>
        <p:nvCxnSpPr>
          <p:cNvPr id="2" name="Straight Arrow Connector 2">
            <a:extLst>
              <a:ext uri="{FF2B5EF4-FFF2-40B4-BE49-F238E27FC236}">
                <a16:creationId xmlns:a16="http://schemas.microsoft.com/office/drawing/2014/main" id="{55223727-5F70-9347-1734-2CCA8DAE6982}"/>
              </a:ext>
            </a:extLst>
          </p:cNvPr>
          <p:cNvCxnSpPr>
            <a:cxnSpLocks/>
          </p:cNvCxnSpPr>
          <p:nvPr/>
        </p:nvCxnSpPr>
        <p:spPr>
          <a:xfrm>
            <a:off x="7139983" y="-757537"/>
            <a:ext cx="0" cy="65744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1">
            <a:extLst>
              <a:ext uri="{FF2B5EF4-FFF2-40B4-BE49-F238E27FC236}">
                <a16:creationId xmlns:a16="http://schemas.microsoft.com/office/drawing/2014/main" id="{DA5A279A-3080-852E-1B61-39CD571D69CE}"/>
              </a:ext>
            </a:extLst>
          </p:cNvPr>
          <p:cNvSpPr txBox="1"/>
          <p:nvPr/>
        </p:nvSpPr>
        <p:spPr>
          <a:xfrm>
            <a:off x="12386889" y="3416828"/>
            <a:ext cx="6574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This variable is reflecting whether a student has more or fewer financial resources and seem to be critical in determining the academic performances of the students.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149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1D20445D-A7A8-17FC-6449-9E44ABD40B6B}"/>
              </a:ext>
            </a:extLst>
          </p:cNvPr>
          <p:cNvSpPr txBox="1"/>
          <p:nvPr/>
        </p:nvSpPr>
        <p:spPr>
          <a:xfrm>
            <a:off x="286636" y="1972053"/>
            <a:ext cx="50878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Father’s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Mother’s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Debtor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Scholarship holder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CCF57D0-5D9E-49A4-E90B-F289AA22F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562462" y="1985835"/>
            <a:ext cx="866770" cy="1577190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612EB30B-DEE5-0624-9B97-E09A187BAD74}"/>
              </a:ext>
            </a:extLst>
          </p:cNvPr>
          <p:cNvSpPr txBox="1"/>
          <p:nvPr/>
        </p:nvSpPr>
        <p:spPr>
          <a:xfrm>
            <a:off x="4852741" y="2577058"/>
            <a:ext cx="508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eorgia" panose="02040502050405020303" pitchFamily="18" charset="0"/>
              </a:rPr>
              <a:t>“Financial variable”</a:t>
            </a:r>
          </a:p>
        </p:txBody>
      </p:sp>
      <p:pic>
        <p:nvPicPr>
          <p:cNvPr id="10" name="Elemento grafico 9" descr="Soldi volanti contorno">
            <a:extLst>
              <a:ext uri="{FF2B5EF4-FFF2-40B4-BE49-F238E27FC236}">
                <a16:creationId xmlns:a16="http://schemas.microsoft.com/office/drawing/2014/main" id="{50FDD5C1-5084-88FA-84CF-C71EBD78C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294493" y="2372580"/>
            <a:ext cx="932177" cy="932177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82832239-C71F-F653-19A7-0F9754F68217}"/>
              </a:ext>
            </a:extLst>
          </p:cNvPr>
          <p:cNvSpPr txBox="1"/>
          <p:nvPr/>
        </p:nvSpPr>
        <p:spPr>
          <a:xfrm>
            <a:off x="4109163" y="3838027"/>
            <a:ext cx="6574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This variable is reflecting whether a student has more or fewer financial resources and seem to be critical in determining the academic performances of the students.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3" name="Elemento grafico 2" descr="Monete contorno">
            <a:extLst>
              <a:ext uri="{FF2B5EF4-FFF2-40B4-BE49-F238E27FC236}">
                <a16:creationId xmlns:a16="http://schemas.microsoft.com/office/drawing/2014/main" id="{81453228-6685-D112-0CBD-83E84A39A9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418" y="2360269"/>
            <a:ext cx="914400" cy="914400"/>
          </a:xfrm>
          <a:prstGeom prst="rect">
            <a:avLst/>
          </a:prstGeom>
        </p:spPr>
      </p:pic>
      <p:cxnSp>
        <p:nvCxnSpPr>
          <p:cNvPr id="9" name="Straight Arrow Connector 2">
            <a:extLst>
              <a:ext uri="{FF2B5EF4-FFF2-40B4-BE49-F238E27FC236}">
                <a16:creationId xmlns:a16="http://schemas.microsoft.com/office/drawing/2014/main" id="{420EE32F-DCD0-0402-8A58-8C37CE2461F8}"/>
              </a:ext>
            </a:extLst>
          </p:cNvPr>
          <p:cNvCxnSpPr>
            <a:cxnSpLocks/>
          </p:cNvCxnSpPr>
          <p:nvPr/>
        </p:nvCxnSpPr>
        <p:spPr>
          <a:xfrm>
            <a:off x="12473982" y="5251266"/>
            <a:ext cx="0" cy="65744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">
            <a:extLst>
              <a:ext uri="{FF2B5EF4-FFF2-40B4-BE49-F238E27FC236}">
                <a16:creationId xmlns:a16="http://schemas.microsoft.com/office/drawing/2014/main" id="{43961AFC-B8C4-FD7C-F08C-B2319224B0D5}"/>
              </a:ext>
            </a:extLst>
          </p:cNvPr>
          <p:cNvSpPr txBox="1"/>
          <p:nvPr/>
        </p:nvSpPr>
        <p:spPr>
          <a:xfrm>
            <a:off x="3725868" y="6989353"/>
            <a:ext cx="801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With this factor in mind, we proceed with our analysis…</a:t>
            </a:r>
          </a:p>
        </p:txBody>
      </p:sp>
      <p:cxnSp>
        <p:nvCxnSpPr>
          <p:cNvPr id="14" name="Straight Arrow Connector 2">
            <a:extLst>
              <a:ext uri="{FF2B5EF4-FFF2-40B4-BE49-F238E27FC236}">
                <a16:creationId xmlns:a16="http://schemas.microsoft.com/office/drawing/2014/main" id="{7C5A96F7-BED7-554B-31D4-A5FD19DA1DCF}"/>
              </a:ext>
            </a:extLst>
          </p:cNvPr>
          <p:cNvCxnSpPr>
            <a:cxnSpLocks/>
          </p:cNvCxnSpPr>
          <p:nvPr/>
        </p:nvCxnSpPr>
        <p:spPr>
          <a:xfrm>
            <a:off x="7268320" y="3126732"/>
            <a:ext cx="0" cy="65744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5620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1D20445D-A7A8-17FC-6449-9E44ABD40B6B}"/>
              </a:ext>
            </a:extLst>
          </p:cNvPr>
          <p:cNvSpPr txBox="1"/>
          <p:nvPr/>
        </p:nvSpPr>
        <p:spPr>
          <a:xfrm>
            <a:off x="286636" y="1972053"/>
            <a:ext cx="50878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Father’s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Mother’s occupation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Debtor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Georgia" panose="02040502050405020303" pitchFamily="18" charset="0"/>
              </a:rPr>
              <a:t>Scholarship holder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CCF57D0-5D9E-49A4-E90B-F289AA22F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562462" y="1985835"/>
            <a:ext cx="866770" cy="1577190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612EB30B-DEE5-0624-9B97-E09A187BAD74}"/>
              </a:ext>
            </a:extLst>
          </p:cNvPr>
          <p:cNvSpPr txBox="1"/>
          <p:nvPr/>
        </p:nvSpPr>
        <p:spPr>
          <a:xfrm>
            <a:off x="4852741" y="2577058"/>
            <a:ext cx="5087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eorgia" panose="02040502050405020303" pitchFamily="18" charset="0"/>
              </a:rPr>
              <a:t>“Financial variable”</a:t>
            </a:r>
          </a:p>
        </p:txBody>
      </p:sp>
      <p:pic>
        <p:nvPicPr>
          <p:cNvPr id="10" name="Elemento grafico 9" descr="Soldi volanti contorno">
            <a:extLst>
              <a:ext uri="{FF2B5EF4-FFF2-40B4-BE49-F238E27FC236}">
                <a16:creationId xmlns:a16="http://schemas.microsoft.com/office/drawing/2014/main" id="{50FDD5C1-5084-88FA-84CF-C71EBD78C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294493" y="2372580"/>
            <a:ext cx="932177" cy="932177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82832239-C71F-F653-19A7-0F9754F68217}"/>
              </a:ext>
            </a:extLst>
          </p:cNvPr>
          <p:cNvSpPr txBox="1"/>
          <p:nvPr/>
        </p:nvSpPr>
        <p:spPr>
          <a:xfrm>
            <a:off x="4109163" y="3838027"/>
            <a:ext cx="6574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This variable is reflecting whether a student has more or fewer financial resources and seem to be critical in determining the academic performances of the students.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2" name="Straight Arrow Connector 2">
            <a:extLst>
              <a:ext uri="{FF2B5EF4-FFF2-40B4-BE49-F238E27FC236}">
                <a16:creationId xmlns:a16="http://schemas.microsoft.com/office/drawing/2014/main" id="{179D5962-97D8-03A4-00F0-9EB19E3AE15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7396656" y="3100278"/>
            <a:ext cx="0" cy="65744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">
            <a:extLst>
              <a:ext uri="{FF2B5EF4-FFF2-40B4-BE49-F238E27FC236}">
                <a16:creationId xmlns:a16="http://schemas.microsoft.com/office/drawing/2014/main" id="{E4B52D60-C53A-4B89-0C0C-805098A30D7C}"/>
              </a:ext>
            </a:extLst>
          </p:cNvPr>
          <p:cNvSpPr txBox="1"/>
          <p:nvPr/>
        </p:nvSpPr>
        <p:spPr>
          <a:xfrm>
            <a:off x="3808201" y="5556572"/>
            <a:ext cx="8014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With this factor in mind, we proceed with our analysis…</a:t>
            </a:r>
          </a:p>
        </p:txBody>
      </p:sp>
      <p:pic>
        <p:nvPicPr>
          <p:cNvPr id="3" name="Elemento grafico 2" descr="Monete contorno">
            <a:extLst>
              <a:ext uri="{FF2B5EF4-FFF2-40B4-BE49-F238E27FC236}">
                <a16:creationId xmlns:a16="http://schemas.microsoft.com/office/drawing/2014/main" id="{81453228-6685-D112-0CBD-83E84A39A9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4418" y="2360269"/>
            <a:ext cx="914400" cy="914400"/>
          </a:xfrm>
          <a:prstGeom prst="rect">
            <a:avLst/>
          </a:prstGeom>
        </p:spPr>
      </p:pic>
      <p:cxnSp>
        <p:nvCxnSpPr>
          <p:cNvPr id="2" name="Straight Arrow Connector 2">
            <a:extLst>
              <a:ext uri="{FF2B5EF4-FFF2-40B4-BE49-F238E27FC236}">
                <a16:creationId xmlns:a16="http://schemas.microsoft.com/office/drawing/2014/main" id="{29103A08-8D74-4FCF-5D4D-C70A52A4C08D}"/>
              </a:ext>
            </a:extLst>
          </p:cNvPr>
          <p:cNvCxnSpPr>
            <a:cxnSpLocks/>
          </p:cNvCxnSpPr>
          <p:nvPr/>
        </p:nvCxnSpPr>
        <p:spPr>
          <a:xfrm>
            <a:off x="7396656" y="4853690"/>
            <a:ext cx="0" cy="65744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566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1D20445D-A7A8-17FC-6449-9E44ABD40B6B}"/>
              </a:ext>
            </a:extLst>
          </p:cNvPr>
          <p:cNvSpPr txBox="1"/>
          <p:nvPr/>
        </p:nvSpPr>
        <p:spPr>
          <a:xfrm>
            <a:off x="8397366" y="2426280"/>
            <a:ext cx="306595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Georgia" panose="02040502050405020303" pitchFamily="18" charset="0"/>
              </a:rPr>
              <a:t>Ingeneers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Architects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Health professionals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Legislators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Georgia" panose="02040502050405020303" pitchFamily="18" charset="0"/>
              </a:rPr>
              <a:t>Lawers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teachers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CCF57D0-5D9E-49A4-E90B-F289AA22F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09" y="2474241"/>
            <a:ext cx="600498" cy="1703401"/>
          </a:xfrm>
          <a:prstGeom prst="rect">
            <a:avLst/>
          </a:prstGeom>
        </p:spPr>
      </p:pic>
      <p:pic>
        <p:nvPicPr>
          <p:cNvPr id="10" name="Elemento grafico 9" descr="Soldi volanti contorno">
            <a:extLst>
              <a:ext uri="{FF2B5EF4-FFF2-40B4-BE49-F238E27FC236}">
                <a16:creationId xmlns:a16="http://schemas.microsoft.com/office/drawing/2014/main" id="{50FDD5C1-5084-88FA-84CF-C71EBD78C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814320" y="4317063"/>
            <a:ext cx="615554" cy="615554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82832239-C71F-F653-19A7-0F9754F68217}"/>
              </a:ext>
            </a:extLst>
          </p:cNvPr>
          <p:cNvSpPr txBox="1"/>
          <p:nvPr/>
        </p:nvSpPr>
        <p:spPr>
          <a:xfrm>
            <a:off x="350888" y="1916226"/>
            <a:ext cx="9125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n-US" dirty="0">
                <a:latin typeface="Georgia" panose="02040502050405020303" pitchFamily="18" charset="0"/>
              </a:rPr>
              <a:t>Step: we filter the dataset based of parent’s occupation, and try to create two groups:</a:t>
            </a:r>
          </a:p>
        </p:txBody>
      </p:sp>
      <p:cxnSp>
        <p:nvCxnSpPr>
          <p:cNvPr id="12" name="Straight Arrow Connector 2">
            <a:extLst>
              <a:ext uri="{FF2B5EF4-FFF2-40B4-BE49-F238E27FC236}">
                <a16:creationId xmlns:a16="http://schemas.microsoft.com/office/drawing/2014/main" id="{179D5962-97D8-03A4-00F0-9EB19E3AE150}"/>
              </a:ext>
            </a:extLst>
          </p:cNvPr>
          <p:cNvCxnSpPr>
            <a:cxnSpLocks/>
          </p:cNvCxnSpPr>
          <p:nvPr/>
        </p:nvCxnSpPr>
        <p:spPr>
          <a:xfrm>
            <a:off x="9185224" y="4387360"/>
            <a:ext cx="0" cy="46627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10A85C8C-0CBF-693D-4D4D-B0CC16D045DC}"/>
              </a:ext>
            </a:extLst>
          </p:cNvPr>
          <p:cNvSpPr txBox="1"/>
          <p:nvPr/>
        </p:nvSpPr>
        <p:spPr>
          <a:xfrm>
            <a:off x="1265860" y="4896790"/>
            <a:ext cx="4346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And associated with above-average salaries, making the family wealthier in terms of financial resources.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727522" y="2797239"/>
            <a:ext cx="69167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High-Qualified Families: </a:t>
            </a:r>
            <a:r>
              <a:rPr lang="en-US" sz="1600" dirty="0">
                <a:latin typeface="Georgia" panose="02040502050405020303" pitchFamily="18" charset="0"/>
              </a:rPr>
              <a:t>Includes students whose families have at least one parent engaged in a qualified work.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63AEE1E6-D514-4720-05B5-BC4FA5423E65}"/>
              </a:ext>
            </a:extLst>
          </p:cNvPr>
          <p:cNvSpPr txBox="1"/>
          <p:nvPr/>
        </p:nvSpPr>
        <p:spPr>
          <a:xfrm>
            <a:off x="7373363" y="4894288"/>
            <a:ext cx="3980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All these jobs share the fact that they </a:t>
            </a:r>
            <a:r>
              <a:rPr lang="en-US" b="1" dirty="0">
                <a:latin typeface="Georgia" panose="02040502050405020303" pitchFamily="18" charset="0"/>
              </a:rPr>
              <a:t>require a university degree </a:t>
            </a:r>
            <a:r>
              <a:rPr lang="en-US" dirty="0">
                <a:latin typeface="Georgia" panose="02040502050405020303" pitchFamily="18" charset="0"/>
              </a:rPr>
              <a:t>or a master's qualification</a:t>
            </a:r>
          </a:p>
        </p:txBody>
      </p:sp>
      <p:cxnSp>
        <p:nvCxnSpPr>
          <p:cNvPr id="9" name="Straight Arrow Connector 2">
            <a:extLst>
              <a:ext uri="{FF2B5EF4-FFF2-40B4-BE49-F238E27FC236}">
                <a16:creationId xmlns:a16="http://schemas.microsoft.com/office/drawing/2014/main" id="{D7E97689-E2FC-78E8-9A82-D81CD2F2BE5F}"/>
              </a:ext>
            </a:extLst>
          </p:cNvPr>
          <p:cNvCxnSpPr>
            <a:cxnSpLocks/>
          </p:cNvCxnSpPr>
          <p:nvPr/>
        </p:nvCxnSpPr>
        <p:spPr>
          <a:xfrm flipH="1">
            <a:off x="5759116" y="5361272"/>
            <a:ext cx="1357162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Elemento grafico 16" descr="Cappello di laurea contorno">
            <a:extLst>
              <a:ext uri="{FF2B5EF4-FFF2-40B4-BE49-F238E27FC236}">
                <a16:creationId xmlns:a16="http://schemas.microsoft.com/office/drawing/2014/main" id="{298845B8-1E82-8397-75E1-66C2DC34D3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26338" y="5800485"/>
            <a:ext cx="615555" cy="615555"/>
          </a:xfrm>
          <a:prstGeom prst="rect">
            <a:avLst/>
          </a:prstGeom>
        </p:spPr>
      </p:pic>
      <p:pic>
        <p:nvPicPr>
          <p:cNvPr id="18" name="Elemento grafico 17" descr="Segno di spunta con riempimento a tinta unita">
            <a:extLst>
              <a:ext uri="{FF2B5EF4-FFF2-40B4-BE49-F238E27FC236}">
                <a16:creationId xmlns:a16="http://schemas.microsoft.com/office/drawing/2014/main" id="{7522AA88-7D77-7FF4-E520-3BC88E7B8A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09079" y="4282524"/>
            <a:ext cx="571111" cy="571111"/>
          </a:xfrm>
          <a:prstGeom prst="rect">
            <a:avLst/>
          </a:prstGeom>
        </p:spPr>
      </p:pic>
      <p:pic>
        <p:nvPicPr>
          <p:cNvPr id="19" name="Elemento grafico 18" descr="Segno di spunta con riempimento a tinta unita">
            <a:extLst>
              <a:ext uri="{FF2B5EF4-FFF2-40B4-BE49-F238E27FC236}">
                <a16:creationId xmlns:a16="http://schemas.microsoft.com/office/drawing/2014/main" id="{4EFF2915-989B-B845-17B6-687C509DD0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91195" y="5764020"/>
            <a:ext cx="571111" cy="57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920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116" y="1504211"/>
            <a:ext cx="495922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python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script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serves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centralized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configuration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file,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containing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essential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variables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settings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control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behavior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application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Here's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explanation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917E3-270E-4969-861A-DB03AC9ED585}"/>
              </a:ext>
            </a:extLst>
          </p:cNvPr>
          <p:cNvSpPr txBox="1"/>
          <p:nvPr/>
        </p:nvSpPr>
        <p:spPr>
          <a:xfrm>
            <a:off x="16005828" y="3650374"/>
            <a:ext cx="3797543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settings for developers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ANONYMIZED = True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DEBUG = False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DISABLE_LOGIN = True</a:t>
            </a:r>
          </a:p>
          <a:p>
            <a:pPr>
              <a:lnSpc>
                <a:spcPts val="1425"/>
              </a:lnSpc>
            </a:pPr>
            <a:b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</a:b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#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Credentials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lang="it-IT" sz="1200" b="1" dirty="0" err="1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accessing</a:t>
            </a:r>
            <a:r>
              <a:rPr lang="it-IT" sz="1200" b="1" dirty="0">
                <a:solidFill>
                  <a:schemeClr val="accent1">
                    <a:lumMod val="50000"/>
                  </a:schemeClr>
                </a:solidFill>
                <a:effectLst/>
                <a:latin typeface="Georgia" panose="02040502050405020303" pitchFamily="18" charset="0"/>
              </a:rPr>
              <a:t> the SQL database</a:t>
            </a:r>
          </a:p>
          <a:p>
            <a:pPr>
              <a:lnSpc>
                <a:spcPts val="1425"/>
              </a:lnSpc>
            </a:pPr>
            <a:endParaRPr lang="it-IT" sz="1200" b="1" dirty="0">
              <a:solidFill>
                <a:schemeClr val="accent1">
                  <a:lumMod val="50000"/>
                </a:schemeClr>
              </a:solidFill>
              <a:effectLst/>
              <a:latin typeface="Georgia" panose="02040502050405020303" pitchFamily="18" charset="0"/>
            </a:endParaRP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SERVER_SSMS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DRIVER_SSMS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DATABASE_SSMS =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UID_SSMS = </a:t>
            </a:r>
          </a:p>
          <a:p>
            <a:pPr>
              <a:lnSpc>
                <a:spcPts val="1425"/>
              </a:lnSpc>
            </a:pPr>
            <a:r>
              <a:rPr lang="it-IT" sz="1200" b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PSW_SSMS = </a:t>
            </a:r>
          </a:p>
          <a:p>
            <a:pPr>
              <a:lnSpc>
                <a:spcPts val="1425"/>
              </a:lnSpc>
            </a:pP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br>
              <a:rPr lang="it-IT" sz="1200" b="0" dirty="0">
                <a:solidFill>
                  <a:srgbClr val="CCCCCC"/>
                </a:solidFill>
                <a:effectLst/>
                <a:latin typeface="Georgia" panose="02040502050405020303" pitchFamily="18" charset="0"/>
              </a:rPr>
            </a:br>
            <a:endParaRPr lang="it-IT" sz="1200" b="0" dirty="0">
              <a:solidFill>
                <a:srgbClr val="CCCCCC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1D20445D-A7A8-17FC-6449-9E44ABD40B6B}"/>
              </a:ext>
            </a:extLst>
          </p:cNvPr>
          <p:cNvSpPr txBox="1"/>
          <p:nvPr/>
        </p:nvSpPr>
        <p:spPr>
          <a:xfrm>
            <a:off x="8397365" y="2426280"/>
            <a:ext cx="371120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03030"/>
                </a:solidFill>
                <a:effectLst/>
                <a:latin typeface="Georgia" panose="02040502050405020303" pitchFamily="18" charset="0"/>
              </a:rPr>
              <a:t>Protection and security services personnel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Sellers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03030"/>
                </a:solidFill>
                <a:effectLst/>
                <a:latin typeface="Georgia" panose="02040502050405020303" pitchFamily="18" charset="0"/>
              </a:rPr>
              <a:t>Farmers, livestock keepers, fishermen, hunters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03030"/>
                </a:solidFill>
                <a:effectLst/>
                <a:latin typeface="Georgia" panose="02040502050405020303" pitchFamily="18" charset="0"/>
              </a:rPr>
              <a:t>Workers in food processing, woodworking, clothing and other industries and crafts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303030"/>
                </a:solidFill>
                <a:latin typeface="Georgia" panose="02040502050405020303" pitchFamily="18" charset="0"/>
              </a:rPr>
              <a:t>C</a:t>
            </a:r>
            <a:r>
              <a:rPr lang="it-IT" sz="1600" b="0" i="0" dirty="0">
                <a:solidFill>
                  <a:srgbClr val="303030"/>
                </a:solidFill>
                <a:effectLst/>
                <a:latin typeface="Georgia" panose="02040502050405020303" pitchFamily="18" charset="0"/>
              </a:rPr>
              <a:t>onstruction workers</a:t>
            </a:r>
            <a:endParaRPr lang="en-US" sz="1600" dirty="0">
              <a:latin typeface="Georgia" panose="020405020504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eorgia" panose="02040502050405020303" pitchFamily="18" charset="0"/>
              </a:rPr>
              <a:t>Metallurgy workers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CCF57D0-5D9E-49A4-E90B-F289AA22F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09" y="2474241"/>
            <a:ext cx="576648" cy="245388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Elemento grafico 9" descr="Soldi volanti contorno">
            <a:extLst>
              <a:ext uri="{FF2B5EF4-FFF2-40B4-BE49-F238E27FC236}">
                <a16:creationId xmlns:a16="http://schemas.microsoft.com/office/drawing/2014/main" id="{50FDD5C1-5084-88FA-84CF-C71EBD78CB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41982" y="4788908"/>
            <a:ext cx="576648" cy="576648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82832239-C71F-F653-19A7-0F9754F68217}"/>
              </a:ext>
            </a:extLst>
          </p:cNvPr>
          <p:cNvSpPr txBox="1"/>
          <p:nvPr/>
        </p:nvSpPr>
        <p:spPr>
          <a:xfrm>
            <a:off x="350888" y="1916226"/>
            <a:ext cx="9125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n-US" dirty="0">
                <a:latin typeface="Georgia" panose="02040502050405020303" pitchFamily="18" charset="0"/>
              </a:rPr>
              <a:t>Step: we filter the dataset based of parent’s occupation, and try to create two groups:</a:t>
            </a:r>
          </a:p>
        </p:txBody>
      </p:sp>
      <p:cxnSp>
        <p:nvCxnSpPr>
          <p:cNvPr id="13" name="Straight Arrow Connector 2">
            <a:extLst>
              <a:ext uri="{FF2B5EF4-FFF2-40B4-BE49-F238E27FC236}">
                <a16:creationId xmlns:a16="http://schemas.microsoft.com/office/drawing/2014/main" id="{CFA3D543-1054-84B7-8E39-365394A5FA5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200694" y="5719489"/>
            <a:ext cx="682891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10A85C8C-0CBF-693D-4D4D-B0CC16D045DC}"/>
              </a:ext>
            </a:extLst>
          </p:cNvPr>
          <p:cNvSpPr txBox="1"/>
          <p:nvPr/>
        </p:nvSpPr>
        <p:spPr>
          <a:xfrm>
            <a:off x="1238861" y="5334805"/>
            <a:ext cx="28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often less paid compared to the jobs in qualified families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742301" y="3299508"/>
            <a:ext cx="69167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Qualified Families: </a:t>
            </a:r>
            <a:r>
              <a:rPr lang="en-US" sz="1600" dirty="0">
                <a:latin typeface="Georgia" panose="02040502050405020303" pitchFamily="18" charset="0"/>
              </a:rPr>
              <a:t>includes students whose families have neither parent engaged in a qualified work.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-1006127" y="2802814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High-Qualified Families.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E816D4D-A946-B477-A5CE-3732E016E081}"/>
              </a:ext>
            </a:extLst>
          </p:cNvPr>
          <p:cNvSpPr txBox="1"/>
          <p:nvPr/>
        </p:nvSpPr>
        <p:spPr>
          <a:xfrm>
            <a:off x="4883585" y="5257824"/>
            <a:ext cx="36237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All these jobs share the fact that they do not require a university degree or a master's qualification</a:t>
            </a:r>
          </a:p>
        </p:txBody>
      </p:sp>
      <p:cxnSp>
        <p:nvCxnSpPr>
          <p:cNvPr id="8" name="Connector: Curved 4">
            <a:extLst>
              <a:ext uri="{FF2B5EF4-FFF2-40B4-BE49-F238E27FC236}">
                <a16:creationId xmlns:a16="http://schemas.microsoft.com/office/drawing/2014/main" id="{7EEB4231-E6F6-99B2-BE0F-C0E0AE15675F}"/>
              </a:ext>
            </a:extLst>
          </p:cNvPr>
          <p:cNvCxnSpPr>
            <a:cxnSpLocks/>
          </p:cNvCxnSpPr>
          <p:nvPr/>
        </p:nvCxnSpPr>
        <p:spPr>
          <a:xfrm rot="5400000">
            <a:off x="9124941" y="4700812"/>
            <a:ext cx="505476" cy="1531879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Elemento grafico 19" descr="Cappello di laurea contorno">
            <a:extLst>
              <a:ext uri="{FF2B5EF4-FFF2-40B4-BE49-F238E27FC236}">
                <a16:creationId xmlns:a16="http://schemas.microsoft.com/office/drawing/2014/main" id="{2D1444AB-61C4-2CEA-6DBB-336680E560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9473" y="4664791"/>
            <a:ext cx="783426" cy="783426"/>
          </a:xfrm>
          <a:prstGeom prst="rect">
            <a:avLst/>
          </a:prstGeom>
        </p:spPr>
      </p:pic>
      <p:pic>
        <p:nvPicPr>
          <p:cNvPr id="21" name="Elemento grafico 20" descr="Chiudi con riempimento a tinta unita">
            <a:extLst>
              <a:ext uri="{FF2B5EF4-FFF2-40B4-BE49-F238E27FC236}">
                <a16:creationId xmlns:a16="http://schemas.microsoft.com/office/drawing/2014/main" id="{A1747912-C51F-A71A-01CE-DF96EA233F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60813" y="4786537"/>
            <a:ext cx="499695" cy="499695"/>
          </a:xfrm>
          <a:prstGeom prst="rect">
            <a:avLst/>
          </a:prstGeom>
        </p:spPr>
      </p:pic>
      <p:pic>
        <p:nvPicPr>
          <p:cNvPr id="22" name="Elemento grafico 21" descr="Chiudi con riempimento a tinta unita">
            <a:extLst>
              <a:ext uri="{FF2B5EF4-FFF2-40B4-BE49-F238E27FC236}">
                <a16:creationId xmlns:a16="http://schemas.microsoft.com/office/drawing/2014/main" id="{FE4215C2-9015-12A3-FC59-8DCCCA4969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12184" y="4842945"/>
            <a:ext cx="522611" cy="52261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CE9F2316-B7F9-150A-F6C3-FA06C35FFC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4367" y="6987070"/>
            <a:ext cx="4692891" cy="8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94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1" name="TextBox 1">
            <a:extLst>
              <a:ext uri="{FF2B5EF4-FFF2-40B4-BE49-F238E27FC236}">
                <a16:creationId xmlns:a16="http://schemas.microsoft.com/office/drawing/2014/main" id="{82832239-C71F-F653-19A7-0F9754F68217}"/>
              </a:ext>
            </a:extLst>
          </p:cNvPr>
          <p:cNvSpPr txBox="1"/>
          <p:nvPr/>
        </p:nvSpPr>
        <p:spPr>
          <a:xfrm>
            <a:off x="350888" y="1916226"/>
            <a:ext cx="9125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en-US" dirty="0">
                <a:latin typeface="Georgia" panose="02040502050405020303" pitchFamily="18" charset="0"/>
              </a:rPr>
              <a:t>Step: we filter the dataset based of parent’s occupation, and try to create two groups: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-965796" y="2716276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Qualified Families. 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-644074" y="2346944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b="1" dirty="0">
                <a:latin typeface="Georgia" panose="02040502050405020303" pitchFamily="18" charset="0"/>
              </a:rPr>
              <a:t>High-Qualified Families</a:t>
            </a:r>
            <a:r>
              <a:rPr lang="en-US" sz="1600" b="1" dirty="0">
                <a:latin typeface="Georgia" panose="02040502050405020303" pitchFamily="18" charset="0"/>
              </a:rPr>
              <a:t>.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B00CB0D1-A647-43AC-307B-0A8DD4EBDBD5}"/>
              </a:ext>
            </a:extLst>
          </p:cNvPr>
          <p:cNvSpPr txBox="1"/>
          <p:nvPr/>
        </p:nvSpPr>
        <p:spPr>
          <a:xfrm>
            <a:off x="0" y="3216847"/>
            <a:ext cx="11757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2.   Step: Try to seen if the family background has a positive or negative impact on students’ performance: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80FE78D-5ED6-6CF6-5300-8D80118E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13" y="4163529"/>
            <a:ext cx="9544065" cy="162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124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10A85C8C-0CBF-693D-4D4D-B0CC16D045DC}"/>
              </a:ext>
            </a:extLst>
          </p:cNvPr>
          <p:cNvSpPr txBox="1"/>
          <p:nvPr/>
        </p:nvSpPr>
        <p:spPr>
          <a:xfrm>
            <a:off x="1143000" y="3583707"/>
            <a:ext cx="88031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eorgia" panose="02040502050405020303" pitchFamily="18" charset="0"/>
              </a:rPr>
              <a:t>They have a strong motivation to complete their university education because for them it serves as a critical pathway for social mobility offering the opportunity to improve their economic status and achieve professional success.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BBDB9D5-701D-C096-E1E5-CA77DEABB31A}"/>
              </a:ext>
            </a:extLst>
          </p:cNvPr>
          <p:cNvSpPr txBox="1"/>
          <p:nvPr/>
        </p:nvSpPr>
        <p:spPr>
          <a:xfrm>
            <a:off x="480023" y="2053980"/>
            <a:ext cx="103615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Surprisingly, if we consider only parental occupation, </a:t>
            </a:r>
            <a:r>
              <a:rPr lang="en-US" sz="2000" b="1" dirty="0">
                <a:latin typeface="Georgia" panose="02040502050405020303" pitchFamily="18" charset="0"/>
              </a:rPr>
              <a:t>students from Qualified families outperform those from High-Qualified families</a:t>
            </a:r>
            <a:r>
              <a:rPr lang="en-US" sz="2000" dirty="0">
                <a:latin typeface="Georgia" panose="02040502050405020303" pitchFamily="18" charset="0"/>
              </a:rPr>
              <a:t>, based on parental occupation groups.</a:t>
            </a:r>
          </a:p>
        </p:txBody>
      </p:sp>
      <p:pic>
        <p:nvPicPr>
          <p:cNvPr id="8" name="Elemento grafico 7" descr="Scala mobile in salita contorno">
            <a:extLst>
              <a:ext uri="{FF2B5EF4-FFF2-40B4-BE49-F238E27FC236}">
                <a16:creationId xmlns:a16="http://schemas.microsoft.com/office/drawing/2014/main" id="{62D2E697-58F4-0CE5-F2B5-BC3C27750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9651" y="3583707"/>
            <a:ext cx="1566797" cy="1566797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9E37EE1E-58A8-3A8C-2CE0-DFA7AF2C50C0}"/>
              </a:ext>
            </a:extLst>
          </p:cNvPr>
          <p:cNvSpPr txBox="1"/>
          <p:nvPr/>
        </p:nvSpPr>
        <p:spPr>
          <a:xfrm>
            <a:off x="11585132" y="3387188"/>
            <a:ext cx="11059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But what is happening if we also consider the other financial variables ?</a:t>
            </a:r>
          </a:p>
        </p:txBody>
      </p:sp>
    </p:spTree>
    <p:extLst>
      <p:ext uri="{BB962C8B-B14F-4D97-AF65-F5344CB8AC3E}">
        <p14:creationId xmlns:p14="http://schemas.microsoft.com/office/powerpoint/2010/main" val="1384751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4" name="TextBox 1">
            <a:extLst>
              <a:ext uri="{FF2B5EF4-FFF2-40B4-BE49-F238E27FC236}">
                <a16:creationId xmlns:a16="http://schemas.microsoft.com/office/drawing/2014/main" id="{B00CB0D1-A647-43AC-307B-0A8DD4EBDBD5}"/>
              </a:ext>
            </a:extLst>
          </p:cNvPr>
          <p:cNvSpPr txBox="1"/>
          <p:nvPr/>
        </p:nvSpPr>
        <p:spPr>
          <a:xfrm>
            <a:off x="140143" y="1804468"/>
            <a:ext cx="11757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2.   Step: We found that </a:t>
            </a:r>
            <a:r>
              <a:rPr lang="en-US" b="1" dirty="0">
                <a:latin typeface="Georgia" panose="02040502050405020303" pitchFamily="18" charset="0"/>
              </a:rPr>
              <a:t>parental occupation do not negatively impact the academic performance of students from unqualified families.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BBDB9D5-701D-C096-E1E5-CA77DEABB31A}"/>
              </a:ext>
            </a:extLst>
          </p:cNvPr>
          <p:cNvSpPr txBox="1"/>
          <p:nvPr/>
        </p:nvSpPr>
        <p:spPr>
          <a:xfrm>
            <a:off x="838200" y="3029796"/>
            <a:ext cx="10361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But what is happening if we also consider the other financial variables ?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069BB62-1B7E-DFA5-A98A-9B3D99DE0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3760" y="4539444"/>
            <a:ext cx="495922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Debt</a:t>
            </a: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2400" b="1" dirty="0" err="1">
                <a:latin typeface="Georgia" panose="02040502050405020303" pitchFamily="18" charset="0"/>
              </a:rPr>
              <a:t>Scholarship</a:t>
            </a:r>
            <a:r>
              <a:rPr lang="it-IT" altLang="it-IT" sz="2400" b="1" dirty="0">
                <a:latin typeface="Georgia" panose="02040502050405020303" pitchFamily="18" charset="0"/>
              </a:rPr>
              <a:t> holder</a:t>
            </a:r>
            <a:endParaRPr kumimoji="0" lang="it-IT" altLang="it-I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3" name="Elemento grafico 2" descr="Prestito contorno">
            <a:extLst>
              <a:ext uri="{FF2B5EF4-FFF2-40B4-BE49-F238E27FC236}">
                <a16:creationId xmlns:a16="http://schemas.microsoft.com/office/drawing/2014/main" id="{ACA20E4A-DE39-0580-00CB-9D3D87C73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14030" y="4257328"/>
            <a:ext cx="882280" cy="882280"/>
          </a:xfrm>
          <a:prstGeom prst="rect">
            <a:avLst/>
          </a:prstGeom>
        </p:spPr>
      </p:pic>
      <p:pic>
        <p:nvPicPr>
          <p:cNvPr id="6" name="Elemento grafico 5" descr="Valigetta contorno">
            <a:extLst>
              <a:ext uri="{FF2B5EF4-FFF2-40B4-BE49-F238E27FC236}">
                <a16:creationId xmlns:a16="http://schemas.microsoft.com/office/drawing/2014/main" id="{5D953532-3C53-4F07-3B82-6E2D744A46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117168" y="5139608"/>
            <a:ext cx="772769" cy="772769"/>
          </a:xfrm>
          <a:prstGeom prst="rect">
            <a:avLst/>
          </a:prstGeom>
        </p:spPr>
      </p:pic>
      <p:pic>
        <p:nvPicPr>
          <p:cNvPr id="7" name="Elemento grafico 6" descr="Banca contorno">
            <a:extLst>
              <a:ext uri="{FF2B5EF4-FFF2-40B4-BE49-F238E27FC236}">
                <a16:creationId xmlns:a16="http://schemas.microsoft.com/office/drawing/2014/main" id="{5E0C81DD-A133-57C6-F09D-65DE125721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65247" y="42252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302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6A008C5-ADD5-6DC0-7A63-A3D839E71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574" y="4282771"/>
            <a:ext cx="495922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Debt</a:t>
            </a:r>
            <a:r>
              <a:rPr kumimoji="0" lang="it-IT" altLang="it-IT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altLang="it-IT" sz="2400" b="1" dirty="0" err="1">
                <a:latin typeface="Georgia" panose="02040502050405020303" pitchFamily="18" charset="0"/>
              </a:rPr>
              <a:t>Scholarship</a:t>
            </a:r>
            <a:r>
              <a:rPr lang="it-IT" altLang="it-IT" sz="2400" b="1" dirty="0">
                <a:latin typeface="Georgia" panose="02040502050405020303" pitchFamily="18" charset="0"/>
              </a:rPr>
              <a:t> holder</a:t>
            </a:r>
            <a:endParaRPr kumimoji="0" lang="it-IT" altLang="it-IT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4" name="TextBox 1">
            <a:extLst>
              <a:ext uri="{FF2B5EF4-FFF2-40B4-BE49-F238E27FC236}">
                <a16:creationId xmlns:a16="http://schemas.microsoft.com/office/drawing/2014/main" id="{B00CB0D1-A647-43AC-307B-0A8DD4EBDBD5}"/>
              </a:ext>
            </a:extLst>
          </p:cNvPr>
          <p:cNvSpPr txBox="1"/>
          <p:nvPr/>
        </p:nvSpPr>
        <p:spPr>
          <a:xfrm>
            <a:off x="140143" y="1804468"/>
            <a:ext cx="11757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2.   Step: We found that </a:t>
            </a:r>
            <a:r>
              <a:rPr lang="en-US" b="1" dirty="0">
                <a:latin typeface="Georgia" panose="02040502050405020303" pitchFamily="18" charset="0"/>
              </a:rPr>
              <a:t>parental occupation do not negatively impact the academic performance of students from unqualified families.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BBDB9D5-701D-C096-E1E5-CA77DEABB31A}"/>
              </a:ext>
            </a:extLst>
          </p:cNvPr>
          <p:cNvSpPr txBox="1"/>
          <p:nvPr/>
        </p:nvSpPr>
        <p:spPr>
          <a:xfrm>
            <a:off x="404842" y="3029796"/>
            <a:ext cx="11059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But what is happening if we also consider the other financial variables ?</a:t>
            </a:r>
          </a:p>
        </p:txBody>
      </p:sp>
      <p:pic>
        <p:nvPicPr>
          <p:cNvPr id="8" name="Elemento grafico 7" descr="Scala mobile in salita contorno">
            <a:extLst>
              <a:ext uri="{FF2B5EF4-FFF2-40B4-BE49-F238E27FC236}">
                <a16:creationId xmlns:a16="http://schemas.microsoft.com/office/drawing/2014/main" id="{62D2E697-58F4-0CE5-F2B5-BC3C27750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89554" y="0"/>
            <a:ext cx="1193818" cy="1193818"/>
          </a:xfrm>
          <a:prstGeom prst="rect">
            <a:avLst/>
          </a:prstGeom>
        </p:spPr>
      </p:pic>
      <p:pic>
        <p:nvPicPr>
          <p:cNvPr id="6" name="Elemento grafico 5" descr="Prestito contorno">
            <a:extLst>
              <a:ext uri="{FF2B5EF4-FFF2-40B4-BE49-F238E27FC236}">
                <a16:creationId xmlns:a16="http://schemas.microsoft.com/office/drawing/2014/main" id="{B28DC473-2B28-ED70-28C4-18819BE813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07967" y="4034563"/>
            <a:ext cx="882280" cy="882280"/>
          </a:xfrm>
          <a:prstGeom prst="rect">
            <a:avLst/>
          </a:prstGeom>
        </p:spPr>
      </p:pic>
      <p:pic>
        <p:nvPicPr>
          <p:cNvPr id="7" name="Elemento grafico 6" descr="Valigetta contorno">
            <a:extLst>
              <a:ext uri="{FF2B5EF4-FFF2-40B4-BE49-F238E27FC236}">
                <a16:creationId xmlns:a16="http://schemas.microsoft.com/office/drawing/2014/main" id="{AC7BE9D7-BE63-24C6-910C-C932879984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7147" y="4873494"/>
            <a:ext cx="772769" cy="772769"/>
          </a:xfrm>
          <a:prstGeom prst="rect">
            <a:avLst/>
          </a:prstGeom>
        </p:spPr>
      </p:pic>
      <p:pic>
        <p:nvPicPr>
          <p:cNvPr id="10" name="Elemento grafico 9" descr="Banca contorno">
            <a:extLst>
              <a:ext uri="{FF2B5EF4-FFF2-40B4-BE49-F238E27FC236}">
                <a16:creationId xmlns:a16="http://schemas.microsoft.com/office/drawing/2014/main" id="{6D6B54BB-93C0-7C34-ACDF-899B990390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1497" y="40185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3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37C336B1-1606-336A-C647-AA865C437392}"/>
              </a:ext>
            </a:extLst>
          </p:cNvPr>
          <p:cNvSpPr txBox="1"/>
          <p:nvPr/>
        </p:nvSpPr>
        <p:spPr>
          <a:xfrm>
            <a:off x="-681675" y="1680033"/>
            <a:ext cx="1175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3.   Step: further filter the dataset considering the variables </a:t>
            </a:r>
            <a:r>
              <a:rPr lang="en-US" b="1" dirty="0">
                <a:latin typeface="Georgia" panose="02040502050405020303" pitchFamily="18" charset="0"/>
              </a:rPr>
              <a:t>Debtor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Scholarship holder.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7DD87C6C-D72C-47F1-A948-3D6DFB100F48}"/>
              </a:ext>
            </a:extLst>
          </p:cNvPr>
          <p:cNvSpPr txBox="1"/>
          <p:nvPr/>
        </p:nvSpPr>
        <p:spPr>
          <a:xfrm>
            <a:off x="11895062" y="3051725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Unqualified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43976B0F-4CD5-B8BE-F7BF-2606FF1F154F}"/>
              </a:ext>
            </a:extLst>
          </p:cNvPr>
          <p:cNvSpPr txBox="1"/>
          <p:nvPr/>
        </p:nvSpPr>
        <p:spPr>
          <a:xfrm>
            <a:off x="14040280" y="4835293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scholarship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2AA34113-E871-F960-0E2C-F9E895866768}"/>
              </a:ext>
            </a:extLst>
          </p:cNvPr>
          <p:cNvSpPr txBox="1"/>
          <p:nvPr/>
        </p:nvSpPr>
        <p:spPr>
          <a:xfrm>
            <a:off x="13398078" y="3879801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b="1" dirty="0">
                <a:latin typeface="Georgia" panose="02040502050405020303" pitchFamily="18" charset="0"/>
              </a:rPr>
              <a:t>Debt</a:t>
            </a: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F19B1D32-A305-76EC-A7EB-B4C4B6B48076}"/>
              </a:ext>
            </a:extLst>
          </p:cNvPr>
          <p:cNvSpPr txBox="1"/>
          <p:nvPr/>
        </p:nvSpPr>
        <p:spPr>
          <a:xfrm>
            <a:off x="1500128" y="8340271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Debt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79D391A-5E51-F50E-6E31-27E0D8BE8020}"/>
              </a:ext>
            </a:extLst>
          </p:cNvPr>
          <p:cNvSpPr txBox="1"/>
          <p:nvPr/>
        </p:nvSpPr>
        <p:spPr>
          <a:xfrm>
            <a:off x="12720958" y="1777342"/>
            <a:ext cx="377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Non-Wealthy Families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352146" y="2298428"/>
            <a:ext cx="386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Wealthy Families</a:t>
            </a:r>
          </a:p>
        </p:txBody>
      </p:sp>
      <p:pic>
        <p:nvPicPr>
          <p:cNvPr id="34" name="Elemento grafico 33" descr="Valigetta contorno">
            <a:extLst>
              <a:ext uri="{FF2B5EF4-FFF2-40B4-BE49-F238E27FC236}">
                <a16:creationId xmlns:a16="http://schemas.microsoft.com/office/drawing/2014/main" id="{5A96A7B5-7FD9-95BF-902F-F14C1D9BF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80477" y="4686105"/>
            <a:ext cx="613893" cy="613893"/>
          </a:xfrm>
          <a:prstGeom prst="rect">
            <a:avLst/>
          </a:prstGeom>
        </p:spPr>
      </p:pic>
      <p:pic>
        <p:nvPicPr>
          <p:cNvPr id="37" name="Elemento grafico 36" descr="Chiudi con riempimento a tinta unita">
            <a:extLst>
              <a:ext uri="{FF2B5EF4-FFF2-40B4-BE49-F238E27FC236}">
                <a16:creationId xmlns:a16="http://schemas.microsoft.com/office/drawing/2014/main" id="{DF81B4E7-0C95-8243-804C-A8A5BF19F7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18545" y="8251393"/>
            <a:ext cx="454208" cy="454208"/>
          </a:xfrm>
          <a:prstGeom prst="rect">
            <a:avLst/>
          </a:prstGeom>
        </p:spPr>
      </p:pic>
      <p:pic>
        <p:nvPicPr>
          <p:cNvPr id="38" name="Elemento grafico 37" descr="Chiudi con riempimento a tinta unita">
            <a:extLst>
              <a:ext uri="{FF2B5EF4-FFF2-40B4-BE49-F238E27FC236}">
                <a16:creationId xmlns:a16="http://schemas.microsoft.com/office/drawing/2014/main" id="{5F9FC42D-6BCD-17AB-218C-597629F9FC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360751" y="4835293"/>
            <a:ext cx="430584" cy="430584"/>
          </a:xfrm>
          <a:prstGeom prst="rect">
            <a:avLst/>
          </a:prstGeom>
        </p:spPr>
      </p:pic>
      <p:pic>
        <p:nvPicPr>
          <p:cNvPr id="39" name="Elemento grafico 38" descr="Prestito contorno">
            <a:extLst>
              <a:ext uri="{FF2B5EF4-FFF2-40B4-BE49-F238E27FC236}">
                <a16:creationId xmlns:a16="http://schemas.microsoft.com/office/drawing/2014/main" id="{3FC13FAF-6510-0864-7574-122F65B2E7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1348" y="8155800"/>
            <a:ext cx="645394" cy="645394"/>
          </a:xfrm>
          <a:prstGeom prst="rect">
            <a:avLst/>
          </a:prstGeom>
        </p:spPr>
      </p:pic>
      <p:pic>
        <p:nvPicPr>
          <p:cNvPr id="49" name="Elemento grafico 48" descr="Lavoratore edile contorno">
            <a:extLst>
              <a:ext uri="{FF2B5EF4-FFF2-40B4-BE49-F238E27FC236}">
                <a16:creationId xmlns:a16="http://schemas.microsoft.com/office/drawing/2014/main" id="{4D6F1849-7706-60AA-2D32-3E672EE7FD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499782" y="2789281"/>
            <a:ext cx="803716" cy="803716"/>
          </a:xfrm>
          <a:prstGeom prst="rect">
            <a:avLst/>
          </a:prstGeom>
        </p:spPr>
      </p:pic>
      <p:pic>
        <p:nvPicPr>
          <p:cNvPr id="52" name="Elemento grafico 51" descr="Impiegato contorno">
            <a:extLst>
              <a:ext uri="{FF2B5EF4-FFF2-40B4-BE49-F238E27FC236}">
                <a16:creationId xmlns:a16="http://schemas.microsoft.com/office/drawing/2014/main" id="{67E651A4-F3FF-B94D-6F8D-FC0C4681D6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72753" y="7170830"/>
            <a:ext cx="709258" cy="709258"/>
          </a:xfrm>
          <a:prstGeom prst="rect">
            <a:avLst/>
          </a:prstGeom>
        </p:spPr>
      </p:pic>
      <p:cxnSp>
        <p:nvCxnSpPr>
          <p:cNvPr id="53" name="Straight Connector 12">
            <a:extLst>
              <a:ext uri="{FF2B5EF4-FFF2-40B4-BE49-F238E27FC236}">
                <a16:creationId xmlns:a16="http://schemas.microsoft.com/office/drawing/2014/main" id="{9880328D-0904-71BC-E033-BBFBE028ECD9}"/>
              </a:ext>
            </a:extLst>
          </p:cNvPr>
          <p:cNvCxnSpPr>
            <a:cxnSpLocks/>
          </p:cNvCxnSpPr>
          <p:nvPr/>
        </p:nvCxnSpPr>
        <p:spPr>
          <a:xfrm>
            <a:off x="1150529" y="6916773"/>
            <a:ext cx="0" cy="735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0F38A192-F785-417B-7714-54452C52BB4D}"/>
              </a:ext>
            </a:extLst>
          </p:cNvPr>
          <p:cNvCxnSpPr>
            <a:cxnSpLocks/>
          </p:cNvCxnSpPr>
          <p:nvPr/>
        </p:nvCxnSpPr>
        <p:spPr>
          <a:xfrm>
            <a:off x="1150529" y="7771274"/>
            <a:ext cx="0" cy="769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4">
            <a:extLst>
              <a:ext uri="{FF2B5EF4-FFF2-40B4-BE49-F238E27FC236}">
                <a16:creationId xmlns:a16="http://schemas.microsoft.com/office/drawing/2014/main" id="{ECFB06F3-7E06-B4FA-EE0B-F98BCBAB9310}"/>
              </a:ext>
            </a:extLst>
          </p:cNvPr>
          <p:cNvCxnSpPr>
            <a:cxnSpLocks/>
          </p:cNvCxnSpPr>
          <p:nvPr/>
        </p:nvCxnSpPr>
        <p:spPr>
          <a:xfrm>
            <a:off x="1171426" y="7652623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4">
            <a:extLst>
              <a:ext uri="{FF2B5EF4-FFF2-40B4-BE49-F238E27FC236}">
                <a16:creationId xmlns:a16="http://schemas.microsoft.com/office/drawing/2014/main" id="{41911487-4982-510A-1F46-901A3AFFBD44}"/>
              </a:ext>
            </a:extLst>
          </p:cNvPr>
          <p:cNvCxnSpPr>
            <a:cxnSpLocks/>
          </p:cNvCxnSpPr>
          <p:nvPr/>
        </p:nvCxnSpPr>
        <p:spPr>
          <a:xfrm>
            <a:off x="1130640" y="8540326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5">
            <a:extLst>
              <a:ext uri="{FF2B5EF4-FFF2-40B4-BE49-F238E27FC236}">
                <a16:creationId xmlns:a16="http://schemas.microsoft.com/office/drawing/2014/main" id="{0315A060-27D7-65EC-ADBC-D5BC10D15D46}"/>
              </a:ext>
            </a:extLst>
          </p:cNvPr>
          <p:cNvCxnSpPr>
            <a:cxnSpLocks/>
          </p:cNvCxnSpPr>
          <p:nvPr/>
        </p:nvCxnSpPr>
        <p:spPr>
          <a:xfrm>
            <a:off x="12389893" y="2091646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24">
            <a:extLst>
              <a:ext uri="{FF2B5EF4-FFF2-40B4-BE49-F238E27FC236}">
                <a16:creationId xmlns:a16="http://schemas.microsoft.com/office/drawing/2014/main" id="{277496D8-BEB7-061D-C2E0-C2BD34B2D93A}"/>
              </a:ext>
            </a:extLst>
          </p:cNvPr>
          <p:cNvCxnSpPr>
            <a:cxnSpLocks/>
          </p:cNvCxnSpPr>
          <p:nvPr/>
        </p:nvCxnSpPr>
        <p:spPr>
          <a:xfrm>
            <a:off x="12905838" y="3248902"/>
            <a:ext cx="1193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24">
            <a:extLst>
              <a:ext uri="{FF2B5EF4-FFF2-40B4-BE49-F238E27FC236}">
                <a16:creationId xmlns:a16="http://schemas.microsoft.com/office/drawing/2014/main" id="{439E9352-4D9E-3E69-30EF-6BF2AE207D0C}"/>
              </a:ext>
            </a:extLst>
          </p:cNvPr>
          <p:cNvCxnSpPr>
            <a:cxnSpLocks/>
          </p:cNvCxnSpPr>
          <p:nvPr/>
        </p:nvCxnSpPr>
        <p:spPr>
          <a:xfrm>
            <a:off x="12905838" y="4134805"/>
            <a:ext cx="12439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12">
            <a:extLst>
              <a:ext uri="{FF2B5EF4-FFF2-40B4-BE49-F238E27FC236}">
                <a16:creationId xmlns:a16="http://schemas.microsoft.com/office/drawing/2014/main" id="{7241844A-B968-B508-843A-C420069631B0}"/>
              </a:ext>
            </a:extLst>
          </p:cNvPr>
          <p:cNvCxnSpPr>
            <a:cxnSpLocks/>
          </p:cNvCxnSpPr>
          <p:nvPr/>
        </p:nvCxnSpPr>
        <p:spPr>
          <a:xfrm>
            <a:off x="12905838" y="2466097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12">
            <a:extLst>
              <a:ext uri="{FF2B5EF4-FFF2-40B4-BE49-F238E27FC236}">
                <a16:creationId xmlns:a16="http://schemas.microsoft.com/office/drawing/2014/main" id="{9BF18DA5-F01E-B42D-DEE5-3F8658DF1CEA}"/>
              </a:ext>
            </a:extLst>
          </p:cNvPr>
          <p:cNvCxnSpPr>
            <a:cxnSpLocks/>
          </p:cNvCxnSpPr>
          <p:nvPr/>
        </p:nvCxnSpPr>
        <p:spPr>
          <a:xfrm>
            <a:off x="12905838" y="3352000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24">
            <a:extLst>
              <a:ext uri="{FF2B5EF4-FFF2-40B4-BE49-F238E27FC236}">
                <a16:creationId xmlns:a16="http://schemas.microsoft.com/office/drawing/2014/main" id="{DFA4D001-EC15-902D-D247-318404C2B61D}"/>
              </a:ext>
            </a:extLst>
          </p:cNvPr>
          <p:cNvCxnSpPr>
            <a:cxnSpLocks/>
          </p:cNvCxnSpPr>
          <p:nvPr/>
        </p:nvCxnSpPr>
        <p:spPr>
          <a:xfrm>
            <a:off x="12880861" y="5087954"/>
            <a:ext cx="12439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12">
            <a:extLst>
              <a:ext uri="{FF2B5EF4-FFF2-40B4-BE49-F238E27FC236}">
                <a16:creationId xmlns:a16="http://schemas.microsoft.com/office/drawing/2014/main" id="{11B7AAA5-ACC9-6A70-90CA-C4252F981FFC}"/>
              </a:ext>
            </a:extLst>
          </p:cNvPr>
          <p:cNvCxnSpPr>
            <a:cxnSpLocks/>
          </p:cNvCxnSpPr>
          <p:nvPr/>
        </p:nvCxnSpPr>
        <p:spPr>
          <a:xfrm>
            <a:off x="12905838" y="4306960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Elemento grafico 74" descr="Prestito contorno">
            <a:extLst>
              <a:ext uri="{FF2B5EF4-FFF2-40B4-BE49-F238E27FC236}">
                <a16:creationId xmlns:a16="http://schemas.microsoft.com/office/drawing/2014/main" id="{920CE0DF-B1C3-62F9-965A-6AF85195BD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353455" y="3676206"/>
            <a:ext cx="645394" cy="645394"/>
          </a:xfrm>
          <a:prstGeom prst="rect">
            <a:avLst/>
          </a:prstGeom>
        </p:spPr>
      </p:pic>
      <p:pic>
        <p:nvPicPr>
          <p:cNvPr id="76" name="Elemento grafico 75" descr="Segno di spunta con riempimento a tinta unita">
            <a:extLst>
              <a:ext uri="{FF2B5EF4-FFF2-40B4-BE49-F238E27FC236}">
                <a16:creationId xmlns:a16="http://schemas.microsoft.com/office/drawing/2014/main" id="{CF8BE0EF-F614-9352-324B-8C8FC3D41C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089502" y="3790116"/>
            <a:ext cx="434709" cy="434709"/>
          </a:xfrm>
          <a:prstGeom prst="rect">
            <a:avLst/>
          </a:prstGeom>
        </p:spPr>
      </p:pic>
      <p:sp>
        <p:nvSpPr>
          <p:cNvPr id="77" name="TextBox 1">
            <a:extLst>
              <a:ext uri="{FF2B5EF4-FFF2-40B4-BE49-F238E27FC236}">
                <a16:creationId xmlns:a16="http://schemas.microsoft.com/office/drawing/2014/main" id="{40D12966-9EB8-401D-D0FD-6C3AFC5EC91A}"/>
              </a:ext>
            </a:extLst>
          </p:cNvPr>
          <p:cNvSpPr txBox="1"/>
          <p:nvPr/>
        </p:nvSpPr>
        <p:spPr>
          <a:xfrm>
            <a:off x="12954" y="7452214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High-qualified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43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8" name="Elemento grafico 7" descr="Scala mobile in salita contorno">
            <a:extLst>
              <a:ext uri="{FF2B5EF4-FFF2-40B4-BE49-F238E27FC236}">
                <a16:creationId xmlns:a16="http://schemas.microsoft.com/office/drawing/2014/main" id="{62D2E697-58F4-0CE5-F2B5-BC3C27750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89554" y="0"/>
            <a:ext cx="1193818" cy="1193818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37C336B1-1606-336A-C647-AA865C437392}"/>
              </a:ext>
            </a:extLst>
          </p:cNvPr>
          <p:cNvSpPr txBox="1"/>
          <p:nvPr/>
        </p:nvSpPr>
        <p:spPr>
          <a:xfrm>
            <a:off x="-681675" y="1680033"/>
            <a:ext cx="1175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3.   Step: further filter the dataset considering the variables </a:t>
            </a:r>
            <a:r>
              <a:rPr lang="en-US" b="1" dirty="0">
                <a:latin typeface="Georgia" panose="02040502050405020303" pitchFamily="18" charset="0"/>
              </a:rPr>
              <a:t>Debtor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Scholarship holder.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9837081-8DEA-00EF-6EA9-C8315EBDB110}"/>
              </a:ext>
            </a:extLst>
          </p:cNvPr>
          <p:cNvSpPr txBox="1"/>
          <p:nvPr/>
        </p:nvSpPr>
        <p:spPr>
          <a:xfrm>
            <a:off x="0" y="3391431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High-qualified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F19B1D32-A305-76EC-A7EB-B4C4B6B48076}"/>
              </a:ext>
            </a:extLst>
          </p:cNvPr>
          <p:cNvSpPr txBox="1"/>
          <p:nvPr/>
        </p:nvSpPr>
        <p:spPr>
          <a:xfrm>
            <a:off x="1777179" y="7769641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Debt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79D391A-5E51-F50E-6E31-27E0D8BE8020}"/>
              </a:ext>
            </a:extLst>
          </p:cNvPr>
          <p:cNvSpPr txBox="1"/>
          <p:nvPr/>
        </p:nvSpPr>
        <p:spPr>
          <a:xfrm>
            <a:off x="13297137" y="2298427"/>
            <a:ext cx="377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Non-Wealthy Families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352146" y="2298428"/>
            <a:ext cx="386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Wealthy Families</a:t>
            </a:r>
          </a:p>
        </p:txBody>
      </p:sp>
      <p:pic>
        <p:nvPicPr>
          <p:cNvPr id="34" name="Elemento grafico 33" descr="Valigetta contorno">
            <a:extLst>
              <a:ext uri="{FF2B5EF4-FFF2-40B4-BE49-F238E27FC236}">
                <a16:creationId xmlns:a16="http://schemas.microsoft.com/office/drawing/2014/main" id="{5A96A7B5-7FD9-95BF-902F-F14C1D9BF0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06629" y="4198915"/>
            <a:ext cx="613893" cy="613893"/>
          </a:xfrm>
          <a:prstGeom prst="rect">
            <a:avLst/>
          </a:prstGeom>
        </p:spPr>
      </p:pic>
      <p:pic>
        <p:nvPicPr>
          <p:cNvPr id="37" name="Elemento grafico 36" descr="Chiudi con riempimento a tinta unita">
            <a:extLst>
              <a:ext uri="{FF2B5EF4-FFF2-40B4-BE49-F238E27FC236}">
                <a16:creationId xmlns:a16="http://schemas.microsoft.com/office/drawing/2014/main" id="{DF81B4E7-0C95-8243-804C-A8A5BF19F7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4068" y="7715669"/>
            <a:ext cx="454208" cy="454208"/>
          </a:xfrm>
          <a:prstGeom prst="rect">
            <a:avLst/>
          </a:prstGeom>
        </p:spPr>
      </p:pic>
      <p:pic>
        <p:nvPicPr>
          <p:cNvPr id="38" name="Elemento grafico 37" descr="Chiudi con riempimento a tinta unita">
            <a:extLst>
              <a:ext uri="{FF2B5EF4-FFF2-40B4-BE49-F238E27FC236}">
                <a16:creationId xmlns:a16="http://schemas.microsoft.com/office/drawing/2014/main" id="{5F9FC42D-6BCD-17AB-218C-597629F9FC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813576" y="3558729"/>
            <a:ext cx="430584" cy="430584"/>
          </a:xfrm>
          <a:prstGeom prst="rect">
            <a:avLst/>
          </a:prstGeom>
        </p:spPr>
      </p:pic>
      <p:pic>
        <p:nvPicPr>
          <p:cNvPr id="39" name="Elemento grafico 38" descr="Prestito contorno">
            <a:extLst>
              <a:ext uri="{FF2B5EF4-FFF2-40B4-BE49-F238E27FC236}">
                <a16:creationId xmlns:a16="http://schemas.microsoft.com/office/drawing/2014/main" id="{3FC13FAF-6510-0864-7574-122F65B2E7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48674" y="7585514"/>
            <a:ext cx="645394" cy="645394"/>
          </a:xfrm>
          <a:prstGeom prst="rect">
            <a:avLst/>
          </a:prstGeom>
        </p:spPr>
      </p:pic>
      <p:pic>
        <p:nvPicPr>
          <p:cNvPr id="49" name="Elemento grafico 48" descr="Lavoratore edile contorno">
            <a:extLst>
              <a:ext uri="{FF2B5EF4-FFF2-40B4-BE49-F238E27FC236}">
                <a16:creationId xmlns:a16="http://schemas.microsoft.com/office/drawing/2014/main" id="{4D6F1849-7706-60AA-2D32-3E672EE7FD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186549" y="3372163"/>
            <a:ext cx="803716" cy="803716"/>
          </a:xfrm>
          <a:prstGeom prst="rect">
            <a:avLst/>
          </a:prstGeom>
        </p:spPr>
      </p:pic>
      <p:pic>
        <p:nvPicPr>
          <p:cNvPr id="52" name="Elemento grafico 51" descr="Impiegato contorno">
            <a:extLst>
              <a:ext uri="{FF2B5EF4-FFF2-40B4-BE49-F238E27FC236}">
                <a16:creationId xmlns:a16="http://schemas.microsoft.com/office/drawing/2014/main" id="{67E651A4-F3FF-B94D-6F8D-FC0C4681D68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4068" y="3127849"/>
            <a:ext cx="709258" cy="709258"/>
          </a:xfrm>
          <a:prstGeom prst="rect">
            <a:avLst/>
          </a:prstGeom>
        </p:spPr>
      </p:pic>
      <p:cxnSp>
        <p:nvCxnSpPr>
          <p:cNvPr id="53" name="Straight Connector 12">
            <a:extLst>
              <a:ext uri="{FF2B5EF4-FFF2-40B4-BE49-F238E27FC236}">
                <a16:creationId xmlns:a16="http://schemas.microsoft.com/office/drawing/2014/main" id="{9880328D-0904-71BC-E033-BBFBE028ECD9}"/>
              </a:ext>
            </a:extLst>
          </p:cNvPr>
          <p:cNvCxnSpPr>
            <a:cxnSpLocks/>
          </p:cNvCxnSpPr>
          <p:nvPr/>
        </p:nvCxnSpPr>
        <p:spPr>
          <a:xfrm>
            <a:off x="1142836" y="2857500"/>
            <a:ext cx="0" cy="735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0F38A192-F785-417B-7714-54452C52BB4D}"/>
              </a:ext>
            </a:extLst>
          </p:cNvPr>
          <p:cNvCxnSpPr>
            <a:cxnSpLocks/>
          </p:cNvCxnSpPr>
          <p:nvPr/>
        </p:nvCxnSpPr>
        <p:spPr>
          <a:xfrm>
            <a:off x="1351384" y="7173721"/>
            <a:ext cx="0" cy="769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4">
            <a:extLst>
              <a:ext uri="{FF2B5EF4-FFF2-40B4-BE49-F238E27FC236}">
                <a16:creationId xmlns:a16="http://schemas.microsoft.com/office/drawing/2014/main" id="{ECFB06F3-7E06-B4FA-EE0B-F98BCBAB9310}"/>
              </a:ext>
            </a:extLst>
          </p:cNvPr>
          <p:cNvCxnSpPr>
            <a:cxnSpLocks/>
          </p:cNvCxnSpPr>
          <p:nvPr/>
        </p:nvCxnSpPr>
        <p:spPr>
          <a:xfrm>
            <a:off x="1142836" y="35933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4">
            <a:extLst>
              <a:ext uri="{FF2B5EF4-FFF2-40B4-BE49-F238E27FC236}">
                <a16:creationId xmlns:a16="http://schemas.microsoft.com/office/drawing/2014/main" id="{41911487-4982-510A-1F46-901A3AFFBD44}"/>
              </a:ext>
            </a:extLst>
          </p:cNvPr>
          <p:cNvCxnSpPr>
            <a:cxnSpLocks/>
          </p:cNvCxnSpPr>
          <p:nvPr/>
        </p:nvCxnSpPr>
        <p:spPr>
          <a:xfrm>
            <a:off x="1351384" y="7942773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Elemento grafico 74" descr="Prestito contorno">
            <a:extLst>
              <a:ext uri="{FF2B5EF4-FFF2-40B4-BE49-F238E27FC236}">
                <a16:creationId xmlns:a16="http://schemas.microsoft.com/office/drawing/2014/main" id="{920CE0DF-B1C3-62F9-965A-6AF85195BD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362539" y="4327101"/>
            <a:ext cx="645394" cy="645394"/>
          </a:xfrm>
          <a:prstGeom prst="rect">
            <a:avLst/>
          </a:prstGeom>
        </p:spPr>
      </p:pic>
      <p:pic>
        <p:nvPicPr>
          <p:cNvPr id="76" name="Elemento grafico 75" descr="Segno di spunta con riempimento a tinta unita">
            <a:extLst>
              <a:ext uri="{FF2B5EF4-FFF2-40B4-BE49-F238E27FC236}">
                <a16:creationId xmlns:a16="http://schemas.microsoft.com/office/drawing/2014/main" id="{CF8BE0EF-F614-9352-324B-8C8FC3D41CB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129697" y="4346299"/>
            <a:ext cx="434709" cy="43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18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37C336B1-1606-336A-C647-AA865C437392}"/>
              </a:ext>
            </a:extLst>
          </p:cNvPr>
          <p:cNvSpPr txBox="1"/>
          <p:nvPr/>
        </p:nvSpPr>
        <p:spPr>
          <a:xfrm>
            <a:off x="-681675" y="1680033"/>
            <a:ext cx="1175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3.   Step: further filter the dataset considering the variables </a:t>
            </a:r>
            <a:r>
              <a:rPr lang="en-US" b="1" dirty="0">
                <a:latin typeface="Georgia" panose="02040502050405020303" pitchFamily="18" charset="0"/>
              </a:rPr>
              <a:t>Debtor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Scholarship holder.</a:t>
            </a: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F19B1D32-A305-76EC-A7EB-B4C4B6B48076}"/>
              </a:ext>
            </a:extLst>
          </p:cNvPr>
          <p:cNvSpPr txBox="1"/>
          <p:nvPr/>
        </p:nvSpPr>
        <p:spPr>
          <a:xfrm>
            <a:off x="1500128" y="4134806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Debt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79D391A-5E51-F50E-6E31-27E0D8BE8020}"/>
              </a:ext>
            </a:extLst>
          </p:cNvPr>
          <p:cNvSpPr txBox="1"/>
          <p:nvPr/>
        </p:nvSpPr>
        <p:spPr>
          <a:xfrm>
            <a:off x="12192000" y="2206736"/>
            <a:ext cx="377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Non-Wealthy Families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352146" y="2298428"/>
            <a:ext cx="386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Wealthy Families</a:t>
            </a:r>
          </a:p>
        </p:txBody>
      </p:sp>
      <p:pic>
        <p:nvPicPr>
          <p:cNvPr id="37" name="Elemento grafico 36" descr="Chiudi con riempimento a tinta unita">
            <a:extLst>
              <a:ext uri="{FF2B5EF4-FFF2-40B4-BE49-F238E27FC236}">
                <a16:creationId xmlns:a16="http://schemas.microsoft.com/office/drawing/2014/main" id="{DF81B4E7-0C95-8243-804C-A8A5BF19F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243" y="4072918"/>
            <a:ext cx="454208" cy="454208"/>
          </a:xfrm>
          <a:prstGeom prst="rect">
            <a:avLst/>
          </a:prstGeom>
        </p:spPr>
      </p:pic>
      <p:pic>
        <p:nvPicPr>
          <p:cNvPr id="39" name="Elemento grafico 38" descr="Prestito contorno">
            <a:extLst>
              <a:ext uri="{FF2B5EF4-FFF2-40B4-BE49-F238E27FC236}">
                <a16:creationId xmlns:a16="http://schemas.microsoft.com/office/drawing/2014/main" id="{3FC13FAF-6510-0864-7574-122F65B2E7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8674" y="3977325"/>
            <a:ext cx="645394" cy="645394"/>
          </a:xfrm>
          <a:prstGeom prst="rect">
            <a:avLst/>
          </a:prstGeom>
        </p:spPr>
      </p:pic>
      <p:cxnSp>
        <p:nvCxnSpPr>
          <p:cNvPr id="53" name="Straight Connector 12">
            <a:extLst>
              <a:ext uri="{FF2B5EF4-FFF2-40B4-BE49-F238E27FC236}">
                <a16:creationId xmlns:a16="http://schemas.microsoft.com/office/drawing/2014/main" id="{9880328D-0904-71BC-E033-BBFBE028ECD9}"/>
              </a:ext>
            </a:extLst>
          </p:cNvPr>
          <p:cNvCxnSpPr>
            <a:cxnSpLocks/>
          </p:cNvCxnSpPr>
          <p:nvPr/>
        </p:nvCxnSpPr>
        <p:spPr>
          <a:xfrm>
            <a:off x="1142836" y="2857500"/>
            <a:ext cx="0" cy="735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0F38A192-F785-417B-7714-54452C52BB4D}"/>
              </a:ext>
            </a:extLst>
          </p:cNvPr>
          <p:cNvCxnSpPr>
            <a:cxnSpLocks/>
          </p:cNvCxnSpPr>
          <p:nvPr/>
        </p:nvCxnSpPr>
        <p:spPr>
          <a:xfrm>
            <a:off x="1142836" y="3580289"/>
            <a:ext cx="0" cy="769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4">
            <a:extLst>
              <a:ext uri="{FF2B5EF4-FFF2-40B4-BE49-F238E27FC236}">
                <a16:creationId xmlns:a16="http://schemas.microsoft.com/office/drawing/2014/main" id="{ECFB06F3-7E06-B4FA-EE0B-F98BCBAB9310}"/>
              </a:ext>
            </a:extLst>
          </p:cNvPr>
          <p:cNvCxnSpPr>
            <a:cxnSpLocks/>
          </p:cNvCxnSpPr>
          <p:nvPr/>
        </p:nvCxnSpPr>
        <p:spPr>
          <a:xfrm>
            <a:off x="1142836" y="35933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4">
            <a:extLst>
              <a:ext uri="{FF2B5EF4-FFF2-40B4-BE49-F238E27FC236}">
                <a16:creationId xmlns:a16="http://schemas.microsoft.com/office/drawing/2014/main" id="{41911487-4982-510A-1F46-901A3AFFBD44}"/>
              </a:ext>
            </a:extLst>
          </p:cNvPr>
          <p:cNvCxnSpPr>
            <a:cxnSpLocks/>
          </p:cNvCxnSpPr>
          <p:nvPr/>
        </p:nvCxnSpPr>
        <p:spPr>
          <a:xfrm>
            <a:off x="1142836" y="434934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5">
            <a:extLst>
              <a:ext uri="{FF2B5EF4-FFF2-40B4-BE49-F238E27FC236}">
                <a16:creationId xmlns:a16="http://schemas.microsoft.com/office/drawing/2014/main" id="{0315A060-27D7-65EC-ADBC-D5BC10D15D46}"/>
              </a:ext>
            </a:extLst>
          </p:cNvPr>
          <p:cNvCxnSpPr>
            <a:cxnSpLocks/>
          </p:cNvCxnSpPr>
          <p:nvPr/>
        </p:nvCxnSpPr>
        <p:spPr>
          <a:xfrm>
            <a:off x="6096000" y="7152614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1">
            <a:extLst>
              <a:ext uri="{FF2B5EF4-FFF2-40B4-BE49-F238E27FC236}">
                <a16:creationId xmlns:a16="http://schemas.microsoft.com/office/drawing/2014/main" id="{A7EF3AFF-1442-8934-B4FA-B3E9F4AEEAEB}"/>
              </a:ext>
            </a:extLst>
          </p:cNvPr>
          <p:cNvSpPr txBox="1"/>
          <p:nvPr/>
        </p:nvSpPr>
        <p:spPr>
          <a:xfrm>
            <a:off x="0" y="3391431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High-qualified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5" name="Elemento grafico 4" descr="Impiegato contorno">
            <a:extLst>
              <a:ext uri="{FF2B5EF4-FFF2-40B4-BE49-F238E27FC236}">
                <a16:creationId xmlns:a16="http://schemas.microsoft.com/office/drawing/2014/main" id="{9882A736-76D9-B136-93C8-5E63E3030F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4068" y="3127849"/>
            <a:ext cx="709258" cy="70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25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37C336B1-1606-336A-C647-AA865C437392}"/>
              </a:ext>
            </a:extLst>
          </p:cNvPr>
          <p:cNvSpPr txBox="1"/>
          <p:nvPr/>
        </p:nvSpPr>
        <p:spPr>
          <a:xfrm>
            <a:off x="-681675" y="1680033"/>
            <a:ext cx="1175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3.   Step: further filter the dataset considering the variables </a:t>
            </a:r>
            <a:r>
              <a:rPr lang="en-US" b="1" dirty="0">
                <a:latin typeface="Georgia" panose="02040502050405020303" pitchFamily="18" charset="0"/>
              </a:rPr>
              <a:t>Debtor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Scholarship holder.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7DD87C6C-D72C-47F1-A948-3D6DFB100F48}"/>
              </a:ext>
            </a:extLst>
          </p:cNvPr>
          <p:cNvSpPr txBox="1"/>
          <p:nvPr/>
        </p:nvSpPr>
        <p:spPr>
          <a:xfrm>
            <a:off x="5976393" y="7604555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F19B1D32-A305-76EC-A7EB-B4C4B6B48076}"/>
              </a:ext>
            </a:extLst>
          </p:cNvPr>
          <p:cNvSpPr txBox="1"/>
          <p:nvPr/>
        </p:nvSpPr>
        <p:spPr>
          <a:xfrm>
            <a:off x="1500128" y="4134806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Debt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79D391A-5E51-F50E-6E31-27E0D8BE8020}"/>
              </a:ext>
            </a:extLst>
          </p:cNvPr>
          <p:cNvSpPr txBox="1"/>
          <p:nvPr/>
        </p:nvSpPr>
        <p:spPr>
          <a:xfrm>
            <a:off x="6751958" y="2276450"/>
            <a:ext cx="377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Non-Wealthy Families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352146" y="2298428"/>
            <a:ext cx="386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Wealthy Families</a:t>
            </a:r>
          </a:p>
        </p:txBody>
      </p:sp>
      <p:pic>
        <p:nvPicPr>
          <p:cNvPr id="37" name="Elemento grafico 36" descr="Chiudi con riempimento a tinta unita">
            <a:extLst>
              <a:ext uri="{FF2B5EF4-FFF2-40B4-BE49-F238E27FC236}">
                <a16:creationId xmlns:a16="http://schemas.microsoft.com/office/drawing/2014/main" id="{DF81B4E7-0C95-8243-804C-A8A5BF19F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243" y="4079856"/>
            <a:ext cx="454208" cy="454208"/>
          </a:xfrm>
          <a:prstGeom prst="rect">
            <a:avLst/>
          </a:prstGeom>
        </p:spPr>
      </p:pic>
      <p:pic>
        <p:nvPicPr>
          <p:cNvPr id="39" name="Elemento grafico 38" descr="Prestito contorno">
            <a:extLst>
              <a:ext uri="{FF2B5EF4-FFF2-40B4-BE49-F238E27FC236}">
                <a16:creationId xmlns:a16="http://schemas.microsoft.com/office/drawing/2014/main" id="{3FC13FAF-6510-0864-7574-122F65B2E7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8674" y="4016936"/>
            <a:ext cx="645394" cy="645394"/>
          </a:xfrm>
          <a:prstGeom prst="rect">
            <a:avLst/>
          </a:prstGeom>
        </p:spPr>
      </p:pic>
      <p:pic>
        <p:nvPicPr>
          <p:cNvPr id="49" name="Elemento grafico 48" descr="Lavoratore edile contorno">
            <a:extLst>
              <a:ext uri="{FF2B5EF4-FFF2-40B4-BE49-F238E27FC236}">
                <a16:creationId xmlns:a16="http://schemas.microsoft.com/office/drawing/2014/main" id="{4D6F1849-7706-60AA-2D32-3E672EE7FD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74160" y="7170171"/>
            <a:ext cx="803716" cy="803716"/>
          </a:xfrm>
          <a:prstGeom prst="rect">
            <a:avLst/>
          </a:prstGeom>
        </p:spPr>
      </p:pic>
      <p:cxnSp>
        <p:nvCxnSpPr>
          <p:cNvPr id="53" name="Straight Connector 12">
            <a:extLst>
              <a:ext uri="{FF2B5EF4-FFF2-40B4-BE49-F238E27FC236}">
                <a16:creationId xmlns:a16="http://schemas.microsoft.com/office/drawing/2014/main" id="{9880328D-0904-71BC-E033-BBFBE028ECD9}"/>
              </a:ext>
            </a:extLst>
          </p:cNvPr>
          <p:cNvCxnSpPr>
            <a:cxnSpLocks/>
          </p:cNvCxnSpPr>
          <p:nvPr/>
        </p:nvCxnSpPr>
        <p:spPr>
          <a:xfrm>
            <a:off x="1142836" y="2857500"/>
            <a:ext cx="0" cy="735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0F38A192-F785-417B-7714-54452C52BB4D}"/>
              </a:ext>
            </a:extLst>
          </p:cNvPr>
          <p:cNvCxnSpPr>
            <a:cxnSpLocks/>
          </p:cNvCxnSpPr>
          <p:nvPr/>
        </p:nvCxnSpPr>
        <p:spPr>
          <a:xfrm>
            <a:off x="1142836" y="3580289"/>
            <a:ext cx="0" cy="769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4">
            <a:extLst>
              <a:ext uri="{FF2B5EF4-FFF2-40B4-BE49-F238E27FC236}">
                <a16:creationId xmlns:a16="http://schemas.microsoft.com/office/drawing/2014/main" id="{ECFB06F3-7E06-B4FA-EE0B-F98BCBAB9310}"/>
              </a:ext>
            </a:extLst>
          </p:cNvPr>
          <p:cNvCxnSpPr>
            <a:cxnSpLocks/>
          </p:cNvCxnSpPr>
          <p:nvPr/>
        </p:nvCxnSpPr>
        <p:spPr>
          <a:xfrm>
            <a:off x="1142836" y="35933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4">
            <a:extLst>
              <a:ext uri="{FF2B5EF4-FFF2-40B4-BE49-F238E27FC236}">
                <a16:creationId xmlns:a16="http://schemas.microsoft.com/office/drawing/2014/main" id="{41911487-4982-510A-1F46-901A3AFFBD44}"/>
              </a:ext>
            </a:extLst>
          </p:cNvPr>
          <p:cNvCxnSpPr>
            <a:cxnSpLocks/>
          </p:cNvCxnSpPr>
          <p:nvPr/>
        </p:nvCxnSpPr>
        <p:spPr>
          <a:xfrm>
            <a:off x="1142836" y="434934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5">
            <a:extLst>
              <a:ext uri="{FF2B5EF4-FFF2-40B4-BE49-F238E27FC236}">
                <a16:creationId xmlns:a16="http://schemas.microsoft.com/office/drawing/2014/main" id="{0315A060-27D7-65EC-ADBC-D5BC10D15D46}"/>
              </a:ext>
            </a:extLst>
          </p:cNvPr>
          <p:cNvCxnSpPr>
            <a:cxnSpLocks/>
          </p:cNvCxnSpPr>
          <p:nvPr/>
        </p:nvCxnSpPr>
        <p:spPr>
          <a:xfrm>
            <a:off x="5976393" y="226163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24">
            <a:extLst>
              <a:ext uri="{FF2B5EF4-FFF2-40B4-BE49-F238E27FC236}">
                <a16:creationId xmlns:a16="http://schemas.microsoft.com/office/drawing/2014/main" id="{277496D8-BEB7-061D-C2E0-C2BD34B2D93A}"/>
              </a:ext>
            </a:extLst>
          </p:cNvPr>
          <p:cNvCxnSpPr>
            <a:cxnSpLocks/>
          </p:cNvCxnSpPr>
          <p:nvPr/>
        </p:nvCxnSpPr>
        <p:spPr>
          <a:xfrm>
            <a:off x="7010072" y="7833503"/>
            <a:ext cx="1193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12">
            <a:extLst>
              <a:ext uri="{FF2B5EF4-FFF2-40B4-BE49-F238E27FC236}">
                <a16:creationId xmlns:a16="http://schemas.microsoft.com/office/drawing/2014/main" id="{7241844A-B968-B508-843A-C420069631B0}"/>
              </a:ext>
            </a:extLst>
          </p:cNvPr>
          <p:cNvCxnSpPr>
            <a:cxnSpLocks/>
          </p:cNvCxnSpPr>
          <p:nvPr/>
        </p:nvCxnSpPr>
        <p:spPr>
          <a:xfrm>
            <a:off x="7009744" y="7050698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Elemento grafico 1" descr="Impiegato contorno">
            <a:extLst>
              <a:ext uri="{FF2B5EF4-FFF2-40B4-BE49-F238E27FC236}">
                <a16:creationId xmlns:a16="http://schemas.microsoft.com/office/drawing/2014/main" id="{58A1B54F-87F7-A80B-1B7A-D56914835D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2753" y="3099536"/>
            <a:ext cx="709258" cy="709258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DAD93670-87F8-6A45-AA64-A88412CF732B}"/>
              </a:ext>
            </a:extLst>
          </p:cNvPr>
          <p:cNvSpPr txBox="1"/>
          <p:nvPr/>
        </p:nvSpPr>
        <p:spPr>
          <a:xfrm>
            <a:off x="0" y="3391431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High-qualified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0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37C336B1-1606-336A-C647-AA865C437392}"/>
              </a:ext>
            </a:extLst>
          </p:cNvPr>
          <p:cNvSpPr txBox="1"/>
          <p:nvPr/>
        </p:nvSpPr>
        <p:spPr>
          <a:xfrm>
            <a:off x="-681675" y="1680033"/>
            <a:ext cx="1175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3.   Step: further filter the dataset considering the variables </a:t>
            </a:r>
            <a:r>
              <a:rPr lang="en-US" b="1" dirty="0">
                <a:latin typeface="Georgia" panose="02040502050405020303" pitchFamily="18" charset="0"/>
              </a:rPr>
              <a:t>Debtor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Scholarship holder.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9837081-8DEA-00EF-6EA9-C8315EBDB110}"/>
              </a:ext>
            </a:extLst>
          </p:cNvPr>
          <p:cNvSpPr txBox="1"/>
          <p:nvPr/>
        </p:nvSpPr>
        <p:spPr>
          <a:xfrm>
            <a:off x="-363587" y="3404689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7DD87C6C-D72C-47F1-A948-3D6DFB100F48}"/>
              </a:ext>
            </a:extLst>
          </p:cNvPr>
          <p:cNvSpPr txBox="1"/>
          <p:nvPr/>
        </p:nvSpPr>
        <p:spPr>
          <a:xfrm>
            <a:off x="5951115" y="3439987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2AA34113-E871-F960-0E2C-F9E895866768}"/>
              </a:ext>
            </a:extLst>
          </p:cNvPr>
          <p:cNvSpPr txBox="1"/>
          <p:nvPr/>
        </p:nvSpPr>
        <p:spPr>
          <a:xfrm>
            <a:off x="7519246" y="7573507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b="1" dirty="0">
                <a:latin typeface="Georgia" panose="02040502050405020303" pitchFamily="18" charset="0"/>
              </a:rPr>
              <a:t>Debt</a:t>
            </a: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F19B1D32-A305-76EC-A7EB-B4C4B6B48076}"/>
              </a:ext>
            </a:extLst>
          </p:cNvPr>
          <p:cNvSpPr txBox="1"/>
          <p:nvPr/>
        </p:nvSpPr>
        <p:spPr>
          <a:xfrm>
            <a:off x="1500128" y="4134806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Debt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79D391A-5E51-F50E-6E31-27E0D8BE8020}"/>
              </a:ext>
            </a:extLst>
          </p:cNvPr>
          <p:cNvSpPr txBox="1"/>
          <p:nvPr/>
        </p:nvSpPr>
        <p:spPr>
          <a:xfrm>
            <a:off x="6751958" y="2276450"/>
            <a:ext cx="377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Non-Wealthy Families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352146" y="2298428"/>
            <a:ext cx="386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Wealthy Families</a:t>
            </a:r>
          </a:p>
        </p:txBody>
      </p:sp>
      <p:pic>
        <p:nvPicPr>
          <p:cNvPr id="37" name="Elemento grafico 36" descr="Chiudi con riempimento a tinta unita">
            <a:extLst>
              <a:ext uri="{FF2B5EF4-FFF2-40B4-BE49-F238E27FC236}">
                <a16:creationId xmlns:a16="http://schemas.microsoft.com/office/drawing/2014/main" id="{DF81B4E7-0C95-8243-804C-A8A5BF19F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243" y="4079856"/>
            <a:ext cx="454208" cy="454208"/>
          </a:xfrm>
          <a:prstGeom prst="rect">
            <a:avLst/>
          </a:prstGeom>
        </p:spPr>
      </p:pic>
      <p:pic>
        <p:nvPicPr>
          <p:cNvPr id="39" name="Elemento grafico 38" descr="Prestito contorno">
            <a:extLst>
              <a:ext uri="{FF2B5EF4-FFF2-40B4-BE49-F238E27FC236}">
                <a16:creationId xmlns:a16="http://schemas.microsoft.com/office/drawing/2014/main" id="{3FC13FAF-6510-0864-7574-122F65B2E7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8674" y="4016936"/>
            <a:ext cx="645394" cy="645394"/>
          </a:xfrm>
          <a:prstGeom prst="rect">
            <a:avLst/>
          </a:prstGeom>
        </p:spPr>
      </p:pic>
      <p:pic>
        <p:nvPicPr>
          <p:cNvPr id="49" name="Elemento grafico 48" descr="Lavoratore edile contorno">
            <a:extLst>
              <a:ext uri="{FF2B5EF4-FFF2-40B4-BE49-F238E27FC236}">
                <a16:creationId xmlns:a16="http://schemas.microsoft.com/office/drawing/2014/main" id="{4D6F1849-7706-60AA-2D32-3E672EE7FD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83040" y="3081044"/>
            <a:ext cx="803716" cy="803716"/>
          </a:xfrm>
          <a:prstGeom prst="rect">
            <a:avLst/>
          </a:prstGeom>
        </p:spPr>
      </p:pic>
      <p:pic>
        <p:nvPicPr>
          <p:cNvPr id="52" name="Elemento grafico 51" descr="Impiegato contorno">
            <a:extLst>
              <a:ext uri="{FF2B5EF4-FFF2-40B4-BE49-F238E27FC236}">
                <a16:creationId xmlns:a16="http://schemas.microsoft.com/office/drawing/2014/main" id="{67E651A4-F3FF-B94D-6F8D-FC0C4681D6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16742" y="3135358"/>
            <a:ext cx="709258" cy="709258"/>
          </a:xfrm>
          <a:prstGeom prst="rect">
            <a:avLst/>
          </a:prstGeom>
        </p:spPr>
      </p:pic>
      <p:cxnSp>
        <p:nvCxnSpPr>
          <p:cNvPr id="53" name="Straight Connector 12">
            <a:extLst>
              <a:ext uri="{FF2B5EF4-FFF2-40B4-BE49-F238E27FC236}">
                <a16:creationId xmlns:a16="http://schemas.microsoft.com/office/drawing/2014/main" id="{9880328D-0904-71BC-E033-BBFBE028ECD9}"/>
              </a:ext>
            </a:extLst>
          </p:cNvPr>
          <p:cNvCxnSpPr>
            <a:cxnSpLocks/>
          </p:cNvCxnSpPr>
          <p:nvPr/>
        </p:nvCxnSpPr>
        <p:spPr>
          <a:xfrm>
            <a:off x="1142836" y="2857500"/>
            <a:ext cx="0" cy="735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0F38A192-F785-417B-7714-54452C52BB4D}"/>
              </a:ext>
            </a:extLst>
          </p:cNvPr>
          <p:cNvCxnSpPr>
            <a:cxnSpLocks/>
          </p:cNvCxnSpPr>
          <p:nvPr/>
        </p:nvCxnSpPr>
        <p:spPr>
          <a:xfrm>
            <a:off x="1142836" y="3580289"/>
            <a:ext cx="0" cy="769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4">
            <a:extLst>
              <a:ext uri="{FF2B5EF4-FFF2-40B4-BE49-F238E27FC236}">
                <a16:creationId xmlns:a16="http://schemas.microsoft.com/office/drawing/2014/main" id="{ECFB06F3-7E06-B4FA-EE0B-F98BCBAB9310}"/>
              </a:ext>
            </a:extLst>
          </p:cNvPr>
          <p:cNvCxnSpPr>
            <a:cxnSpLocks/>
          </p:cNvCxnSpPr>
          <p:nvPr/>
        </p:nvCxnSpPr>
        <p:spPr>
          <a:xfrm>
            <a:off x="1142836" y="35933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4">
            <a:extLst>
              <a:ext uri="{FF2B5EF4-FFF2-40B4-BE49-F238E27FC236}">
                <a16:creationId xmlns:a16="http://schemas.microsoft.com/office/drawing/2014/main" id="{41911487-4982-510A-1F46-901A3AFFBD44}"/>
              </a:ext>
            </a:extLst>
          </p:cNvPr>
          <p:cNvCxnSpPr>
            <a:cxnSpLocks/>
          </p:cNvCxnSpPr>
          <p:nvPr/>
        </p:nvCxnSpPr>
        <p:spPr>
          <a:xfrm>
            <a:off x="1142836" y="434934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5">
            <a:extLst>
              <a:ext uri="{FF2B5EF4-FFF2-40B4-BE49-F238E27FC236}">
                <a16:creationId xmlns:a16="http://schemas.microsoft.com/office/drawing/2014/main" id="{0315A060-27D7-65EC-ADBC-D5BC10D15D46}"/>
              </a:ext>
            </a:extLst>
          </p:cNvPr>
          <p:cNvCxnSpPr>
            <a:cxnSpLocks/>
          </p:cNvCxnSpPr>
          <p:nvPr/>
        </p:nvCxnSpPr>
        <p:spPr>
          <a:xfrm>
            <a:off x="5976393" y="226163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24">
            <a:extLst>
              <a:ext uri="{FF2B5EF4-FFF2-40B4-BE49-F238E27FC236}">
                <a16:creationId xmlns:a16="http://schemas.microsoft.com/office/drawing/2014/main" id="{277496D8-BEB7-061D-C2E0-C2BD34B2D93A}"/>
              </a:ext>
            </a:extLst>
          </p:cNvPr>
          <p:cNvCxnSpPr>
            <a:cxnSpLocks/>
          </p:cNvCxnSpPr>
          <p:nvPr/>
        </p:nvCxnSpPr>
        <p:spPr>
          <a:xfrm>
            <a:off x="7010236" y="3640305"/>
            <a:ext cx="1193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12">
            <a:extLst>
              <a:ext uri="{FF2B5EF4-FFF2-40B4-BE49-F238E27FC236}">
                <a16:creationId xmlns:a16="http://schemas.microsoft.com/office/drawing/2014/main" id="{7241844A-B968-B508-843A-C420069631B0}"/>
              </a:ext>
            </a:extLst>
          </p:cNvPr>
          <p:cNvCxnSpPr>
            <a:cxnSpLocks/>
          </p:cNvCxnSpPr>
          <p:nvPr/>
        </p:nvCxnSpPr>
        <p:spPr>
          <a:xfrm>
            <a:off x="7010236" y="2857500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Elemento grafico 1" descr="Prestito contorno">
            <a:extLst>
              <a:ext uri="{FF2B5EF4-FFF2-40B4-BE49-F238E27FC236}">
                <a16:creationId xmlns:a16="http://schemas.microsoft.com/office/drawing/2014/main" id="{CD1A042E-78FB-573F-2CB1-43A3CB3A5B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7680" y="7392821"/>
            <a:ext cx="645394" cy="645394"/>
          </a:xfrm>
          <a:prstGeom prst="rect">
            <a:avLst/>
          </a:prstGeom>
        </p:spPr>
      </p:pic>
      <p:pic>
        <p:nvPicPr>
          <p:cNvPr id="3" name="Elemento grafico 2" descr="Segno di spunta con riempimento a tinta unita">
            <a:extLst>
              <a:ext uri="{FF2B5EF4-FFF2-40B4-BE49-F238E27FC236}">
                <a16:creationId xmlns:a16="http://schemas.microsoft.com/office/drawing/2014/main" id="{BC653DBA-5F06-2882-4BB1-0A73600ECF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48331" y="7517651"/>
            <a:ext cx="473266" cy="473266"/>
          </a:xfrm>
          <a:prstGeom prst="rect">
            <a:avLst/>
          </a:prstGeom>
        </p:spPr>
      </p:pic>
      <p:cxnSp>
        <p:nvCxnSpPr>
          <p:cNvPr id="4" name="Straight Connector 12">
            <a:extLst>
              <a:ext uri="{FF2B5EF4-FFF2-40B4-BE49-F238E27FC236}">
                <a16:creationId xmlns:a16="http://schemas.microsoft.com/office/drawing/2014/main" id="{C24C4B48-65F4-C045-9E23-774A2BB41A36}"/>
              </a:ext>
            </a:extLst>
          </p:cNvPr>
          <p:cNvCxnSpPr>
            <a:cxnSpLocks/>
          </p:cNvCxnSpPr>
          <p:nvPr/>
        </p:nvCxnSpPr>
        <p:spPr>
          <a:xfrm>
            <a:off x="7137236" y="7001277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24">
            <a:extLst>
              <a:ext uri="{FF2B5EF4-FFF2-40B4-BE49-F238E27FC236}">
                <a16:creationId xmlns:a16="http://schemas.microsoft.com/office/drawing/2014/main" id="{A5A20FCB-D5D2-5F5D-1DAF-306F48EC78DF}"/>
              </a:ext>
            </a:extLst>
          </p:cNvPr>
          <p:cNvCxnSpPr>
            <a:cxnSpLocks/>
          </p:cNvCxnSpPr>
          <p:nvPr/>
        </p:nvCxnSpPr>
        <p:spPr>
          <a:xfrm>
            <a:off x="7137236" y="7784082"/>
            <a:ext cx="12439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434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37C336B1-1606-336A-C647-AA865C437392}"/>
              </a:ext>
            </a:extLst>
          </p:cNvPr>
          <p:cNvSpPr txBox="1"/>
          <p:nvPr/>
        </p:nvSpPr>
        <p:spPr>
          <a:xfrm>
            <a:off x="-681675" y="1680033"/>
            <a:ext cx="1175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3.   Step: further filter the dataset considering the variables </a:t>
            </a:r>
            <a:r>
              <a:rPr lang="en-US" b="1" dirty="0">
                <a:latin typeface="Georgia" panose="02040502050405020303" pitchFamily="18" charset="0"/>
              </a:rPr>
              <a:t>Debtor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Scholarship holder.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9837081-8DEA-00EF-6EA9-C8315EBDB110}"/>
              </a:ext>
            </a:extLst>
          </p:cNvPr>
          <p:cNvSpPr txBox="1"/>
          <p:nvPr/>
        </p:nvSpPr>
        <p:spPr>
          <a:xfrm>
            <a:off x="-363587" y="3404689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7DD87C6C-D72C-47F1-A948-3D6DFB100F48}"/>
              </a:ext>
            </a:extLst>
          </p:cNvPr>
          <p:cNvSpPr txBox="1"/>
          <p:nvPr/>
        </p:nvSpPr>
        <p:spPr>
          <a:xfrm>
            <a:off x="5951115" y="3439987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43976B0F-4CD5-B8BE-F7BF-2606FF1F154F}"/>
              </a:ext>
            </a:extLst>
          </p:cNvPr>
          <p:cNvSpPr txBox="1"/>
          <p:nvPr/>
        </p:nvSpPr>
        <p:spPr>
          <a:xfrm>
            <a:off x="8101201" y="7648439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scholarship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2AA34113-E871-F960-0E2C-F9E895866768}"/>
              </a:ext>
            </a:extLst>
          </p:cNvPr>
          <p:cNvSpPr txBox="1"/>
          <p:nvPr/>
        </p:nvSpPr>
        <p:spPr>
          <a:xfrm>
            <a:off x="7519246" y="4168262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b="1" dirty="0">
                <a:latin typeface="Georgia" panose="02040502050405020303" pitchFamily="18" charset="0"/>
              </a:rPr>
              <a:t>Debt</a:t>
            </a: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F19B1D32-A305-76EC-A7EB-B4C4B6B48076}"/>
              </a:ext>
            </a:extLst>
          </p:cNvPr>
          <p:cNvSpPr txBox="1"/>
          <p:nvPr/>
        </p:nvSpPr>
        <p:spPr>
          <a:xfrm>
            <a:off x="1500128" y="4134806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Debt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79D391A-5E51-F50E-6E31-27E0D8BE8020}"/>
              </a:ext>
            </a:extLst>
          </p:cNvPr>
          <p:cNvSpPr txBox="1"/>
          <p:nvPr/>
        </p:nvSpPr>
        <p:spPr>
          <a:xfrm>
            <a:off x="6751958" y="2276450"/>
            <a:ext cx="377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Non-Wealthy Families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352146" y="2298428"/>
            <a:ext cx="386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Wealthy Families</a:t>
            </a:r>
          </a:p>
        </p:txBody>
      </p:sp>
      <p:pic>
        <p:nvPicPr>
          <p:cNvPr id="34" name="Elemento grafico 33" descr="Valigetta contorno">
            <a:extLst>
              <a:ext uri="{FF2B5EF4-FFF2-40B4-BE49-F238E27FC236}">
                <a16:creationId xmlns:a16="http://schemas.microsoft.com/office/drawing/2014/main" id="{5A96A7B5-7FD9-95BF-902F-F14C1D9BF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9096" y="7564151"/>
            <a:ext cx="613893" cy="613893"/>
          </a:xfrm>
          <a:prstGeom prst="rect">
            <a:avLst/>
          </a:prstGeom>
        </p:spPr>
      </p:pic>
      <p:pic>
        <p:nvPicPr>
          <p:cNvPr id="37" name="Elemento grafico 36" descr="Chiudi con riempimento a tinta unita">
            <a:extLst>
              <a:ext uri="{FF2B5EF4-FFF2-40B4-BE49-F238E27FC236}">
                <a16:creationId xmlns:a16="http://schemas.microsoft.com/office/drawing/2014/main" id="{DF81B4E7-0C95-8243-804C-A8A5BF19F7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8243" y="4079856"/>
            <a:ext cx="454208" cy="454208"/>
          </a:xfrm>
          <a:prstGeom prst="rect">
            <a:avLst/>
          </a:prstGeom>
        </p:spPr>
      </p:pic>
      <p:pic>
        <p:nvPicPr>
          <p:cNvPr id="38" name="Elemento grafico 37" descr="Chiudi con riempimento a tinta unita">
            <a:extLst>
              <a:ext uri="{FF2B5EF4-FFF2-40B4-BE49-F238E27FC236}">
                <a16:creationId xmlns:a16="http://schemas.microsoft.com/office/drawing/2014/main" id="{5F9FC42D-6BCD-17AB-218C-597629F9FC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7631" y="7633195"/>
            <a:ext cx="491147" cy="491147"/>
          </a:xfrm>
          <a:prstGeom prst="rect">
            <a:avLst/>
          </a:prstGeom>
        </p:spPr>
      </p:pic>
      <p:pic>
        <p:nvPicPr>
          <p:cNvPr id="39" name="Elemento grafico 38" descr="Prestito contorno">
            <a:extLst>
              <a:ext uri="{FF2B5EF4-FFF2-40B4-BE49-F238E27FC236}">
                <a16:creationId xmlns:a16="http://schemas.microsoft.com/office/drawing/2014/main" id="{3FC13FAF-6510-0864-7574-122F65B2E7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48674" y="4016936"/>
            <a:ext cx="645394" cy="645394"/>
          </a:xfrm>
          <a:prstGeom prst="rect">
            <a:avLst/>
          </a:prstGeom>
        </p:spPr>
      </p:pic>
      <p:pic>
        <p:nvPicPr>
          <p:cNvPr id="49" name="Elemento grafico 48" descr="Lavoratore edile contorno">
            <a:extLst>
              <a:ext uri="{FF2B5EF4-FFF2-40B4-BE49-F238E27FC236}">
                <a16:creationId xmlns:a16="http://schemas.microsoft.com/office/drawing/2014/main" id="{4D6F1849-7706-60AA-2D32-3E672EE7FD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3040" y="3081044"/>
            <a:ext cx="803716" cy="803716"/>
          </a:xfrm>
          <a:prstGeom prst="rect">
            <a:avLst/>
          </a:prstGeom>
        </p:spPr>
      </p:pic>
      <p:pic>
        <p:nvPicPr>
          <p:cNvPr id="52" name="Elemento grafico 51" descr="Impiegato contorno">
            <a:extLst>
              <a:ext uri="{FF2B5EF4-FFF2-40B4-BE49-F238E27FC236}">
                <a16:creationId xmlns:a16="http://schemas.microsoft.com/office/drawing/2014/main" id="{67E651A4-F3FF-B94D-6F8D-FC0C4681D6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6742" y="3135358"/>
            <a:ext cx="709258" cy="709258"/>
          </a:xfrm>
          <a:prstGeom prst="rect">
            <a:avLst/>
          </a:prstGeom>
        </p:spPr>
      </p:pic>
      <p:cxnSp>
        <p:nvCxnSpPr>
          <p:cNvPr id="53" name="Straight Connector 12">
            <a:extLst>
              <a:ext uri="{FF2B5EF4-FFF2-40B4-BE49-F238E27FC236}">
                <a16:creationId xmlns:a16="http://schemas.microsoft.com/office/drawing/2014/main" id="{9880328D-0904-71BC-E033-BBFBE028ECD9}"/>
              </a:ext>
            </a:extLst>
          </p:cNvPr>
          <p:cNvCxnSpPr>
            <a:cxnSpLocks/>
          </p:cNvCxnSpPr>
          <p:nvPr/>
        </p:nvCxnSpPr>
        <p:spPr>
          <a:xfrm>
            <a:off x="1142836" y="2857500"/>
            <a:ext cx="0" cy="735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0F38A192-F785-417B-7714-54452C52BB4D}"/>
              </a:ext>
            </a:extLst>
          </p:cNvPr>
          <p:cNvCxnSpPr>
            <a:cxnSpLocks/>
          </p:cNvCxnSpPr>
          <p:nvPr/>
        </p:nvCxnSpPr>
        <p:spPr>
          <a:xfrm>
            <a:off x="1142836" y="3580289"/>
            <a:ext cx="0" cy="769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4">
            <a:extLst>
              <a:ext uri="{FF2B5EF4-FFF2-40B4-BE49-F238E27FC236}">
                <a16:creationId xmlns:a16="http://schemas.microsoft.com/office/drawing/2014/main" id="{ECFB06F3-7E06-B4FA-EE0B-F98BCBAB9310}"/>
              </a:ext>
            </a:extLst>
          </p:cNvPr>
          <p:cNvCxnSpPr>
            <a:cxnSpLocks/>
          </p:cNvCxnSpPr>
          <p:nvPr/>
        </p:nvCxnSpPr>
        <p:spPr>
          <a:xfrm>
            <a:off x="1142836" y="35933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4">
            <a:extLst>
              <a:ext uri="{FF2B5EF4-FFF2-40B4-BE49-F238E27FC236}">
                <a16:creationId xmlns:a16="http://schemas.microsoft.com/office/drawing/2014/main" id="{41911487-4982-510A-1F46-901A3AFFBD44}"/>
              </a:ext>
            </a:extLst>
          </p:cNvPr>
          <p:cNvCxnSpPr>
            <a:cxnSpLocks/>
          </p:cNvCxnSpPr>
          <p:nvPr/>
        </p:nvCxnSpPr>
        <p:spPr>
          <a:xfrm>
            <a:off x="1142836" y="434934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5">
            <a:extLst>
              <a:ext uri="{FF2B5EF4-FFF2-40B4-BE49-F238E27FC236}">
                <a16:creationId xmlns:a16="http://schemas.microsoft.com/office/drawing/2014/main" id="{0315A060-27D7-65EC-ADBC-D5BC10D15D46}"/>
              </a:ext>
            </a:extLst>
          </p:cNvPr>
          <p:cNvCxnSpPr>
            <a:cxnSpLocks/>
          </p:cNvCxnSpPr>
          <p:nvPr/>
        </p:nvCxnSpPr>
        <p:spPr>
          <a:xfrm>
            <a:off x="5976393" y="226163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24">
            <a:extLst>
              <a:ext uri="{FF2B5EF4-FFF2-40B4-BE49-F238E27FC236}">
                <a16:creationId xmlns:a16="http://schemas.microsoft.com/office/drawing/2014/main" id="{277496D8-BEB7-061D-C2E0-C2BD34B2D93A}"/>
              </a:ext>
            </a:extLst>
          </p:cNvPr>
          <p:cNvCxnSpPr>
            <a:cxnSpLocks/>
          </p:cNvCxnSpPr>
          <p:nvPr/>
        </p:nvCxnSpPr>
        <p:spPr>
          <a:xfrm>
            <a:off x="7010236" y="3640305"/>
            <a:ext cx="1193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24">
            <a:extLst>
              <a:ext uri="{FF2B5EF4-FFF2-40B4-BE49-F238E27FC236}">
                <a16:creationId xmlns:a16="http://schemas.microsoft.com/office/drawing/2014/main" id="{439E9352-4D9E-3E69-30EF-6BF2AE207D0C}"/>
              </a:ext>
            </a:extLst>
          </p:cNvPr>
          <p:cNvCxnSpPr>
            <a:cxnSpLocks/>
          </p:cNvCxnSpPr>
          <p:nvPr/>
        </p:nvCxnSpPr>
        <p:spPr>
          <a:xfrm>
            <a:off x="7010236" y="4404720"/>
            <a:ext cx="12439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12">
            <a:extLst>
              <a:ext uri="{FF2B5EF4-FFF2-40B4-BE49-F238E27FC236}">
                <a16:creationId xmlns:a16="http://schemas.microsoft.com/office/drawing/2014/main" id="{7241844A-B968-B508-843A-C420069631B0}"/>
              </a:ext>
            </a:extLst>
          </p:cNvPr>
          <p:cNvCxnSpPr>
            <a:cxnSpLocks/>
          </p:cNvCxnSpPr>
          <p:nvPr/>
        </p:nvCxnSpPr>
        <p:spPr>
          <a:xfrm>
            <a:off x="7010236" y="2857500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12">
            <a:extLst>
              <a:ext uri="{FF2B5EF4-FFF2-40B4-BE49-F238E27FC236}">
                <a16:creationId xmlns:a16="http://schemas.microsoft.com/office/drawing/2014/main" id="{9BF18DA5-F01E-B42D-DEE5-3F8658DF1CEA}"/>
              </a:ext>
            </a:extLst>
          </p:cNvPr>
          <p:cNvCxnSpPr>
            <a:cxnSpLocks/>
          </p:cNvCxnSpPr>
          <p:nvPr/>
        </p:nvCxnSpPr>
        <p:spPr>
          <a:xfrm>
            <a:off x="7010236" y="3621915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24">
            <a:extLst>
              <a:ext uri="{FF2B5EF4-FFF2-40B4-BE49-F238E27FC236}">
                <a16:creationId xmlns:a16="http://schemas.microsoft.com/office/drawing/2014/main" id="{DFA4D001-EC15-902D-D247-318404C2B61D}"/>
              </a:ext>
            </a:extLst>
          </p:cNvPr>
          <p:cNvCxnSpPr>
            <a:cxnSpLocks/>
          </p:cNvCxnSpPr>
          <p:nvPr/>
        </p:nvCxnSpPr>
        <p:spPr>
          <a:xfrm>
            <a:off x="7010236" y="7848494"/>
            <a:ext cx="12439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12">
            <a:extLst>
              <a:ext uri="{FF2B5EF4-FFF2-40B4-BE49-F238E27FC236}">
                <a16:creationId xmlns:a16="http://schemas.microsoft.com/office/drawing/2014/main" id="{11B7AAA5-ACC9-6A70-90CA-C4252F981FFC}"/>
              </a:ext>
            </a:extLst>
          </p:cNvPr>
          <p:cNvCxnSpPr>
            <a:cxnSpLocks/>
          </p:cNvCxnSpPr>
          <p:nvPr/>
        </p:nvCxnSpPr>
        <p:spPr>
          <a:xfrm>
            <a:off x="7010236" y="7065689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Elemento grafico 74" descr="Prestito contorno">
            <a:extLst>
              <a:ext uri="{FF2B5EF4-FFF2-40B4-BE49-F238E27FC236}">
                <a16:creationId xmlns:a16="http://schemas.microsoft.com/office/drawing/2014/main" id="{920CE0DF-B1C3-62F9-965A-6AF85195BD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8782" y="4026644"/>
            <a:ext cx="645394" cy="645394"/>
          </a:xfrm>
          <a:prstGeom prst="rect">
            <a:avLst/>
          </a:prstGeom>
        </p:spPr>
      </p:pic>
      <p:pic>
        <p:nvPicPr>
          <p:cNvPr id="76" name="Elemento grafico 75" descr="Segno di spunta con riempimento a tinta unita">
            <a:extLst>
              <a:ext uri="{FF2B5EF4-FFF2-40B4-BE49-F238E27FC236}">
                <a16:creationId xmlns:a16="http://schemas.microsoft.com/office/drawing/2014/main" id="{CF8BE0EF-F614-9352-324B-8C8FC3D41C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10160" y="4148368"/>
            <a:ext cx="434709" cy="43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27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37C336B1-1606-336A-C647-AA865C437392}"/>
              </a:ext>
            </a:extLst>
          </p:cNvPr>
          <p:cNvSpPr txBox="1"/>
          <p:nvPr/>
        </p:nvSpPr>
        <p:spPr>
          <a:xfrm>
            <a:off x="-681675" y="1680033"/>
            <a:ext cx="1175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3.   Step: further filter the dataset considering the variables </a:t>
            </a:r>
            <a:r>
              <a:rPr lang="en-US" b="1" dirty="0">
                <a:latin typeface="Georgia" panose="02040502050405020303" pitchFamily="18" charset="0"/>
              </a:rPr>
              <a:t>Debtor</a:t>
            </a:r>
            <a:r>
              <a:rPr lang="en-US" dirty="0">
                <a:latin typeface="Georgia" panose="02040502050405020303" pitchFamily="18" charset="0"/>
              </a:rPr>
              <a:t> and </a:t>
            </a:r>
            <a:r>
              <a:rPr lang="en-US" b="1" dirty="0">
                <a:latin typeface="Georgia" panose="02040502050405020303" pitchFamily="18" charset="0"/>
              </a:rPr>
              <a:t>Scholarship holder.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9837081-8DEA-00EF-6EA9-C8315EBDB110}"/>
              </a:ext>
            </a:extLst>
          </p:cNvPr>
          <p:cNvSpPr txBox="1"/>
          <p:nvPr/>
        </p:nvSpPr>
        <p:spPr>
          <a:xfrm>
            <a:off x="-363587" y="3404689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7DD87C6C-D72C-47F1-A948-3D6DFB100F48}"/>
              </a:ext>
            </a:extLst>
          </p:cNvPr>
          <p:cNvSpPr txBox="1"/>
          <p:nvPr/>
        </p:nvSpPr>
        <p:spPr>
          <a:xfrm>
            <a:off x="5951115" y="3439987"/>
            <a:ext cx="691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eorgia" panose="02040502050405020303" pitchFamily="18" charset="0"/>
              </a:rPr>
              <a:t>Unqualified work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43976B0F-4CD5-B8BE-F7BF-2606FF1F154F}"/>
              </a:ext>
            </a:extLst>
          </p:cNvPr>
          <p:cNvSpPr txBox="1"/>
          <p:nvPr/>
        </p:nvSpPr>
        <p:spPr>
          <a:xfrm>
            <a:off x="8220475" y="4963718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scholarship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2AA34113-E871-F960-0E2C-F9E895866768}"/>
              </a:ext>
            </a:extLst>
          </p:cNvPr>
          <p:cNvSpPr txBox="1"/>
          <p:nvPr/>
        </p:nvSpPr>
        <p:spPr>
          <a:xfrm>
            <a:off x="7519246" y="4168262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b="1" dirty="0">
                <a:latin typeface="Georgia" panose="02040502050405020303" pitchFamily="18" charset="0"/>
              </a:rPr>
              <a:t>Debt</a:t>
            </a:r>
          </a:p>
        </p:txBody>
      </p:sp>
      <p:sp>
        <p:nvSpPr>
          <p:cNvPr id="27" name="TextBox 1">
            <a:extLst>
              <a:ext uri="{FF2B5EF4-FFF2-40B4-BE49-F238E27FC236}">
                <a16:creationId xmlns:a16="http://schemas.microsoft.com/office/drawing/2014/main" id="{F19B1D32-A305-76EC-A7EB-B4C4B6B48076}"/>
              </a:ext>
            </a:extLst>
          </p:cNvPr>
          <p:cNvSpPr txBox="1"/>
          <p:nvPr/>
        </p:nvSpPr>
        <p:spPr>
          <a:xfrm>
            <a:off x="1500128" y="4134806"/>
            <a:ext cx="2616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 Debt</a:t>
            </a: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279D391A-5E51-F50E-6E31-27E0D8BE8020}"/>
              </a:ext>
            </a:extLst>
          </p:cNvPr>
          <p:cNvSpPr txBox="1"/>
          <p:nvPr/>
        </p:nvSpPr>
        <p:spPr>
          <a:xfrm>
            <a:off x="6751958" y="2276450"/>
            <a:ext cx="377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Non-Wealthy Families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352146" y="2298428"/>
            <a:ext cx="3867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Wealthy Families</a:t>
            </a:r>
          </a:p>
        </p:txBody>
      </p:sp>
      <p:pic>
        <p:nvPicPr>
          <p:cNvPr id="34" name="Elemento grafico 33" descr="Valigetta contorno">
            <a:extLst>
              <a:ext uri="{FF2B5EF4-FFF2-40B4-BE49-F238E27FC236}">
                <a16:creationId xmlns:a16="http://schemas.microsoft.com/office/drawing/2014/main" id="{5A96A7B5-7FD9-95BF-902F-F14C1D9BF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72863" y="4781008"/>
            <a:ext cx="613893" cy="613893"/>
          </a:xfrm>
          <a:prstGeom prst="rect">
            <a:avLst/>
          </a:prstGeom>
        </p:spPr>
      </p:pic>
      <p:pic>
        <p:nvPicPr>
          <p:cNvPr id="37" name="Elemento grafico 36" descr="Chiudi con riempimento a tinta unita">
            <a:extLst>
              <a:ext uri="{FF2B5EF4-FFF2-40B4-BE49-F238E27FC236}">
                <a16:creationId xmlns:a16="http://schemas.microsoft.com/office/drawing/2014/main" id="{DF81B4E7-0C95-8243-804C-A8A5BF19F7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8243" y="4079856"/>
            <a:ext cx="454208" cy="454208"/>
          </a:xfrm>
          <a:prstGeom prst="rect">
            <a:avLst/>
          </a:prstGeom>
        </p:spPr>
      </p:pic>
      <p:pic>
        <p:nvPicPr>
          <p:cNvPr id="38" name="Elemento grafico 37" descr="Chiudi con riempimento a tinta unita">
            <a:extLst>
              <a:ext uri="{FF2B5EF4-FFF2-40B4-BE49-F238E27FC236}">
                <a16:creationId xmlns:a16="http://schemas.microsoft.com/office/drawing/2014/main" id="{5F9FC42D-6BCD-17AB-218C-597629F9FC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64478" y="4940301"/>
            <a:ext cx="430584" cy="430584"/>
          </a:xfrm>
          <a:prstGeom prst="rect">
            <a:avLst/>
          </a:prstGeom>
        </p:spPr>
      </p:pic>
      <p:pic>
        <p:nvPicPr>
          <p:cNvPr id="39" name="Elemento grafico 38" descr="Prestito contorno">
            <a:extLst>
              <a:ext uri="{FF2B5EF4-FFF2-40B4-BE49-F238E27FC236}">
                <a16:creationId xmlns:a16="http://schemas.microsoft.com/office/drawing/2014/main" id="{3FC13FAF-6510-0864-7574-122F65B2E7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48674" y="4016936"/>
            <a:ext cx="645394" cy="645394"/>
          </a:xfrm>
          <a:prstGeom prst="rect">
            <a:avLst/>
          </a:prstGeom>
        </p:spPr>
      </p:pic>
      <p:pic>
        <p:nvPicPr>
          <p:cNvPr id="49" name="Elemento grafico 48" descr="Lavoratore edile contorno">
            <a:extLst>
              <a:ext uri="{FF2B5EF4-FFF2-40B4-BE49-F238E27FC236}">
                <a16:creationId xmlns:a16="http://schemas.microsoft.com/office/drawing/2014/main" id="{4D6F1849-7706-60AA-2D32-3E672EE7FD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3040" y="3081044"/>
            <a:ext cx="803716" cy="803716"/>
          </a:xfrm>
          <a:prstGeom prst="rect">
            <a:avLst/>
          </a:prstGeom>
        </p:spPr>
      </p:pic>
      <p:pic>
        <p:nvPicPr>
          <p:cNvPr id="52" name="Elemento grafico 51" descr="Impiegato contorno">
            <a:extLst>
              <a:ext uri="{FF2B5EF4-FFF2-40B4-BE49-F238E27FC236}">
                <a16:creationId xmlns:a16="http://schemas.microsoft.com/office/drawing/2014/main" id="{67E651A4-F3FF-B94D-6F8D-FC0C4681D6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16742" y="3135358"/>
            <a:ext cx="709258" cy="709258"/>
          </a:xfrm>
          <a:prstGeom prst="rect">
            <a:avLst/>
          </a:prstGeom>
        </p:spPr>
      </p:pic>
      <p:cxnSp>
        <p:nvCxnSpPr>
          <p:cNvPr id="53" name="Straight Connector 12">
            <a:extLst>
              <a:ext uri="{FF2B5EF4-FFF2-40B4-BE49-F238E27FC236}">
                <a16:creationId xmlns:a16="http://schemas.microsoft.com/office/drawing/2014/main" id="{9880328D-0904-71BC-E033-BBFBE028ECD9}"/>
              </a:ext>
            </a:extLst>
          </p:cNvPr>
          <p:cNvCxnSpPr>
            <a:cxnSpLocks/>
          </p:cNvCxnSpPr>
          <p:nvPr/>
        </p:nvCxnSpPr>
        <p:spPr>
          <a:xfrm>
            <a:off x="1142836" y="2857500"/>
            <a:ext cx="0" cy="735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12">
            <a:extLst>
              <a:ext uri="{FF2B5EF4-FFF2-40B4-BE49-F238E27FC236}">
                <a16:creationId xmlns:a16="http://schemas.microsoft.com/office/drawing/2014/main" id="{0F38A192-F785-417B-7714-54452C52BB4D}"/>
              </a:ext>
            </a:extLst>
          </p:cNvPr>
          <p:cNvCxnSpPr>
            <a:cxnSpLocks/>
          </p:cNvCxnSpPr>
          <p:nvPr/>
        </p:nvCxnSpPr>
        <p:spPr>
          <a:xfrm>
            <a:off x="1142836" y="3580289"/>
            <a:ext cx="0" cy="7690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24">
            <a:extLst>
              <a:ext uri="{FF2B5EF4-FFF2-40B4-BE49-F238E27FC236}">
                <a16:creationId xmlns:a16="http://schemas.microsoft.com/office/drawing/2014/main" id="{ECFB06F3-7E06-B4FA-EE0B-F98BCBAB9310}"/>
              </a:ext>
            </a:extLst>
          </p:cNvPr>
          <p:cNvCxnSpPr>
            <a:cxnSpLocks/>
          </p:cNvCxnSpPr>
          <p:nvPr/>
        </p:nvCxnSpPr>
        <p:spPr>
          <a:xfrm>
            <a:off x="1142836" y="35933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4">
            <a:extLst>
              <a:ext uri="{FF2B5EF4-FFF2-40B4-BE49-F238E27FC236}">
                <a16:creationId xmlns:a16="http://schemas.microsoft.com/office/drawing/2014/main" id="{41911487-4982-510A-1F46-901A3AFFBD44}"/>
              </a:ext>
            </a:extLst>
          </p:cNvPr>
          <p:cNvCxnSpPr>
            <a:cxnSpLocks/>
          </p:cNvCxnSpPr>
          <p:nvPr/>
        </p:nvCxnSpPr>
        <p:spPr>
          <a:xfrm>
            <a:off x="1142836" y="434934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5">
            <a:extLst>
              <a:ext uri="{FF2B5EF4-FFF2-40B4-BE49-F238E27FC236}">
                <a16:creationId xmlns:a16="http://schemas.microsoft.com/office/drawing/2014/main" id="{0315A060-27D7-65EC-ADBC-D5BC10D15D46}"/>
              </a:ext>
            </a:extLst>
          </p:cNvPr>
          <p:cNvCxnSpPr>
            <a:cxnSpLocks/>
          </p:cNvCxnSpPr>
          <p:nvPr/>
        </p:nvCxnSpPr>
        <p:spPr>
          <a:xfrm>
            <a:off x="5976393" y="226163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24">
            <a:extLst>
              <a:ext uri="{FF2B5EF4-FFF2-40B4-BE49-F238E27FC236}">
                <a16:creationId xmlns:a16="http://schemas.microsoft.com/office/drawing/2014/main" id="{277496D8-BEB7-061D-C2E0-C2BD34B2D93A}"/>
              </a:ext>
            </a:extLst>
          </p:cNvPr>
          <p:cNvCxnSpPr>
            <a:cxnSpLocks/>
          </p:cNvCxnSpPr>
          <p:nvPr/>
        </p:nvCxnSpPr>
        <p:spPr>
          <a:xfrm>
            <a:off x="7010236" y="3640305"/>
            <a:ext cx="1193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24">
            <a:extLst>
              <a:ext uri="{FF2B5EF4-FFF2-40B4-BE49-F238E27FC236}">
                <a16:creationId xmlns:a16="http://schemas.microsoft.com/office/drawing/2014/main" id="{439E9352-4D9E-3E69-30EF-6BF2AE207D0C}"/>
              </a:ext>
            </a:extLst>
          </p:cNvPr>
          <p:cNvCxnSpPr>
            <a:cxnSpLocks/>
          </p:cNvCxnSpPr>
          <p:nvPr/>
        </p:nvCxnSpPr>
        <p:spPr>
          <a:xfrm>
            <a:off x="7010236" y="4404720"/>
            <a:ext cx="12439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12">
            <a:extLst>
              <a:ext uri="{FF2B5EF4-FFF2-40B4-BE49-F238E27FC236}">
                <a16:creationId xmlns:a16="http://schemas.microsoft.com/office/drawing/2014/main" id="{7241844A-B968-B508-843A-C420069631B0}"/>
              </a:ext>
            </a:extLst>
          </p:cNvPr>
          <p:cNvCxnSpPr>
            <a:cxnSpLocks/>
          </p:cNvCxnSpPr>
          <p:nvPr/>
        </p:nvCxnSpPr>
        <p:spPr>
          <a:xfrm>
            <a:off x="7010236" y="2857500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12">
            <a:extLst>
              <a:ext uri="{FF2B5EF4-FFF2-40B4-BE49-F238E27FC236}">
                <a16:creationId xmlns:a16="http://schemas.microsoft.com/office/drawing/2014/main" id="{9BF18DA5-F01E-B42D-DEE5-3F8658DF1CEA}"/>
              </a:ext>
            </a:extLst>
          </p:cNvPr>
          <p:cNvCxnSpPr>
            <a:cxnSpLocks/>
          </p:cNvCxnSpPr>
          <p:nvPr/>
        </p:nvCxnSpPr>
        <p:spPr>
          <a:xfrm>
            <a:off x="7010236" y="3621915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24">
            <a:extLst>
              <a:ext uri="{FF2B5EF4-FFF2-40B4-BE49-F238E27FC236}">
                <a16:creationId xmlns:a16="http://schemas.microsoft.com/office/drawing/2014/main" id="{DFA4D001-EC15-902D-D247-318404C2B61D}"/>
              </a:ext>
            </a:extLst>
          </p:cNvPr>
          <p:cNvCxnSpPr>
            <a:cxnSpLocks/>
          </p:cNvCxnSpPr>
          <p:nvPr/>
        </p:nvCxnSpPr>
        <p:spPr>
          <a:xfrm>
            <a:off x="7010236" y="5205955"/>
            <a:ext cx="12439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12">
            <a:extLst>
              <a:ext uri="{FF2B5EF4-FFF2-40B4-BE49-F238E27FC236}">
                <a16:creationId xmlns:a16="http://schemas.microsoft.com/office/drawing/2014/main" id="{11B7AAA5-ACC9-6A70-90CA-C4252F981FFC}"/>
              </a:ext>
            </a:extLst>
          </p:cNvPr>
          <p:cNvCxnSpPr>
            <a:cxnSpLocks/>
          </p:cNvCxnSpPr>
          <p:nvPr/>
        </p:nvCxnSpPr>
        <p:spPr>
          <a:xfrm>
            <a:off x="7010072" y="4418742"/>
            <a:ext cx="0" cy="782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Elemento grafico 74" descr="Prestito contorno">
            <a:extLst>
              <a:ext uri="{FF2B5EF4-FFF2-40B4-BE49-F238E27FC236}">
                <a16:creationId xmlns:a16="http://schemas.microsoft.com/office/drawing/2014/main" id="{920CE0DF-B1C3-62F9-965A-6AF85195BD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8782" y="4026644"/>
            <a:ext cx="645394" cy="645394"/>
          </a:xfrm>
          <a:prstGeom prst="rect">
            <a:avLst/>
          </a:prstGeom>
        </p:spPr>
      </p:pic>
      <p:pic>
        <p:nvPicPr>
          <p:cNvPr id="76" name="Elemento grafico 75" descr="Segno di spunta con riempimento a tinta unita">
            <a:extLst>
              <a:ext uri="{FF2B5EF4-FFF2-40B4-BE49-F238E27FC236}">
                <a16:creationId xmlns:a16="http://schemas.microsoft.com/office/drawing/2014/main" id="{CF8BE0EF-F614-9352-324B-8C8FC3D41C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10160" y="4148368"/>
            <a:ext cx="434709" cy="43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43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6478195" y="2431617"/>
            <a:ext cx="442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1081865" y="2486824"/>
            <a:ext cx="3706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-6475390" y="4152085"/>
            <a:ext cx="6172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1. Total number of curricular units approved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B8C4438A-205E-8681-A398-887C9AFF0045}"/>
              </a:ext>
            </a:extLst>
          </p:cNvPr>
          <p:cNvSpPr txBox="1"/>
          <p:nvPr/>
        </p:nvSpPr>
        <p:spPr>
          <a:xfrm>
            <a:off x="-76267" y="1821533"/>
            <a:ext cx="3706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Georgia" panose="02040502050405020303" pitchFamily="18" charset="0"/>
              </a:rPr>
              <a:t>After grouping student’s in to: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BF77E123-995A-B184-160D-F632B400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287849" y="811325"/>
            <a:ext cx="576648" cy="5281725"/>
          </a:xfrm>
          <a:prstGeom prst="rect">
            <a:avLst/>
          </a:prstGeom>
        </p:spPr>
      </p:pic>
      <p:pic>
        <p:nvPicPr>
          <p:cNvPr id="29" name="Elemento grafico 28" descr="Soldi volanti contorno">
            <a:extLst>
              <a:ext uri="{FF2B5EF4-FFF2-40B4-BE49-F238E27FC236}">
                <a16:creationId xmlns:a16="http://schemas.microsoft.com/office/drawing/2014/main" id="{6B16525C-4347-74D6-08DC-EE295D759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6116" y="2364452"/>
            <a:ext cx="596650" cy="596650"/>
          </a:xfrm>
          <a:prstGeom prst="rect">
            <a:avLst/>
          </a:prstGeom>
        </p:spPr>
      </p:pic>
      <p:pic>
        <p:nvPicPr>
          <p:cNvPr id="34" name="Elemento grafico 33" descr="Soldi volanti contorno">
            <a:extLst>
              <a:ext uri="{FF2B5EF4-FFF2-40B4-BE49-F238E27FC236}">
                <a16:creationId xmlns:a16="http://schemas.microsoft.com/office/drawing/2014/main" id="{A9BAC014-6F16-C928-0928-61F4BB1CB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9775" y="2341792"/>
            <a:ext cx="596651" cy="59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08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6478195" y="2431617"/>
            <a:ext cx="442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1081865" y="2486824"/>
            <a:ext cx="3706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2935310" y="4012385"/>
            <a:ext cx="6172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1. Total number of curricular units approved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5AD9B5B-80D9-086A-C56A-BF351C5FC5E3}"/>
              </a:ext>
            </a:extLst>
          </p:cNvPr>
          <p:cNvSpPr txBox="1"/>
          <p:nvPr/>
        </p:nvSpPr>
        <p:spPr>
          <a:xfrm>
            <a:off x="11353800" y="4753837"/>
            <a:ext cx="5833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2. Second semester grade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B8C4438A-205E-8681-A398-887C9AFF0045}"/>
              </a:ext>
            </a:extLst>
          </p:cNvPr>
          <p:cNvSpPr txBox="1"/>
          <p:nvPr/>
        </p:nvSpPr>
        <p:spPr>
          <a:xfrm>
            <a:off x="-76267" y="1821533"/>
            <a:ext cx="3706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Georgia" panose="02040502050405020303" pitchFamily="18" charset="0"/>
              </a:rPr>
              <a:t>After grouping student’s in to: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BF77E123-995A-B184-160D-F632B400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287849" y="811325"/>
            <a:ext cx="576648" cy="5281725"/>
          </a:xfrm>
          <a:prstGeom prst="rect">
            <a:avLst/>
          </a:prstGeom>
        </p:spPr>
      </p:pic>
      <p:pic>
        <p:nvPicPr>
          <p:cNvPr id="29" name="Elemento grafico 28" descr="Soldi volanti contorno">
            <a:extLst>
              <a:ext uri="{FF2B5EF4-FFF2-40B4-BE49-F238E27FC236}">
                <a16:creationId xmlns:a16="http://schemas.microsoft.com/office/drawing/2014/main" id="{6B16525C-4347-74D6-08DC-EE295D759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6116" y="2364452"/>
            <a:ext cx="596650" cy="596650"/>
          </a:xfrm>
          <a:prstGeom prst="rect">
            <a:avLst/>
          </a:prstGeom>
        </p:spPr>
      </p:pic>
      <p:pic>
        <p:nvPicPr>
          <p:cNvPr id="34" name="Elemento grafico 33" descr="Soldi volanti contorno">
            <a:extLst>
              <a:ext uri="{FF2B5EF4-FFF2-40B4-BE49-F238E27FC236}">
                <a16:creationId xmlns:a16="http://schemas.microsoft.com/office/drawing/2014/main" id="{A9BAC014-6F16-C928-0928-61F4BB1CB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9775" y="2341792"/>
            <a:ext cx="596651" cy="59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69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6478195" y="2431617"/>
            <a:ext cx="442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1081865" y="2486824"/>
            <a:ext cx="3706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2935310" y="4012385"/>
            <a:ext cx="6172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1. Total number of curricular units approved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5AD9B5B-80D9-086A-C56A-BF351C5FC5E3}"/>
              </a:ext>
            </a:extLst>
          </p:cNvPr>
          <p:cNvSpPr txBox="1"/>
          <p:nvPr/>
        </p:nvSpPr>
        <p:spPr>
          <a:xfrm>
            <a:off x="1826260" y="4668776"/>
            <a:ext cx="5833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2. Second semester grade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8" name="TextBox 1">
            <a:extLst>
              <a:ext uri="{FF2B5EF4-FFF2-40B4-BE49-F238E27FC236}">
                <a16:creationId xmlns:a16="http://schemas.microsoft.com/office/drawing/2014/main" id="{F70E7D95-3720-ACF4-A736-DE4524C9ADE2}"/>
              </a:ext>
            </a:extLst>
          </p:cNvPr>
          <p:cNvSpPr txBox="1"/>
          <p:nvPr/>
        </p:nvSpPr>
        <p:spPr>
          <a:xfrm>
            <a:off x="-4200084" y="5342353"/>
            <a:ext cx="5833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3. Dropout rate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B8C4438A-205E-8681-A398-887C9AFF0045}"/>
              </a:ext>
            </a:extLst>
          </p:cNvPr>
          <p:cNvSpPr txBox="1"/>
          <p:nvPr/>
        </p:nvSpPr>
        <p:spPr>
          <a:xfrm>
            <a:off x="-76267" y="1821533"/>
            <a:ext cx="3706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Georgia" panose="02040502050405020303" pitchFamily="18" charset="0"/>
              </a:rPr>
              <a:t>After grouping student’s in to: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BF77E123-995A-B184-160D-F632B400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287849" y="811325"/>
            <a:ext cx="576648" cy="5281725"/>
          </a:xfrm>
          <a:prstGeom prst="rect">
            <a:avLst/>
          </a:prstGeom>
        </p:spPr>
      </p:pic>
      <p:pic>
        <p:nvPicPr>
          <p:cNvPr id="29" name="Elemento grafico 28" descr="Soldi volanti contorno">
            <a:extLst>
              <a:ext uri="{FF2B5EF4-FFF2-40B4-BE49-F238E27FC236}">
                <a16:creationId xmlns:a16="http://schemas.microsoft.com/office/drawing/2014/main" id="{6B16525C-4347-74D6-08DC-EE295D759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6116" y="2364452"/>
            <a:ext cx="596650" cy="596650"/>
          </a:xfrm>
          <a:prstGeom prst="rect">
            <a:avLst/>
          </a:prstGeom>
        </p:spPr>
      </p:pic>
      <p:pic>
        <p:nvPicPr>
          <p:cNvPr id="34" name="Elemento grafico 33" descr="Soldi volanti contorno">
            <a:extLst>
              <a:ext uri="{FF2B5EF4-FFF2-40B4-BE49-F238E27FC236}">
                <a16:creationId xmlns:a16="http://schemas.microsoft.com/office/drawing/2014/main" id="{A9BAC014-6F16-C928-0928-61F4BB1CB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9775" y="2341792"/>
            <a:ext cx="596651" cy="59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50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6478195" y="2431617"/>
            <a:ext cx="442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1081865" y="2486824"/>
            <a:ext cx="3706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D480CB63-5532-FFDF-9E02-3D164E48C319}"/>
              </a:ext>
            </a:extLst>
          </p:cNvPr>
          <p:cNvSpPr txBox="1"/>
          <p:nvPr/>
        </p:nvSpPr>
        <p:spPr>
          <a:xfrm>
            <a:off x="2935310" y="4012385"/>
            <a:ext cx="6172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1. Total number of curricular units approved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D5AD9B5B-80D9-086A-C56A-BF351C5FC5E3}"/>
              </a:ext>
            </a:extLst>
          </p:cNvPr>
          <p:cNvSpPr txBox="1"/>
          <p:nvPr/>
        </p:nvSpPr>
        <p:spPr>
          <a:xfrm>
            <a:off x="1826260" y="4668776"/>
            <a:ext cx="5833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2. Second semester grade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8" name="TextBox 1">
            <a:extLst>
              <a:ext uri="{FF2B5EF4-FFF2-40B4-BE49-F238E27FC236}">
                <a16:creationId xmlns:a16="http://schemas.microsoft.com/office/drawing/2014/main" id="{F70E7D95-3720-ACF4-A736-DE4524C9ADE2}"/>
              </a:ext>
            </a:extLst>
          </p:cNvPr>
          <p:cNvSpPr txBox="1"/>
          <p:nvPr/>
        </p:nvSpPr>
        <p:spPr>
          <a:xfrm>
            <a:off x="1201255" y="5250591"/>
            <a:ext cx="5833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3. Dropout rate</a:t>
            </a:r>
            <a:endParaRPr lang="en-US" sz="2000" dirty="0">
              <a:latin typeface="Georgia" panose="02040502050405020303" pitchFamily="18" charset="0"/>
            </a:endParaRP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B8C4438A-205E-8681-A398-887C9AFF0045}"/>
              </a:ext>
            </a:extLst>
          </p:cNvPr>
          <p:cNvSpPr txBox="1"/>
          <p:nvPr/>
        </p:nvSpPr>
        <p:spPr>
          <a:xfrm>
            <a:off x="-76267" y="1821533"/>
            <a:ext cx="3706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Georgia" panose="02040502050405020303" pitchFamily="18" charset="0"/>
              </a:rPr>
              <a:t>After grouping student’s in to: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BF77E123-995A-B184-160D-F632B400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287849" y="811325"/>
            <a:ext cx="576648" cy="5281725"/>
          </a:xfrm>
          <a:prstGeom prst="rect">
            <a:avLst/>
          </a:prstGeom>
        </p:spPr>
      </p:pic>
      <p:pic>
        <p:nvPicPr>
          <p:cNvPr id="29" name="Elemento grafico 28" descr="Soldi volanti contorno">
            <a:extLst>
              <a:ext uri="{FF2B5EF4-FFF2-40B4-BE49-F238E27FC236}">
                <a16:creationId xmlns:a16="http://schemas.microsoft.com/office/drawing/2014/main" id="{6B16525C-4347-74D6-08DC-EE295D759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6116" y="2364452"/>
            <a:ext cx="596650" cy="596650"/>
          </a:xfrm>
          <a:prstGeom prst="rect">
            <a:avLst/>
          </a:prstGeom>
        </p:spPr>
      </p:pic>
      <p:pic>
        <p:nvPicPr>
          <p:cNvPr id="34" name="Elemento grafico 33" descr="Soldi volanti contorno">
            <a:extLst>
              <a:ext uri="{FF2B5EF4-FFF2-40B4-BE49-F238E27FC236}">
                <a16:creationId xmlns:a16="http://schemas.microsoft.com/office/drawing/2014/main" id="{A9BAC014-6F16-C928-0928-61F4BB1CBA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9775" y="2341792"/>
            <a:ext cx="596651" cy="59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05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12670944" y="-675299"/>
            <a:ext cx="442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6531186" y="7015875"/>
            <a:ext cx="5317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Students from wealthy families have an average second-semester grade that is </a:t>
            </a:r>
            <a:r>
              <a:rPr lang="en-US" sz="2000" b="1" dirty="0">
                <a:latin typeface="Georgia" panose="02040502050405020303" pitchFamily="18" charset="0"/>
              </a:rPr>
              <a:t>28%</a:t>
            </a:r>
            <a:r>
              <a:rPr lang="en-US" sz="2000" dirty="0">
                <a:latin typeface="Georgia" panose="02040502050405020303" pitchFamily="18" charset="0"/>
              </a:rPr>
              <a:t> higher compared to students from non-wealthy families</a:t>
            </a:r>
            <a:r>
              <a:rPr lang="en-US" sz="2000" dirty="0"/>
              <a:t>.</a:t>
            </a:r>
            <a:endParaRPr lang="en-US" sz="2000" b="1" dirty="0">
              <a:latin typeface="Georgia" panose="02040502050405020303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848836B-2C85-30AB-DAF3-B1ABCDD1A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61" y="2199248"/>
            <a:ext cx="5759013" cy="303716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E47240D-A875-3EE2-ACC9-24F20BA24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517391"/>
            <a:ext cx="5478374" cy="2584763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D5180CF5-105A-62C1-DE2E-D9541F35ABB8}"/>
              </a:ext>
            </a:extLst>
          </p:cNvPr>
          <p:cNvSpPr txBox="1"/>
          <p:nvPr/>
        </p:nvSpPr>
        <p:spPr>
          <a:xfrm>
            <a:off x="55742" y="1678271"/>
            <a:ext cx="7043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SECOND SEMESTER GRADE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32341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12670944" y="-675299"/>
            <a:ext cx="442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6622318" y="2862975"/>
            <a:ext cx="5317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Students from wealthy families have an average second-semester grade that is </a:t>
            </a:r>
            <a:r>
              <a:rPr lang="en-US" sz="2000" b="1" dirty="0">
                <a:latin typeface="Georgia" panose="02040502050405020303" pitchFamily="18" charset="0"/>
              </a:rPr>
              <a:t>28%</a:t>
            </a:r>
            <a:r>
              <a:rPr lang="en-US" sz="2000" dirty="0">
                <a:latin typeface="Georgia" panose="02040502050405020303" pitchFamily="18" charset="0"/>
              </a:rPr>
              <a:t> higher compared to students from non-wealthy families</a:t>
            </a:r>
            <a:r>
              <a:rPr lang="en-US" sz="2000" dirty="0"/>
              <a:t>.</a:t>
            </a:r>
            <a:endParaRPr lang="en-US" sz="2000" b="1" dirty="0">
              <a:latin typeface="Georgia" panose="02040502050405020303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848836B-2C85-30AB-DAF3-B1ABCDD1A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61" y="2199248"/>
            <a:ext cx="5759013" cy="303716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E47240D-A875-3EE2-ACC9-24F20BA24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7517391"/>
            <a:ext cx="5478374" cy="2584763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D5180CF5-105A-62C1-DE2E-D9541F35ABB8}"/>
              </a:ext>
            </a:extLst>
          </p:cNvPr>
          <p:cNvSpPr txBox="1"/>
          <p:nvPr/>
        </p:nvSpPr>
        <p:spPr>
          <a:xfrm>
            <a:off x="55742" y="1678271"/>
            <a:ext cx="70432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SECOND SEMESTER GRADE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17888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722D92CA-6A09-DF6D-D59D-D692EF93BB6C}"/>
              </a:ext>
            </a:extLst>
          </p:cNvPr>
          <p:cNvSpPr txBox="1"/>
          <p:nvPr/>
        </p:nvSpPr>
        <p:spPr>
          <a:xfrm>
            <a:off x="12670944" y="-675299"/>
            <a:ext cx="4424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6658724" y="7006163"/>
            <a:ext cx="5569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The average number of approved units for students from wealthy families is </a:t>
            </a:r>
            <a:r>
              <a:rPr lang="en-US" sz="2000" b="1" dirty="0">
                <a:latin typeface="Georgia" panose="02040502050405020303" pitchFamily="18" charset="0"/>
              </a:rPr>
              <a:t>34% higher </a:t>
            </a:r>
            <a:r>
              <a:rPr lang="en-US" sz="2000" dirty="0">
                <a:latin typeface="Georgia" panose="02040502050405020303" pitchFamily="18" charset="0"/>
              </a:rPr>
              <a:t>compared to students from non-wealthy families.</a:t>
            </a:r>
            <a:endParaRPr lang="en-US" sz="2000" b="1" dirty="0">
              <a:latin typeface="Georgia" panose="02040502050405020303" pitchFamily="18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E47240D-A875-3EE2-ACC9-24F20BA2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11" y="2379478"/>
            <a:ext cx="6181607" cy="3110936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D5180CF5-105A-62C1-DE2E-D9541F35ABB8}"/>
              </a:ext>
            </a:extLst>
          </p:cNvPr>
          <p:cNvSpPr txBox="1"/>
          <p:nvPr/>
        </p:nvSpPr>
        <p:spPr>
          <a:xfrm>
            <a:off x="55742" y="1678271"/>
            <a:ext cx="7043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TOTAL NUMBER OF CURRICULAR UNITS APPROVED DISTRIBUTION</a:t>
            </a:r>
          </a:p>
        </p:txBody>
      </p:sp>
    </p:spTree>
    <p:extLst>
      <p:ext uri="{BB962C8B-B14F-4D97-AF65-F5344CB8AC3E}">
        <p14:creationId xmlns:p14="http://schemas.microsoft.com/office/powerpoint/2010/main" val="855696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0152C4-9960-2E2A-9410-4119CD1957E5}"/>
              </a:ext>
            </a:extLst>
          </p:cNvPr>
          <p:cNvSpPr txBox="1"/>
          <p:nvPr/>
        </p:nvSpPr>
        <p:spPr>
          <a:xfrm>
            <a:off x="6531186" y="2650063"/>
            <a:ext cx="5569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The average number of approved units for students from wealthy families is </a:t>
            </a:r>
            <a:r>
              <a:rPr lang="en-US" sz="2000" b="1" dirty="0">
                <a:latin typeface="Georgia" panose="02040502050405020303" pitchFamily="18" charset="0"/>
              </a:rPr>
              <a:t>34% higher </a:t>
            </a:r>
            <a:r>
              <a:rPr lang="en-US" sz="2000" dirty="0">
                <a:latin typeface="Georgia" panose="02040502050405020303" pitchFamily="18" charset="0"/>
              </a:rPr>
              <a:t>compared to students from non-wealthy families.</a:t>
            </a:r>
            <a:endParaRPr lang="en-US" sz="2000" b="1" dirty="0">
              <a:latin typeface="Georgia" panose="02040502050405020303" pitchFamily="18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E47240D-A875-3EE2-ACC9-24F20BA2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11" y="2379478"/>
            <a:ext cx="6181607" cy="3110936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D5180CF5-105A-62C1-DE2E-D9541F35ABB8}"/>
              </a:ext>
            </a:extLst>
          </p:cNvPr>
          <p:cNvSpPr txBox="1"/>
          <p:nvPr/>
        </p:nvSpPr>
        <p:spPr>
          <a:xfrm>
            <a:off x="55742" y="1678271"/>
            <a:ext cx="7043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TOTAL NUMBER OF CURRICULAR UNITS APPROVED DISTRIBUTION</a:t>
            </a:r>
          </a:p>
        </p:txBody>
      </p:sp>
    </p:spTree>
    <p:extLst>
      <p:ext uri="{BB962C8B-B14F-4D97-AF65-F5344CB8AC3E}">
        <p14:creationId xmlns:p14="http://schemas.microsoft.com/office/powerpoint/2010/main" val="2777756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6128793" y="229182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259714" y="2180204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6683374" y="206158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DF42883-A61C-FB06-02BA-F2CC94D39DF8}"/>
              </a:ext>
            </a:extLst>
          </p:cNvPr>
          <p:cNvSpPr txBox="1"/>
          <p:nvPr/>
        </p:nvSpPr>
        <p:spPr>
          <a:xfrm>
            <a:off x="-4551650" y="3028890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8578E2DF-D2C2-E046-7A2C-30FB27FFC18D}"/>
              </a:ext>
            </a:extLst>
          </p:cNvPr>
          <p:cNvSpPr txBox="1"/>
          <p:nvPr/>
        </p:nvSpPr>
        <p:spPr>
          <a:xfrm>
            <a:off x="-4125465" y="8200175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7119" y="2740246"/>
            <a:ext cx="914400" cy="914400"/>
          </a:xfrm>
          <a:prstGeom prst="rect">
            <a:avLst/>
          </a:prstGeom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62B2C4A2-BAB2-2594-228C-8E400505DC00}"/>
              </a:ext>
            </a:extLst>
          </p:cNvPr>
          <p:cNvSpPr txBox="1"/>
          <p:nvPr/>
        </p:nvSpPr>
        <p:spPr>
          <a:xfrm>
            <a:off x="-4522698" y="2628780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31%</a:t>
            </a: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7E0A1250-5356-C97B-F4C4-C470C4534740}"/>
              </a:ext>
            </a:extLst>
          </p:cNvPr>
          <p:cNvSpPr txBox="1"/>
          <p:nvPr/>
        </p:nvSpPr>
        <p:spPr>
          <a:xfrm>
            <a:off x="-4125465" y="8777325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68%</a:t>
            </a:r>
          </a:p>
        </p:txBody>
      </p:sp>
      <p:cxnSp>
        <p:nvCxnSpPr>
          <p:cNvPr id="18" name="Connector: Curved 4">
            <a:extLst>
              <a:ext uri="{FF2B5EF4-FFF2-40B4-BE49-F238E27FC236}">
                <a16:creationId xmlns:a16="http://schemas.microsoft.com/office/drawing/2014/main" id="{1F507A9C-421A-814A-21D9-D13A1D54228F}"/>
              </a:ext>
            </a:extLst>
          </p:cNvPr>
          <p:cNvCxnSpPr>
            <a:cxnSpLocks/>
          </p:cNvCxnSpPr>
          <p:nvPr/>
        </p:nvCxnSpPr>
        <p:spPr>
          <a:xfrm rot="16200000" flipH="1">
            <a:off x="-985754" y="6389499"/>
            <a:ext cx="1513464" cy="156654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E7C14C40-359D-853B-5B48-A7D553754F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827382" y="3654645"/>
            <a:ext cx="1391396" cy="579170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908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6128793" y="229182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259714" y="2180204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6683374" y="206158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DF42883-A61C-FB06-02BA-F2CC94D39DF8}"/>
              </a:ext>
            </a:extLst>
          </p:cNvPr>
          <p:cNvSpPr txBox="1"/>
          <p:nvPr/>
        </p:nvSpPr>
        <p:spPr>
          <a:xfrm>
            <a:off x="-1131684" y="4255720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8578E2DF-D2C2-E046-7A2C-30FB27FFC18D}"/>
              </a:ext>
            </a:extLst>
          </p:cNvPr>
          <p:cNvSpPr txBox="1"/>
          <p:nvPr/>
        </p:nvSpPr>
        <p:spPr>
          <a:xfrm>
            <a:off x="1826260" y="5168110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7119" y="2740246"/>
            <a:ext cx="914400" cy="914400"/>
          </a:xfrm>
          <a:prstGeom prst="rect">
            <a:avLst/>
          </a:prstGeom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62B2C4A2-BAB2-2594-228C-8E400505DC00}"/>
              </a:ext>
            </a:extLst>
          </p:cNvPr>
          <p:cNvSpPr txBox="1"/>
          <p:nvPr/>
        </p:nvSpPr>
        <p:spPr>
          <a:xfrm>
            <a:off x="-1157045" y="4653900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31%</a:t>
            </a: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7E0A1250-5356-C97B-F4C4-C470C4534740}"/>
              </a:ext>
            </a:extLst>
          </p:cNvPr>
          <p:cNvSpPr txBox="1"/>
          <p:nvPr/>
        </p:nvSpPr>
        <p:spPr>
          <a:xfrm>
            <a:off x="1777179" y="5564360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68%</a:t>
            </a:r>
          </a:p>
        </p:txBody>
      </p:sp>
      <p:cxnSp>
        <p:nvCxnSpPr>
          <p:cNvPr id="18" name="Connector: Curved 4">
            <a:extLst>
              <a:ext uri="{FF2B5EF4-FFF2-40B4-BE49-F238E27FC236}">
                <a16:creationId xmlns:a16="http://schemas.microsoft.com/office/drawing/2014/main" id="{1F507A9C-421A-814A-21D9-D13A1D54228F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rot="16200000" flipH="1">
            <a:off x="2840860" y="3628104"/>
            <a:ext cx="1513464" cy="156654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E7C14C40-359D-853B-5B48-A7D553754FF8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1422922" y="3676550"/>
            <a:ext cx="1391396" cy="579170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710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6128793" y="2291827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259714" y="2180204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6683374" y="206158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DF42883-A61C-FB06-02BA-F2CC94D39DF8}"/>
              </a:ext>
            </a:extLst>
          </p:cNvPr>
          <p:cNvSpPr txBox="1"/>
          <p:nvPr/>
        </p:nvSpPr>
        <p:spPr>
          <a:xfrm>
            <a:off x="-4154284" y="3998822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8578E2DF-D2C2-E046-7A2C-30FB27FFC18D}"/>
              </a:ext>
            </a:extLst>
          </p:cNvPr>
          <p:cNvSpPr txBox="1"/>
          <p:nvPr/>
        </p:nvSpPr>
        <p:spPr>
          <a:xfrm>
            <a:off x="0" y="3998822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86" y="3596602"/>
            <a:ext cx="914400" cy="914400"/>
          </a:xfrm>
          <a:prstGeom prst="rect">
            <a:avLst/>
          </a:prstGeom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62B2C4A2-BAB2-2594-228C-8E400505DC00}"/>
              </a:ext>
            </a:extLst>
          </p:cNvPr>
          <p:cNvSpPr txBox="1"/>
          <p:nvPr/>
        </p:nvSpPr>
        <p:spPr>
          <a:xfrm>
            <a:off x="-4154285" y="4398932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31%</a:t>
            </a: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7E0A1250-5356-C97B-F4C4-C470C4534740}"/>
              </a:ext>
            </a:extLst>
          </p:cNvPr>
          <p:cNvSpPr txBox="1"/>
          <p:nvPr/>
        </p:nvSpPr>
        <p:spPr>
          <a:xfrm>
            <a:off x="1855240" y="3998822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68%</a:t>
            </a:r>
          </a:p>
        </p:txBody>
      </p:sp>
      <p:cxnSp>
        <p:nvCxnSpPr>
          <p:cNvPr id="18" name="Connector: Curved 4">
            <a:extLst>
              <a:ext uri="{FF2B5EF4-FFF2-40B4-BE49-F238E27FC236}">
                <a16:creationId xmlns:a16="http://schemas.microsoft.com/office/drawing/2014/main" id="{1F507A9C-421A-814A-21D9-D13A1D54228F}"/>
              </a:ext>
            </a:extLst>
          </p:cNvPr>
          <p:cNvCxnSpPr>
            <a:cxnSpLocks/>
            <a:endCxn id="12" idx="1"/>
          </p:cNvCxnSpPr>
          <p:nvPr/>
        </p:nvCxnSpPr>
        <p:spPr>
          <a:xfrm rot="5400000" flipH="1" flipV="1">
            <a:off x="4861430" y="2349465"/>
            <a:ext cx="1878994" cy="1764894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E7C14C40-359D-853B-5B48-A7D553754F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599678" y="3278370"/>
            <a:ext cx="1391396" cy="579170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1">
            <a:extLst>
              <a:ext uri="{FF2B5EF4-FFF2-40B4-BE49-F238E27FC236}">
                <a16:creationId xmlns:a16="http://schemas.microsoft.com/office/drawing/2014/main" id="{6EF5DAC5-2F03-B897-245A-116B3BF5A208}"/>
              </a:ext>
            </a:extLst>
          </p:cNvPr>
          <p:cNvSpPr txBox="1"/>
          <p:nvPr/>
        </p:nvSpPr>
        <p:spPr>
          <a:xfrm>
            <a:off x="6601136" y="3724272"/>
            <a:ext cx="5109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What happens to students in this group once they start university?</a:t>
            </a:r>
            <a:endParaRPr lang="en-US" sz="2000" b="1" dirty="0">
              <a:latin typeface="Georgia" panose="02040502050405020303" pitchFamily="18" charset="0"/>
            </a:endParaRPr>
          </a:p>
        </p:txBody>
      </p:sp>
      <p:pic>
        <p:nvPicPr>
          <p:cNvPr id="8" name="Elemento grafico 7" descr="Badge Punto interrogativo contorno">
            <a:extLst>
              <a:ext uri="{FF2B5EF4-FFF2-40B4-BE49-F238E27FC236}">
                <a16:creationId xmlns:a16="http://schemas.microsoft.com/office/drawing/2014/main" id="{5FB24031-6578-6655-5122-9AA2CBDE44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73798" y="2748716"/>
            <a:ext cx="914400" cy="914400"/>
          </a:xfrm>
          <a:prstGeom prst="rect">
            <a:avLst/>
          </a:prstGeom>
        </p:spPr>
      </p:pic>
      <p:pic>
        <p:nvPicPr>
          <p:cNvPr id="10" name="Elemento grafico 9" descr="Aula contorno">
            <a:extLst>
              <a:ext uri="{FF2B5EF4-FFF2-40B4-BE49-F238E27FC236}">
                <a16:creationId xmlns:a16="http://schemas.microsoft.com/office/drawing/2014/main" id="{938FB578-3ACB-6E87-9686-D8F8AFC566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37979" y="27487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03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76E4B5BF-6880-557D-7A33-665A915FA756}"/>
              </a:ext>
            </a:extLst>
          </p:cNvPr>
          <p:cNvSpPr txBox="1"/>
          <p:nvPr/>
        </p:nvSpPr>
        <p:spPr>
          <a:xfrm>
            <a:off x="12301831" y="3296526"/>
            <a:ext cx="49030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Dropout rates are notably higher among students from unqualified families (economically disadvantaged backgrounds) who had to take on debt to afford university education, particularly those who also lacked scholarships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DF42883-A61C-FB06-02BA-F2CC94D39DF8}"/>
              </a:ext>
            </a:extLst>
          </p:cNvPr>
          <p:cNvSpPr txBox="1"/>
          <p:nvPr/>
        </p:nvSpPr>
        <p:spPr>
          <a:xfrm>
            <a:off x="-4140351" y="4266022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8578E2DF-D2C2-E046-7A2C-30FB27FFC18D}"/>
              </a:ext>
            </a:extLst>
          </p:cNvPr>
          <p:cNvSpPr txBox="1"/>
          <p:nvPr/>
        </p:nvSpPr>
        <p:spPr>
          <a:xfrm>
            <a:off x="1826260" y="6938974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80422" y="3808822"/>
            <a:ext cx="914400" cy="914400"/>
          </a:xfrm>
          <a:prstGeom prst="rect">
            <a:avLst/>
          </a:prstGeom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62B2C4A2-BAB2-2594-228C-8E400505DC00}"/>
              </a:ext>
            </a:extLst>
          </p:cNvPr>
          <p:cNvSpPr txBox="1"/>
          <p:nvPr/>
        </p:nvSpPr>
        <p:spPr>
          <a:xfrm>
            <a:off x="-4271011" y="4677074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31%</a:t>
            </a: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7E0A1250-5356-C97B-F4C4-C470C4534740}"/>
              </a:ext>
            </a:extLst>
          </p:cNvPr>
          <p:cNvSpPr txBox="1"/>
          <p:nvPr/>
        </p:nvSpPr>
        <p:spPr>
          <a:xfrm>
            <a:off x="1777179" y="7311780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68%</a:t>
            </a:r>
          </a:p>
        </p:txBody>
      </p:sp>
      <p:cxnSp>
        <p:nvCxnSpPr>
          <p:cNvPr id="18" name="Connector: Curved 4">
            <a:extLst>
              <a:ext uri="{FF2B5EF4-FFF2-40B4-BE49-F238E27FC236}">
                <a16:creationId xmlns:a16="http://schemas.microsoft.com/office/drawing/2014/main" id="{1F507A9C-421A-814A-21D9-D13A1D54228F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614022" y="6023978"/>
            <a:ext cx="1513464" cy="156654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E7C14C40-359D-853B-5B48-A7D553754F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663596" y="3562450"/>
            <a:ext cx="1391396" cy="579170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2">
            <a:extLst>
              <a:ext uri="{FF2B5EF4-FFF2-40B4-BE49-F238E27FC236}">
                <a16:creationId xmlns:a16="http://schemas.microsoft.com/office/drawing/2014/main" id="{8F047897-BF0F-3867-AEA0-A604C0990967}"/>
              </a:ext>
            </a:extLst>
          </p:cNvPr>
          <p:cNvCxnSpPr>
            <a:cxnSpLocks/>
            <a:stCxn id="15" idx="3"/>
            <a:endCxn id="53" idx="1"/>
          </p:cNvCxnSpPr>
          <p:nvPr/>
        </p:nvCxnSpPr>
        <p:spPr>
          <a:xfrm flipV="1">
            <a:off x="4094822" y="4258992"/>
            <a:ext cx="1044980" cy="703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Elemento grafico 50" descr="Prestito contorno">
            <a:extLst>
              <a:ext uri="{FF2B5EF4-FFF2-40B4-BE49-F238E27FC236}">
                <a16:creationId xmlns:a16="http://schemas.microsoft.com/office/drawing/2014/main" id="{0411D5D9-0713-5249-767B-45DCE539D5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4359" y="3844755"/>
            <a:ext cx="914400" cy="914400"/>
          </a:xfrm>
          <a:prstGeom prst="rect">
            <a:avLst/>
          </a:prstGeom>
        </p:spPr>
      </p:pic>
      <p:pic>
        <p:nvPicPr>
          <p:cNvPr id="53" name="Elemento grafico 52" descr="Debito contorno">
            <a:extLst>
              <a:ext uri="{FF2B5EF4-FFF2-40B4-BE49-F238E27FC236}">
                <a16:creationId xmlns:a16="http://schemas.microsoft.com/office/drawing/2014/main" id="{1860464B-C926-2993-BC05-5B72AF939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39802" y="3801792"/>
            <a:ext cx="914400" cy="914400"/>
          </a:xfrm>
          <a:prstGeom prst="rect">
            <a:avLst/>
          </a:prstGeom>
        </p:spPr>
      </p:pic>
      <p:pic>
        <p:nvPicPr>
          <p:cNvPr id="55" name="Elemento grafico 54" descr="Valigetta contorno">
            <a:extLst>
              <a:ext uri="{FF2B5EF4-FFF2-40B4-BE49-F238E27FC236}">
                <a16:creationId xmlns:a16="http://schemas.microsoft.com/office/drawing/2014/main" id="{7E6FEAFD-72D5-CA9C-4FF6-5E31CA95E1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72060" y="3852035"/>
            <a:ext cx="899840" cy="899840"/>
          </a:xfrm>
          <a:prstGeom prst="rect">
            <a:avLst/>
          </a:prstGeom>
        </p:spPr>
      </p:pic>
      <p:pic>
        <p:nvPicPr>
          <p:cNvPr id="57" name="Elemento grafico 56" descr="Banca contorno">
            <a:extLst>
              <a:ext uri="{FF2B5EF4-FFF2-40B4-BE49-F238E27FC236}">
                <a16:creationId xmlns:a16="http://schemas.microsoft.com/office/drawing/2014/main" id="{6012572E-D5AE-5113-21F9-74435B5332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0266" y="3780791"/>
            <a:ext cx="914400" cy="914400"/>
          </a:xfrm>
          <a:prstGeom prst="rect">
            <a:avLst/>
          </a:prstGeom>
        </p:spPr>
      </p:pic>
      <p:cxnSp>
        <p:nvCxnSpPr>
          <p:cNvPr id="61" name="Straight Arrow Connector 2">
            <a:extLst>
              <a:ext uri="{FF2B5EF4-FFF2-40B4-BE49-F238E27FC236}">
                <a16:creationId xmlns:a16="http://schemas.microsoft.com/office/drawing/2014/main" id="{8A1E22E4-3CD7-8B05-F5EA-1B9296C203F5}"/>
              </a:ext>
            </a:extLst>
          </p:cNvPr>
          <p:cNvCxnSpPr>
            <a:cxnSpLocks/>
          </p:cNvCxnSpPr>
          <p:nvPr/>
        </p:nvCxnSpPr>
        <p:spPr>
          <a:xfrm>
            <a:off x="6175586" y="4268445"/>
            <a:ext cx="103164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2">
            <a:extLst>
              <a:ext uri="{FF2B5EF4-FFF2-40B4-BE49-F238E27FC236}">
                <a16:creationId xmlns:a16="http://schemas.microsoft.com/office/drawing/2014/main" id="{A750522D-71CA-7785-F128-EEC71FC30B7C}"/>
              </a:ext>
            </a:extLst>
          </p:cNvPr>
          <p:cNvCxnSpPr>
            <a:cxnSpLocks/>
          </p:cNvCxnSpPr>
          <p:nvPr/>
        </p:nvCxnSpPr>
        <p:spPr>
          <a:xfrm>
            <a:off x="9377680" y="4301955"/>
            <a:ext cx="1031647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Elemento grafico 65" descr="Chiudi con riempimento a tinta unita">
            <a:extLst>
              <a:ext uri="{FF2B5EF4-FFF2-40B4-BE49-F238E27FC236}">
                <a16:creationId xmlns:a16="http://schemas.microsoft.com/office/drawing/2014/main" id="{F7AB66A3-7F7D-59D2-F31A-3EC47C558D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64478" y="3991239"/>
            <a:ext cx="621432" cy="6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59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76E4B5BF-6880-557D-7A33-665A915FA756}"/>
              </a:ext>
            </a:extLst>
          </p:cNvPr>
          <p:cNvSpPr txBox="1"/>
          <p:nvPr/>
        </p:nvSpPr>
        <p:spPr>
          <a:xfrm>
            <a:off x="7190105" y="4261535"/>
            <a:ext cx="4903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Great Financial Pressure 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ADF42883-A61C-FB06-02BA-F2CC94D39DF8}"/>
              </a:ext>
            </a:extLst>
          </p:cNvPr>
          <p:cNvSpPr txBox="1"/>
          <p:nvPr/>
        </p:nvSpPr>
        <p:spPr>
          <a:xfrm>
            <a:off x="-4140351" y="4266022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Wealthy Families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8578E2DF-D2C2-E046-7A2C-30FB27FFC18D}"/>
              </a:ext>
            </a:extLst>
          </p:cNvPr>
          <p:cNvSpPr txBox="1"/>
          <p:nvPr/>
        </p:nvSpPr>
        <p:spPr>
          <a:xfrm>
            <a:off x="1826260" y="6938974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Non-Wealthy Families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3515" y="3771576"/>
            <a:ext cx="914400" cy="914400"/>
          </a:xfrm>
          <a:prstGeom prst="rect">
            <a:avLst/>
          </a:prstGeom>
        </p:spPr>
      </p:pic>
      <p:sp>
        <p:nvSpPr>
          <p:cNvPr id="16" name="TextBox 1">
            <a:extLst>
              <a:ext uri="{FF2B5EF4-FFF2-40B4-BE49-F238E27FC236}">
                <a16:creationId xmlns:a16="http://schemas.microsoft.com/office/drawing/2014/main" id="{62B2C4A2-BAB2-2594-228C-8E400505DC00}"/>
              </a:ext>
            </a:extLst>
          </p:cNvPr>
          <p:cNvSpPr txBox="1"/>
          <p:nvPr/>
        </p:nvSpPr>
        <p:spPr>
          <a:xfrm>
            <a:off x="-4271011" y="4677074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31%</a:t>
            </a:r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7E0A1250-5356-C97B-F4C4-C470C4534740}"/>
              </a:ext>
            </a:extLst>
          </p:cNvPr>
          <p:cNvSpPr txBox="1"/>
          <p:nvPr/>
        </p:nvSpPr>
        <p:spPr>
          <a:xfrm>
            <a:off x="1777179" y="7311780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68%</a:t>
            </a:r>
          </a:p>
        </p:txBody>
      </p:sp>
      <p:cxnSp>
        <p:nvCxnSpPr>
          <p:cNvPr id="18" name="Connector: Curved 4">
            <a:extLst>
              <a:ext uri="{FF2B5EF4-FFF2-40B4-BE49-F238E27FC236}">
                <a16:creationId xmlns:a16="http://schemas.microsoft.com/office/drawing/2014/main" id="{1F507A9C-421A-814A-21D9-D13A1D54228F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614022" y="6023978"/>
            <a:ext cx="1513464" cy="156654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E7C14C40-359D-853B-5B48-A7D553754F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-1663596" y="3562450"/>
            <a:ext cx="1391396" cy="579170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Elemento grafico 50" descr="Prestito contorno">
            <a:extLst>
              <a:ext uri="{FF2B5EF4-FFF2-40B4-BE49-F238E27FC236}">
                <a16:creationId xmlns:a16="http://schemas.microsoft.com/office/drawing/2014/main" id="{0411D5D9-0713-5249-767B-45DCE539D5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8889" y="3890660"/>
            <a:ext cx="717953" cy="717953"/>
          </a:xfrm>
          <a:prstGeom prst="rect">
            <a:avLst/>
          </a:prstGeom>
        </p:spPr>
      </p:pic>
      <p:pic>
        <p:nvPicPr>
          <p:cNvPr id="53" name="Elemento grafico 52" descr="Debito contorno">
            <a:extLst>
              <a:ext uri="{FF2B5EF4-FFF2-40B4-BE49-F238E27FC236}">
                <a16:creationId xmlns:a16="http://schemas.microsoft.com/office/drawing/2014/main" id="{1860464B-C926-2993-BC05-5B72AF939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9462" y="2613164"/>
            <a:ext cx="717952" cy="717952"/>
          </a:xfrm>
          <a:prstGeom prst="rect">
            <a:avLst/>
          </a:prstGeom>
        </p:spPr>
      </p:pic>
      <p:pic>
        <p:nvPicPr>
          <p:cNvPr id="55" name="Elemento grafico 54" descr="Valigetta contorno">
            <a:extLst>
              <a:ext uri="{FF2B5EF4-FFF2-40B4-BE49-F238E27FC236}">
                <a16:creationId xmlns:a16="http://schemas.microsoft.com/office/drawing/2014/main" id="{7E6FEAFD-72D5-CA9C-4FF6-5E31CA95E1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2894" y="5079627"/>
            <a:ext cx="751471" cy="751471"/>
          </a:xfrm>
          <a:prstGeom prst="rect">
            <a:avLst/>
          </a:prstGeom>
        </p:spPr>
      </p:pic>
      <p:pic>
        <p:nvPicPr>
          <p:cNvPr id="57" name="Elemento grafico 56" descr="Banca contorno">
            <a:extLst>
              <a:ext uri="{FF2B5EF4-FFF2-40B4-BE49-F238E27FC236}">
                <a16:creationId xmlns:a16="http://schemas.microsoft.com/office/drawing/2014/main" id="{6012572E-D5AE-5113-21F9-74435B5332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02757" y="3852035"/>
            <a:ext cx="717953" cy="717953"/>
          </a:xfrm>
          <a:prstGeom prst="rect">
            <a:avLst/>
          </a:prstGeom>
        </p:spPr>
      </p:pic>
      <p:cxnSp>
        <p:nvCxnSpPr>
          <p:cNvPr id="62" name="Straight Arrow Connector 2">
            <a:extLst>
              <a:ext uri="{FF2B5EF4-FFF2-40B4-BE49-F238E27FC236}">
                <a16:creationId xmlns:a16="http://schemas.microsoft.com/office/drawing/2014/main" id="{A750522D-71CA-7785-F128-EEC71FC30B7C}"/>
              </a:ext>
            </a:extLst>
          </p:cNvPr>
          <p:cNvCxnSpPr>
            <a:cxnSpLocks/>
          </p:cNvCxnSpPr>
          <p:nvPr/>
        </p:nvCxnSpPr>
        <p:spPr>
          <a:xfrm>
            <a:off x="3904095" y="4292520"/>
            <a:ext cx="629805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Elemento grafico 65" descr="Chiudi con riempimento a tinta unita">
            <a:extLst>
              <a:ext uri="{FF2B5EF4-FFF2-40B4-BE49-F238E27FC236}">
                <a16:creationId xmlns:a16="http://schemas.microsoft.com/office/drawing/2014/main" id="{F7AB66A3-7F7D-59D2-F31A-3EC47C558D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69779" y="5144646"/>
            <a:ext cx="621432" cy="621432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2FC318D7-49DA-9A76-F286-D125C99927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6727636" y="2912805"/>
            <a:ext cx="600498" cy="3106544"/>
          </a:xfrm>
          <a:prstGeom prst="rect">
            <a:avLst/>
          </a:prstGeom>
        </p:spPr>
      </p:pic>
      <p:pic>
        <p:nvPicPr>
          <p:cNvPr id="8" name="Elemento grafico 7" descr="Aggiungere contorno">
            <a:extLst>
              <a:ext uri="{FF2B5EF4-FFF2-40B4-BE49-F238E27FC236}">
                <a16:creationId xmlns:a16="http://schemas.microsoft.com/office/drawing/2014/main" id="{65D64358-A989-D8F5-221D-1A1CE027D7F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84964" y="3446515"/>
            <a:ext cx="334736" cy="334736"/>
          </a:xfrm>
          <a:prstGeom prst="rect">
            <a:avLst/>
          </a:prstGeom>
        </p:spPr>
      </p:pic>
      <p:pic>
        <p:nvPicPr>
          <p:cNvPr id="11" name="Elemento grafico 10" descr="Aggiungere contorno">
            <a:extLst>
              <a:ext uri="{FF2B5EF4-FFF2-40B4-BE49-F238E27FC236}">
                <a16:creationId xmlns:a16="http://schemas.microsoft.com/office/drawing/2014/main" id="{8F1DD824-6059-4F9E-9EF3-9A348CFAC45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1070" y="4754300"/>
            <a:ext cx="334736" cy="334736"/>
          </a:xfrm>
          <a:prstGeom prst="rect">
            <a:avLst/>
          </a:prstGeom>
        </p:spPr>
      </p:pic>
      <p:pic>
        <p:nvPicPr>
          <p:cNvPr id="22" name="Elemento grafico 21" descr="Avviso contorno">
            <a:extLst>
              <a:ext uri="{FF2B5EF4-FFF2-40B4-BE49-F238E27FC236}">
                <a16:creationId xmlns:a16="http://schemas.microsoft.com/office/drawing/2014/main" id="{F90C966A-5A85-EDE8-B1E3-50B90FA1914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469296" y="3942948"/>
            <a:ext cx="718697" cy="718697"/>
          </a:xfrm>
          <a:prstGeom prst="rect">
            <a:avLst/>
          </a:prstGeom>
        </p:spPr>
      </p:pic>
      <p:pic>
        <p:nvPicPr>
          <p:cNvPr id="24" name="Elemento grafico 23" descr="Soldi volanti contorno">
            <a:extLst>
              <a:ext uri="{FF2B5EF4-FFF2-40B4-BE49-F238E27FC236}">
                <a16:creationId xmlns:a16="http://schemas.microsoft.com/office/drawing/2014/main" id="{0F533E92-F1B9-4D2F-EF99-D65A034C273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099929" y="3979899"/>
            <a:ext cx="718697" cy="71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44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76E4B5BF-6880-557D-7A33-665A915FA756}"/>
              </a:ext>
            </a:extLst>
          </p:cNvPr>
          <p:cNvSpPr txBox="1"/>
          <p:nvPr/>
        </p:nvSpPr>
        <p:spPr>
          <a:xfrm>
            <a:off x="5204001" y="4112884"/>
            <a:ext cx="3145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Great Financial Pressure 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3515" y="3771576"/>
            <a:ext cx="914400" cy="914400"/>
          </a:xfrm>
          <a:prstGeom prst="rect">
            <a:avLst/>
          </a:prstGeom>
        </p:spPr>
      </p:pic>
      <p:pic>
        <p:nvPicPr>
          <p:cNvPr id="51" name="Elemento grafico 50" descr="Prestito contorno">
            <a:extLst>
              <a:ext uri="{FF2B5EF4-FFF2-40B4-BE49-F238E27FC236}">
                <a16:creationId xmlns:a16="http://schemas.microsoft.com/office/drawing/2014/main" id="{0411D5D9-0713-5249-767B-45DCE539D5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0729" y="7813443"/>
            <a:ext cx="717953" cy="717953"/>
          </a:xfrm>
          <a:prstGeom prst="rect">
            <a:avLst/>
          </a:prstGeom>
        </p:spPr>
      </p:pic>
      <p:pic>
        <p:nvPicPr>
          <p:cNvPr id="53" name="Elemento grafico 52" descr="Debito contorno">
            <a:extLst>
              <a:ext uri="{FF2B5EF4-FFF2-40B4-BE49-F238E27FC236}">
                <a16:creationId xmlns:a16="http://schemas.microsoft.com/office/drawing/2014/main" id="{1860464B-C926-2993-BC05-5B72AF9392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2833" y="7122277"/>
            <a:ext cx="717952" cy="717952"/>
          </a:xfrm>
          <a:prstGeom prst="rect">
            <a:avLst/>
          </a:prstGeom>
        </p:spPr>
      </p:pic>
      <p:pic>
        <p:nvPicPr>
          <p:cNvPr id="55" name="Elemento grafico 54" descr="Valigetta contorno">
            <a:extLst>
              <a:ext uri="{FF2B5EF4-FFF2-40B4-BE49-F238E27FC236}">
                <a16:creationId xmlns:a16="http://schemas.microsoft.com/office/drawing/2014/main" id="{7E6FEAFD-72D5-CA9C-4FF6-5E31CA95E1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18308" y="8546465"/>
            <a:ext cx="751471" cy="751471"/>
          </a:xfrm>
          <a:prstGeom prst="rect">
            <a:avLst/>
          </a:prstGeom>
        </p:spPr>
      </p:pic>
      <p:pic>
        <p:nvPicPr>
          <p:cNvPr id="57" name="Elemento grafico 56" descr="Banca contorno">
            <a:extLst>
              <a:ext uri="{FF2B5EF4-FFF2-40B4-BE49-F238E27FC236}">
                <a16:creationId xmlns:a16="http://schemas.microsoft.com/office/drawing/2014/main" id="{6012572E-D5AE-5113-21F9-74435B5332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60813" y="7798374"/>
            <a:ext cx="717953" cy="717953"/>
          </a:xfrm>
          <a:prstGeom prst="rect">
            <a:avLst/>
          </a:prstGeom>
        </p:spPr>
      </p:pic>
      <p:cxnSp>
        <p:nvCxnSpPr>
          <p:cNvPr id="62" name="Straight Arrow Connector 2">
            <a:extLst>
              <a:ext uri="{FF2B5EF4-FFF2-40B4-BE49-F238E27FC236}">
                <a16:creationId xmlns:a16="http://schemas.microsoft.com/office/drawing/2014/main" id="{A750522D-71CA-7785-F128-EEC71FC30B7C}"/>
              </a:ext>
            </a:extLst>
          </p:cNvPr>
          <p:cNvCxnSpPr>
            <a:cxnSpLocks/>
          </p:cNvCxnSpPr>
          <p:nvPr/>
        </p:nvCxnSpPr>
        <p:spPr>
          <a:xfrm>
            <a:off x="3904095" y="4292520"/>
            <a:ext cx="629805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Elemento grafico 65" descr="Chiudi con riempimento a tinta unita">
            <a:extLst>
              <a:ext uri="{FF2B5EF4-FFF2-40B4-BE49-F238E27FC236}">
                <a16:creationId xmlns:a16="http://schemas.microsoft.com/office/drawing/2014/main" id="{F7AB66A3-7F7D-59D2-F31A-3EC47C558D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903050" y="5146447"/>
            <a:ext cx="621432" cy="621432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2FC318D7-49DA-9A76-F286-D125C99927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0800000">
            <a:off x="-714568" y="2957831"/>
            <a:ext cx="600498" cy="3106544"/>
          </a:xfrm>
          <a:prstGeom prst="rect">
            <a:avLst/>
          </a:prstGeom>
        </p:spPr>
      </p:pic>
      <p:pic>
        <p:nvPicPr>
          <p:cNvPr id="22" name="Elemento grafico 21" descr="Avviso contorno">
            <a:extLst>
              <a:ext uri="{FF2B5EF4-FFF2-40B4-BE49-F238E27FC236}">
                <a16:creationId xmlns:a16="http://schemas.microsoft.com/office/drawing/2014/main" id="{F90C966A-5A85-EDE8-B1E3-50B90FA1914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575346" y="3930309"/>
            <a:ext cx="718697" cy="718697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707F8DF3-1AF4-D461-7FE3-1FAA5FF021CF}"/>
              </a:ext>
            </a:extLst>
          </p:cNvPr>
          <p:cNvSpPr txBox="1"/>
          <p:nvPr/>
        </p:nvSpPr>
        <p:spPr>
          <a:xfrm>
            <a:off x="6776992" y="5121647"/>
            <a:ext cx="3762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54%</a:t>
            </a:r>
            <a:r>
              <a:rPr lang="en-US" sz="2000" dirty="0">
                <a:latin typeface="Georgia" panose="02040502050405020303" pitchFamily="18" charset="0"/>
              </a:rPr>
              <a:t> probability of falling behind on tuition fees</a:t>
            </a:r>
          </a:p>
        </p:txBody>
      </p:sp>
      <p:pic>
        <p:nvPicPr>
          <p:cNvPr id="9" name="Elemento grafico 8" descr="Orologio contorno">
            <a:extLst>
              <a:ext uri="{FF2B5EF4-FFF2-40B4-BE49-F238E27FC236}">
                <a16:creationId xmlns:a16="http://schemas.microsoft.com/office/drawing/2014/main" id="{1F683C04-7119-1E93-2F17-41E4DAE971D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59119" y="5103625"/>
            <a:ext cx="743931" cy="743931"/>
          </a:xfrm>
          <a:prstGeom prst="rect">
            <a:avLst/>
          </a:prstGeom>
        </p:spPr>
      </p:pic>
      <p:cxnSp>
        <p:nvCxnSpPr>
          <p:cNvPr id="20" name="Connector: Curved 4">
            <a:extLst>
              <a:ext uri="{FF2B5EF4-FFF2-40B4-BE49-F238E27FC236}">
                <a16:creationId xmlns:a16="http://schemas.microsoft.com/office/drawing/2014/main" id="{9A29C2F1-3654-9AFF-504C-3935B9542BDF}"/>
              </a:ext>
            </a:extLst>
          </p:cNvPr>
          <p:cNvCxnSpPr>
            <a:cxnSpLocks/>
            <a:stCxn id="10" idx="3"/>
            <a:endCxn id="5" idx="0"/>
          </p:cNvCxnSpPr>
          <p:nvPr/>
        </p:nvCxnSpPr>
        <p:spPr>
          <a:xfrm>
            <a:off x="8349982" y="4312939"/>
            <a:ext cx="308394" cy="808708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597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829" y="3707003"/>
            <a:ext cx="914400" cy="914400"/>
          </a:xfrm>
          <a:prstGeom prst="rect">
            <a:avLst/>
          </a:prstGeom>
        </p:spPr>
      </p:pic>
      <p:cxnSp>
        <p:nvCxnSpPr>
          <p:cNvPr id="62" name="Straight Arrow Connector 2">
            <a:extLst>
              <a:ext uri="{FF2B5EF4-FFF2-40B4-BE49-F238E27FC236}">
                <a16:creationId xmlns:a16="http://schemas.microsoft.com/office/drawing/2014/main" id="{A750522D-71CA-7785-F128-EEC71FC30B7C}"/>
              </a:ext>
            </a:extLst>
          </p:cNvPr>
          <p:cNvCxnSpPr>
            <a:cxnSpLocks/>
          </p:cNvCxnSpPr>
          <p:nvPr/>
        </p:nvCxnSpPr>
        <p:spPr>
          <a:xfrm>
            <a:off x="4628024" y="4325862"/>
            <a:ext cx="629805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Elemento grafico 8" descr="Orologio contorno">
            <a:extLst>
              <a:ext uri="{FF2B5EF4-FFF2-40B4-BE49-F238E27FC236}">
                <a16:creationId xmlns:a16="http://schemas.microsoft.com/office/drawing/2014/main" id="{ACC4F5C1-2D40-01D7-3D52-95EB23A51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3013" y="3962536"/>
            <a:ext cx="761065" cy="761065"/>
          </a:xfrm>
          <a:prstGeom prst="rect">
            <a:avLst/>
          </a:prstGeom>
        </p:spPr>
      </p:pic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18592506-5636-2708-7D2B-6C3AC7053315}"/>
              </a:ext>
            </a:extLst>
          </p:cNvPr>
          <p:cNvCxnSpPr>
            <a:cxnSpLocks/>
          </p:cNvCxnSpPr>
          <p:nvPr/>
        </p:nvCxnSpPr>
        <p:spPr>
          <a:xfrm flipV="1">
            <a:off x="2426136" y="7061415"/>
            <a:ext cx="3129136" cy="1074321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1">
            <a:extLst>
              <a:ext uri="{FF2B5EF4-FFF2-40B4-BE49-F238E27FC236}">
                <a16:creationId xmlns:a16="http://schemas.microsoft.com/office/drawing/2014/main" id="{9025B27F-C1BE-8423-14E6-009ECD6F5798}"/>
              </a:ext>
            </a:extLst>
          </p:cNvPr>
          <p:cNvSpPr txBox="1"/>
          <p:nvPr/>
        </p:nvSpPr>
        <p:spPr>
          <a:xfrm>
            <a:off x="137219" y="8357385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Should I continue my studies ?</a:t>
            </a:r>
          </a:p>
        </p:txBody>
      </p:sp>
      <p:pic>
        <p:nvPicPr>
          <p:cNvPr id="35" name="Elemento grafico 34" descr="Libri contorno">
            <a:extLst>
              <a:ext uri="{FF2B5EF4-FFF2-40B4-BE49-F238E27FC236}">
                <a16:creationId xmlns:a16="http://schemas.microsoft.com/office/drawing/2014/main" id="{EE1FC6EC-1E37-BFE6-8CFB-E03F7FF420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72753" y="8163627"/>
            <a:ext cx="685181" cy="685181"/>
          </a:xfrm>
          <a:prstGeom prst="rect">
            <a:avLst/>
          </a:prstGeom>
        </p:spPr>
      </p:pic>
      <p:pic>
        <p:nvPicPr>
          <p:cNvPr id="48" name="Elemento grafico 47" descr="Nuvoletta contorno">
            <a:extLst>
              <a:ext uri="{FF2B5EF4-FFF2-40B4-BE49-F238E27FC236}">
                <a16:creationId xmlns:a16="http://schemas.microsoft.com/office/drawing/2014/main" id="{42D552D2-B3FA-BD01-D086-1F24C76383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02294" y="3121265"/>
            <a:ext cx="914400" cy="914400"/>
          </a:xfrm>
          <a:prstGeom prst="rect">
            <a:avLst/>
          </a:prstGeom>
        </p:spPr>
      </p:pic>
      <p:pic>
        <p:nvPicPr>
          <p:cNvPr id="50" name="Elemento grafico 49" descr="Chiudi con riempimento a tinta unita">
            <a:extLst>
              <a:ext uri="{FF2B5EF4-FFF2-40B4-BE49-F238E27FC236}">
                <a16:creationId xmlns:a16="http://schemas.microsoft.com/office/drawing/2014/main" id="{1ACEA1F8-F676-BF94-54C0-E9FFF28F4A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90704" y="3962720"/>
            <a:ext cx="682049" cy="6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808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829" y="3707003"/>
            <a:ext cx="914400" cy="914400"/>
          </a:xfrm>
          <a:prstGeom prst="rect">
            <a:avLst/>
          </a:prstGeom>
        </p:spPr>
      </p:pic>
      <p:cxnSp>
        <p:nvCxnSpPr>
          <p:cNvPr id="62" name="Straight Arrow Connector 2">
            <a:extLst>
              <a:ext uri="{FF2B5EF4-FFF2-40B4-BE49-F238E27FC236}">
                <a16:creationId xmlns:a16="http://schemas.microsoft.com/office/drawing/2014/main" id="{A750522D-71CA-7785-F128-EEC71FC30B7C}"/>
              </a:ext>
            </a:extLst>
          </p:cNvPr>
          <p:cNvCxnSpPr>
            <a:cxnSpLocks/>
          </p:cNvCxnSpPr>
          <p:nvPr/>
        </p:nvCxnSpPr>
        <p:spPr>
          <a:xfrm>
            <a:off x="4628024" y="4325862"/>
            <a:ext cx="629805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Elemento grafico 8" descr="Orologio contorno">
            <a:extLst>
              <a:ext uri="{FF2B5EF4-FFF2-40B4-BE49-F238E27FC236}">
                <a16:creationId xmlns:a16="http://schemas.microsoft.com/office/drawing/2014/main" id="{ACC4F5C1-2D40-01D7-3D52-95EB23A51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3013" y="3962536"/>
            <a:ext cx="761065" cy="761065"/>
          </a:xfrm>
          <a:prstGeom prst="rect">
            <a:avLst/>
          </a:prstGeom>
        </p:spPr>
      </p:pic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18592506-5636-2708-7D2B-6C3AC7053315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6340114" y="3268056"/>
            <a:ext cx="3115080" cy="1066758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1">
            <a:extLst>
              <a:ext uri="{FF2B5EF4-FFF2-40B4-BE49-F238E27FC236}">
                <a16:creationId xmlns:a16="http://schemas.microsoft.com/office/drawing/2014/main" id="{9025B27F-C1BE-8423-14E6-009ECD6F5798}"/>
              </a:ext>
            </a:extLst>
          </p:cNvPr>
          <p:cNvSpPr txBox="1"/>
          <p:nvPr/>
        </p:nvSpPr>
        <p:spPr>
          <a:xfrm>
            <a:off x="6900588" y="2867946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Should I continue my studies ?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54A6B97B-AE64-4DC7-2B3B-D8544B7AE26F}"/>
              </a:ext>
            </a:extLst>
          </p:cNvPr>
          <p:cNvSpPr txBox="1"/>
          <p:nvPr/>
        </p:nvSpPr>
        <p:spPr>
          <a:xfrm>
            <a:off x="3029993" y="8335694"/>
            <a:ext cx="5109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Go working and earn immediately some money ?</a:t>
            </a:r>
          </a:p>
        </p:txBody>
      </p:sp>
      <p:cxnSp>
        <p:nvCxnSpPr>
          <p:cNvPr id="27" name="Connector: Curved 4">
            <a:extLst>
              <a:ext uri="{FF2B5EF4-FFF2-40B4-BE49-F238E27FC236}">
                <a16:creationId xmlns:a16="http://schemas.microsoft.com/office/drawing/2014/main" id="{DFFA368E-B9F9-5995-FBB0-8D7B43315485}"/>
              </a:ext>
            </a:extLst>
          </p:cNvPr>
          <p:cNvCxnSpPr>
            <a:cxnSpLocks/>
          </p:cNvCxnSpPr>
          <p:nvPr/>
        </p:nvCxnSpPr>
        <p:spPr>
          <a:xfrm>
            <a:off x="2073378" y="7238155"/>
            <a:ext cx="3299072" cy="983311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Elemento grafico 34" descr="Libri contorno">
            <a:extLst>
              <a:ext uri="{FF2B5EF4-FFF2-40B4-BE49-F238E27FC236}">
                <a16:creationId xmlns:a16="http://schemas.microsoft.com/office/drawing/2014/main" id="{EE1FC6EC-1E37-BFE6-8CFB-E03F7FF420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53800" y="2747305"/>
            <a:ext cx="685181" cy="685181"/>
          </a:xfrm>
          <a:prstGeom prst="rect">
            <a:avLst/>
          </a:prstGeom>
        </p:spPr>
      </p:pic>
      <p:pic>
        <p:nvPicPr>
          <p:cNvPr id="37" name="Elemento grafico 36" descr="Lavoratore edile contorno">
            <a:extLst>
              <a:ext uri="{FF2B5EF4-FFF2-40B4-BE49-F238E27FC236}">
                <a16:creationId xmlns:a16="http://schemas.microsoft.com/office/drawing/2014/main" id="{83DC65AF-264C-6718-B8BA-3754784C85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44999" y="8797445"/>
            <a:ext cx="720726" cy="720726"/>
          </a:xfrm>
          <a:prstGeom prst="rect">
            <a:avLst/>
          </a:prstGeom>
        </p:spPr>
      </p:pic>
      <p:pic>
        <p:nvPicPr>
          <p:cNvPr id="39" name="Elemento grafico 38" descr="Soldi volanti contorno">
            <a:extLst>
              <a:ext uri="{FF2B5EF4-FFF2-40B4-BE49-F238E27FC236}">
                <a16:creationId xmlns:a16="http://schemas.microsoft.com/office/drawing/2014/main" id="{C8C6609E-55E8-67E5-8E2D-53457EF1C4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5972" y="8876716"/>
            <a:ext cx="641455" cy="641455"/>
          </a:xfrm>
          <a:prstGeom prst="rect">
            <a:avLst/>
          </a:prstGeom>
        </p:spPr>
      </p:pic>
      <p:pic>
        <p:nvPicPr>
          <p:cNvPr id="48" name="Elemento grafico 47" descr="Nuvoletta contorno">
            <a:extLst>
              <a:ext uri="{FF2B5EF4-FFF2-40B4-BE49-F238E27FC236}">
                <a16:creationId xmlns:a16="http://schemas.microsoft.com/office/drawing/2014/main" id="{42D552D2-B3FA-BD01-D086-1F24C763839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58772" y="3123897"/>
            <a:ext cx="914400" cy="914400"/>
          </a:xfrm>
          <a:prstGeom prst="rect">
            <a:avLst/>
          </a:prstGeom>
        </p:spPr>
      </p:pic>
      <p:pic>
        <p:nvPicPr>
          <p:cNvPr id="50" name="Elemento grafico 49" descr="Chiudi con riempimento a tinta unita">
            <a:extLst>
              <a:ext uri="{FF2B5EF4-FFF2-40B4-BE49-F238E27FC236}">
                <a16:creationId xmlns:a16="http://schemas.microsoft.com/office/drawing/2014/main" id="{1ACEA1F8-F676-BF94-54C0-E9FFF28F4A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90704" y="3962720"/>
            <a:ext cx="682049" cy="6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457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7829" y="3707003"/>
            <a:ext cx="914400" cy="914400"/>
          </a:xfrm>
          <a:prstGeom prst="rect">
            <a:avLst/>
          </a:prstGeom>
        </p:spPr>
      </p:pic>
      <p:cxnSp>
        <p:nvCxnSpPr>
          <p:cNvPr id="62" name="Straight Arrow Connector 2">
            <a:extLst>
              <a:ext uri="{FF2B5EF4-FFF2-40B4-BE49-F238E27FC236}">
                <a16:creationId xmlns:a16="http://schemas.microsoft.com/office/drawing/2014/main" id="{A750522D-71CA-7785-F128-EEC71FC30B7C}"/>
              </a:ext>
            </a:extLst>
          </p:cNvPr>
          <p:cNvCxnSpPr>
            <a:cxnSpLocks/>
          </p:cNvCxnSpPr>
          <p:nvPr/>
        </p:nvCxnSpPr>
        <p:spPr>
          <a:xfrm>
            <a:off x="4628024" y="4325862"/>
            <a:ext cx="629805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Elemento grafico 8" descr="Orologio contorno">
            <a:extLst>
              <a:ext uri="{FF2B5EF4-FFF2-40B4-BE49-F238E27FC236}">
                <a16:creationId xmlns:a16="http://schemas.microsoft.com/office/drawing/2014/main" id="{ACC4F5C1-2D40-01D7-3D52-95EB23A51F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3013" y="3962536"/>
            <a:ext cx="761065" cy="761065"/>
          </a:xfrm>
          <a:prstGeom prst="rect">
            <a:avLst/>
          </a:prstGeom>
        </p:spPr>
      </p:pic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18592506-5636-2708-7D2B-6C3AC7053315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6342164" y="3251541"/>
            <a:ext cx="3129136" cy="1074321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1">
            <a:extLst>
              <a:ext uri="{FF2B5EF4-FFF2-40B4-BE49-F238E27FC236}">
                <a16:creationId xmlns:a16="http://schemas.microsoft.com/office/drawing/2014/main" id="{9025B27F-C1BE-8423-14E6-009ECD6F5798}"/>
              </a:ext>
            </a:extLst>
          </p:cNvPr>
          <p:cNvSpPr txBox="1"/>
          <p:nvPr/>
        </p:nvSpPr>
        <p:spPr>
          <a:xfrm>
            <a:off x="6916694" y="2851431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Should I continue my studies ?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54A6B97B-AE64-4DC7-2B3B-D8544B7AE26F}"/>
              </a:ext>
            </a:extLst>
          </p:cNvPr>
          <p:cNvSpPr txBox="1"/>
          <p:nvPr/>
        </p:nvSpPr>
        <p:spPr>
          <a:xfrm>
            <a:off x="6916695" y="5272295"/>
            <a:ext cx="5109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Go working and earn immediately some money ?</a:t>
            </a:r>
          </a:p>
        </p:txBody>
      </p:sp>
      <p:cxnSp>
        <p:nvCxnSpPr>
          <p:cNvPr id="27" name="Connector: Curved 4">
            <a:extLst>
              <a:ext uri="{FF2B5EF4-FFF2-40B4-BE49-F238E27FC236}">
                <a16:creationId xmlns:a16="http://schemas.microsoft.com/office/drawing/2014/main" id="{DFFA368E-B9F9-5995-FBB0-8D7B43315485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323981" y="4331904"/>
            <a:ext cx="3147320" cy="940391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Elemento grafico 34" descr="Libri contorno">
            <a:extLst>
              <a:ext uri="{FF2B5EF4-FFF2-40B4-BE49-F238E27FC236}">
                <a16:creationId xmlns:a16="http://schemas.microsoft.com/office/drawing/2014/main" id="{EE1FC6EC-1E37-BFE6-8CFB-E03F7FF420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40724" y="2615240"/>
            <a:ext cx="685181" cy="685181"/>
          </a:xfrm>
          <a:prstGeom prst="rect">
            <a:avLst/>
          </a:prstGeom>
        </p:spPr>
      </p:pic>
      <p:pic>
        <p:nvPicPr>
          <p:cNvPr id="37" name="Elemento grafico 36" descr="Lavoratore edile contorno">
            <a:extLst>
              <a:ext uri="{FF2B5EF4-FFF2-40B4-BE49-F238E27FC236}">
                <a16:creationId xmlns:a16="http://schemas.microsoft.com/office/drawing/2014/main" id="{83DC65AF-264C-6718-B8BA-3754784C85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75778" y="5568534"/>
            <a:ext cx="720726" cy="720726"/>
          </a:xfrm>
          <a:prstGeom prst="rect">
            <a:avLst/>
          </a:prstGeom>
        </p:spPr>
      </p:pic>
      <p:pic>
        <p:nvPicPr>
          <p:cNvPr id="39" name="Elemento grafico 38" descr="Soldi volanti contorno">
            <a:extLst>
              <a:ext uri="{FF2B5EF4-FFF2-40B4-BE49-F238E27FC236}">
                <a16:creationId xmlns:a16="http://schemas.microsoft.com/office/drawing/2014/main" id="{C8C6609E-55E8-67E5-8E2D-53457EF1C4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88476" y="5647805"/>
            <a:ext cx="641455" cy="641455"/>
          </a:xfrm>
          <a:prstGeom prst="rect">
            <a:avLst/>
          </a:prstGeom>
        </p:spPr>
      </p:pic>
      <p:pic>
        <p:nvPicPr>
          <p:cNvPr id="48" name="Elemento grafico 47" descr="Nuvoletta contorno">
            <a:extLst>
              <a:ext uri="{FF2B5EF4-FFF2-40B4-BE49-F238E27FC236}">
                <a16:creationId xmlns:a16="http://schemas.microsoft.com/office/drawing/2014/main" id="{42D552D2-B3FA-BD01-D086-1F24C763839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02294" y="3121265"/>
            <a:ext cx="914400" cy="914400"/>
          </a:xfrm>
          <a:prstGeom prst="rect">
            <a:avLst/>
          </a:prstGeom>
        </p:spPr>
      </p:pic>
      <p:pic>
        <p:nvPicPr>
          <p:cNvPr id="50" name="Elemento grafico 49" descr="Chiudi con riempimento a tinta unita">
            <a:extLst>
              <a:ext uri="{FF2B5EF4-FFF2-40B4-BE49-F238E27FC236}">
                <a16:creationId xmlns:a16="http://schemas.microsoft.com/office/drawing/2014/main" id="{1ACEA1F8-F676-BF94-54C0-E9FFF28F4A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90704" y="3962720"/>
            <a:ext cx="682049" cy="6820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107F7C-A3AA-EC84-63A8-FD285698A569}"/>
              </a:ext>
            </a:extLst>
          </p:cNvPr>
          <p:cNvSpPr txBox="1"/>
          <p:nvPr/>
        </p:nvSpPr>
        <p:spPr>
          <a:xfrm>
            <a:off x="13953675" y="3962536"/>
            <a:ext cx="5109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90% </a:t>
            </a:r>
            <a:r>
              <a:rPr lang="en-US" sz="2000" dirty="0">
                <a:latin typeface="Georgia" panose="02040502050405020303" pitchFamily="18" charset="0"/>
              </a:rPr>
              <a:t>probability of dropping out of university at this stage</a:t>
            </a:r>
          </a:p>
        </p:txBody>
      </p:sp>
      <p:cxnSp>
        <p:nvCxnSpPr>
          <p:cNvPr id="8" name="Straight Arrow Connector 2">
            <a:extLst>
              <a:ext uri="{FF2B5EF4-FFF2-40B4-BE49-F238E27FC236}">
                <a16:creationId xmlns:a16="http://schemas.microsoft.com/office/drawing/2014/main" id="{957D5267-5157-9931-706D-905A405D2179}"/>
              </a:ext>
            </a:extLst>
          </p:cNvPr>
          <p:cNvCxnSpPr>
            <a:cxnSpLocks/>
          </p:cNvCxnSpPr>
          <p:nvPr/>
        </p:nvCxnSpPr>
        <p:spPr>
          <a:xfrm>
            <a:off x="13071184" y="4262967"/>
            <a:ext cx="882491" cy="28555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Elemento grafico 10" descr="Avviso contorno">
            <a:extLst>
              <a:ext uri="{FF2B5EF4-FFF2-40B4-BE49-F238E27FC236}">
                <a16:creationId xmlns:a16="http://schemas.microsoft.com/office/drawing/2014/main" id="{2C297F2A-01EC-BF92-75A2-AD8D8BF0785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854759" y="3926072"/>
            <a:ext cx="718697" cy="718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83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3515" y="3771576"/>
            <a:ext cx="914400" cy="914400"/>
          </a:xfrm>
          <a:prstGeom prst="rect">
            <a:avLst/>
          </a:prstGeom>
        </p:spPr>
      </p:pic>
      <p:cxnSp>
        <p:nvCxnSpPr>
          <p:cNvPr id="62" name="Straight Arrow Connector 2">
            <a:extLst>
              <a:ext uri="{FF2B5EF4-FFF2-40B4-BE49-F238E27FC236}">
                <a16:creationId xmlns:a16="http://schemas.microsoft.com/office/drawing/2014/main" id="{A750522D-71CA-7785-F128-EEC71FC30B7C}"/>
              </a:ext>
            </a:extLst>
          </p:cNvPr>
          <p:cNvCxnSpPr>
            <a:cxnSpLocks/>
          </p:cNvCxnSpPr>
          <p:nvPr/>
        </p:nvCxnSpPr>
        <p:spPr>
          <a:xfrm>
            <a:off x="3904095" y="4292520"/>
            <a:ext cx="629805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>
            <a:extLst>
              <a:ext uri="{FF2B5EF4-FFF2-40B4-BE49-F238E27FC236}">
                <a16:creationId xmlns:a16="http://schemas.microsoft.com/office/drawing/2014/main" id="{2FC318D7-49DA-9A76-F286-D125C9992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-3356862" y="989411"/>
            <a:ext cx="600498" cy="3106544"/>
          </a:xfrm>
          <a:prstGeom prst="rect">
            <a:avLst/>
          </a:prstGeom>
        </p:spPr>
      </p:pic>
      <p:pic>
        <p:nvPicPr>
          <p:cNvPr id="22" name="Elemento grafico 21" descr="Avviso contorno">
            <a:extLst>
              <a:ext uri="{FF2B5EF4-FFF2-40B4-BE49-F238E27FC236}">
                <a16:creationId xmlns:a16="http://schemas.microsoft.com/office/drawing/2014/main" id="{F90C966A-5A85-EDE8-B1E3-50B90FA191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07446" y="4054524"/>
            <a:ext cx="718697" cy="718697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1DC8434-D485-6390-9B0F-DF252B432097}"/>
              </a:ext>
            </a:extLst>
          </p:cNvPr>
          <p:cNvCxnSpPr>
            <a:cxnSpLocks/>
          </p:cNvCxnSpPr>
          <p:nvPr/>
        </p:nvCxnSpPr>
        <p:spPr>
          <a:xfrm>
            <a:off x="6323981" y="4292520"/>
            <a:ext cx="803026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Elemento grafico 8" descr="Orologio contorno">
            <a:extLst>
              <a:ext uri="{FF2B5EF4-FFF2-40B4-BE49-F238E27FC236}">
                <a16:creationId xmlns:a16="http://schemas.microsoft.com/office/drawing/2014/main" id="{ACC4F5C1-2D40-01D7-3D52-95EB23A51F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4403" y="3945329"/>
            <a:ext cx="761065" cy="761065"/>
          </a:xfrm>
          <a:prstGeom prst="rect">
            <a:avLst/>
          </a:prstGeom>
        </p:spPr>
      </p:pic>
      <p:pic>
        <p:nvPicPr>
          <p:cNvPr id="18" name="Elemento grafico 17" descr="Chiudi con riempimento a tinta unita">
            <a:extLst>
              <a:ext uri="{FF2B5EF4-FFF2-40B4-BE49-F238E27FC236}">
                <a16:creationId xmlns:a16="http://schemas.microsoft.com/office/drawing/2014/main" id="{BF6FA4AC-3B65-B7A2-E6C7-BD4AF8D23F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19192" y="3945329"/>
            <a:ext cx="761065" cy="761065"/>
          </a:xfrm>
          <a:prstGeom prst="rect">
            <a:avLst/>
          </a:prstGeom>
        </p:spPr>
      </p:pic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18592506-5636-2708-7D2B-6C3AC7053315}"/>
              </a:ext>
            </a:extLst>
          </p:cNvPr>
          <p:cNvCxnSpPr>
            <a:cxnSpLocks/>
          </p:cNvCxnSpPr>
          <p:nvPr/>
        </p:nvCxnSpPr>
        <p:spPr>
          <a:xfrm flipV="1">
            <a:off x="6265952" y="-1146765"/>
            <a:ext cx="3191043" cy="1074321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1">
            <a:extLst>
              <a:ext uri="{FF2B5EF4-FFF2-40B4-BE49-F238E27FC236}">
                <a16:creationId xmlns:a16="http://schemas.microsoft.com/office/drawing/2014/main" id="{9025B27F-C1BE-8423-14E6-009ECD6F5798}"/>
              </a:ext>
            </a:extLst>
          </p:cNvPr>
          <p:cNvSpPr txBox="1"/>
          <p:nvPr/>
        </p:nvSpPr>
        <p:spPr>
          <a:xfrm>
            <a:off x="5793839" y="-1593846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Should I continue my studies ?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54A6B97B-AE64-4DC7-2B3B-D8544B7AE26F}"/>
              </a:ext>
            </a:extLst>
          </p:cNvPr>
          <p:cNvSpPr txBox="1"/>
          <p:nvPr/>
        </p:nvSpPr>
        <p:spPr>
          <a:xfrm>
            <a:off x="6916695" y="7943649"/>
            <a:ext cx="5109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Go working and earn immediately some money ?</a:t>
            </a:r>
          </a:p>
        </p:txBody>
      </p:sp>
      <p:cxnSp>
        <p:nvCxnSpPr>
          <p:cNvPr id="27" name="Connector: Curved 4">
            <a:extLst>
              <a:ext uri="{FF2B5EF4-FFF2-40B4-BE49-F238E27FC236}">
                <a16:creationId xmlns:a16="http://schemas.microsoft.com/office/drawing/2014/main" id="{DFFA368E-B9F9-5995-FBB0-8D7B43315485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323981" y="7003258"/>
            <a:ext cx="3147320" cy="940391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Elemento grafico 47" descr="Nuvoletta contorno">
            <a:extLst>
              <a:ext uri="{FF2B5EF4-FFF2-40B4-BE49-F238E27FC236}">
                <a16:creationId xmlns:a16="http://schemas.microsoft.com/office/drawing/2014/main" id="{42D552D2-B3FA-BD01-D086-1F24C76383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25237" y="3116211"/>
            <a:ext cx="914400" cy="914400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C0D346A0-AF94-D111-5ABD-568E57E05D36}"/>
              </a:ext>
            </a:extLst>
          </p:cNvPr>
          <p:cNvSpPr txBox="1"/>
          <p:nvPr/>
        </p:nvSpPr>
        <p:spPr>
          <a:xfrm>
            <a:off x="6725494" y="4051481"/>
            <a:ext cx="5109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90% </a:t>
            </a:r>
            <a:r>
              <a:rPr lang="en-US" sz="2000" dirty="0">
                <a:latin typeface="Georgia" panose="02040502050405020303" pitchFamily="18" charset="0"/>
              </a:rPr>
              <a:t>probability of dropping out of university at this stage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49D676B-0F7B-D449-4B62-4FD180AEBD3E}"/>
              </a:ext>
            </a:extLst>
          </p:cNvPr>
          <p:cNvSpPr txBox="1"/>
          <p:nvPr/>
        </p:nvSpPr>
        <p:spPr>
          <a:xfrm>
            <a:off x="12192000" y="5206582"/>
            <a:ext cx="51092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This means that if a student is in such a dramatic situation, there is no realistic chance of overcoming it</a:t>
            </a:r>
          </a:p>
        </p:txBody>
      </p:sp>
    </p:spTree>
    <p:extLst>
      <p:ext uri="{BB962C8B-B14F-4D97-AF65-F5344CB8AC3E}">
        <p14:creationId xmlns:p14="http://schemas.microsoft.com/office/powerpoint/2010/main" val="3947811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3515" y="3771576"/>
            <a:ext cx="914400" cy="914400"/>
          </a:xfrm>
          <a:prstGeom prst="rect">
            <a:avLst/>
          </a:prstGeom>
        </p:spPr>
      </p:pic>
      <p:cxnSp>
        <p:nvCxnSpPr>
          <p:cNvPr id="62" name="Straight Arrow Connector 2">
            <a:extLst>
              <a:ext uri="{FF2B5EF4-FFF2-40B4-BE49-F238E27FC236}">
                <a16:creationId xmlns:a16="http://schemas.microsoft.com/office/drawing/2014/main" id="{A750522D-71CA-7785-F128-EEC71FC30B7C}"/>
              </a:ext>
            </a:extLst>
          </p:cNvPr>
          <p:cNvCxnSpPr>
            <a:cxnSpLocks/>
          </p:cNvCxnSpPr>
          <p:nvPr/>
        </p:nvCxnSpPr>
        <p:spPr>
          <a:xfrm>
            <a:off x="3904095" y="4292520"/>
            <a:ext cx="629805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>
            <a:extLst>
              <a:ext uri="{FF2B5EF4-FFF2-40B4-BE49-F238E27FC236}">
                <a16:creationId xmlns:a16="http://schemas.microsoft.com/office/drawing/2014/main" id="{2FC318D7-49DA-9A76-F286-D125C99927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-3356862" y="989411"/>
            <a:ext cx="600498" cy="3106544"/>
          </a:xfrm>
          <a:prstGeom prst="rect">
            <a:avLst/>
          </a:prstGeom>
        </p:spPr>
      </p:pic>
      <p:pic>
        <p:nvPicPr>
          <p:cNvPr id="22" name="Elemento grafico 21" descr="Avviso contorno">
            <a:extLst>
              <a:ext uri="{FF2B5EF4-FFF2-40B4-BE49-F238E27FC236}">
                <a16:creationId xmlns:a16="http://schemas.microsoft.com/office/drawing/2014/main" id="{F90C966A-5A85-EDE8-B1E3-50B90FA191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90703" y="4074369"/>
            <a:ext cx="718697" cy="718697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1DC8434-D485-6390-9B0F-DF252B432097}"/>
              </a:ext>
            </a:extLst>
          </p:cNvPr>
          <p:cNvCxnSpPr>
            <a:cxnSpLocks/>
          </p:cNvCxnSpPr>
          <p:nvPr/>
        </p:nvCxnSpPr>
        <p:spPr>
          <a:xfrm>
            <a:off x="6387079" y="4325861"/>
            <a:ext cx="803026" cy="0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Elemento grafico 8" descr="Orologio contorno">
            <a:extLst>
              <a:ext uri="{FF2B5EF4-FFF2-40B4-BE49-F238E27FC236}">
                <a16:creationId xmlns:a16="http://schemas.microsoft.com/office/drawing/2014/main" id="{ACC4F5C1-2D40-01D7-3D52-95EB23A51F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4403" y="3945329"/>
            <a:ext cx="761065" cy="761065"/>
          </a:xfrm>
          <a:prstGeom prst="rect">
            <a:avLst/>
          </a:prstGeom>
        </p:spPr>
      </p:pic>
      <p:pic>
        <p:nvPicPr>
          <p:cNvPr id="18" name="Elemento grafico 17" descr="Chiudi con riempimento a tinta unita">
            <a:extLst>
              <a:ext uri="{FF2B5EF4-FFF2-40B4-BE49-F238E27FC236}">
                <a16:creationId xmlns:a16="http://schemas.microsoft.com/office/drawing/2014/main" id="{BF6FA4AC-3B65-B7A2-E6C7-BD4AF8D23F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19192" y="3945329"/>
            <a:ext cx="761065" cy="761065"/>
          </a:xfrm>
          <a:prstGeom prst="rect">
            <a:avLst/>
          </a:prstGeom>
        </p:spPr>
      </p:pic>
      <p:cxnSp>
        <p:nvCxnSpPr>
          <p:cNvPr id="19" name="Connector: Curved 4">
            <a:extLst>
              <a:ext uri="{FF2B5EF4-FFF2-40B4-BE49-F238E27FC236}">
                <a16:creationId xmlns:a16="http://schemas.microsoft.com/office/drawing/2014/main" id="{18592506-5636-2708-7D2B-6C3AC7053315}"/>
              </a:ext>
            </a:extLst>
          </p:cNvPr>
          <p:cNvCxnSpPr>
            <a:cxnSpLocks/>
            <a:stCxn id="8" idx="2"/>
            <a:endCxn id="10" idx="3"/>
          </p:cNvCxnSpPr>
          <p:nvPr/>
        </p:nvCxnSpPr>
        <p:spPr>
          <a:xfrm rot="5400000">
            <a:off x="8515239" y="4803847"/>
            <a:ext cx="878200" cy="846682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1">
            <a:extLst>
              <a:ext uri="{FF2B5EF4-FFF2-40B4-BE49-F238E27FC236}">
                <a16:creationId xmlns:a16="http://schemas.microsoft.com/office/drawing/2014/main" id="{9025B27F-C1BE-8423-14E6-009ECD6F5798}"/>
              </a:ext>
            </a:extLst>
          </p:cNvPr>
          <p:cNvSpPr txBox="1"/>
          <p:nvPr/>
        </p:nvSpPr>
        <p:spPr>
          <a:xfrm>
            <a:off x="5793839" y="-1593846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Should I continue my studies ?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54A6B97B-AE64-4DC7-2B3B-D8544B7AE26F}"/>
              </a:ext>
            </a:extLst>
          </p:cNvPr>
          <p:cNvSpPr txBox="1"/>
          <p:nvPr/>
        </p:nvSpPr>
        <p:spPr>
          <a:xfrm>
            <a:off x="6916695" y="7943649"/>
            <a:ext cx="5109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Go working and earn immediately some money ?</a:t>
            </a:r>
          </a:p>
        </p:txBody>
      </p:sp>
      <p:cxnSp>
        <p:nvCxnSpPr>
          <p:cNvPr id="27" name="Connector: Curved 4">
            <a:extLst>
              <a:ext uri="{FF2B5EF4-FFF2-40B4-BE49-F238E27FC236}">
                <a16:creationId xmlns:a16="http://schemas.microsoft.com/office/drawing/2014/main" id="{DFFA368E-B9F9-5995-FBB0-8D7B43315485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323981" y="7003258"/>
            <a:ext cx="3147320" cy="940391"/>
          </a:xfrm>
          <a:prstGeom prst="curvedConnector2">
            <a:avLst/>
          </a:prstGeom>
          <a:ln w="381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Elemento grafico 47" descr="Nuvoletta contorno">
            <a:extLst>
              <a:ext uri="{FF2B5EF4-FFF2-40B4-BE49-F238E27FC236}">
                <a16:creationId xmlns:a16="http://schemas.microsoft.com/office/drawing/2014/main" id="{42D552D2-B3FA-BD01-D086-1F24C76383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25237" y="3116211"/>
            <a:ext cx="914400" cy="914400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C0D346A0-AF94-D111-5ABD-568E57E05D36}"/>
              </a:ext>
            </a:extLst>
          </p:cNvPr>
          <p:cNvSpPr txBox="1"/>
          <p:nvPr/>
        </p:nvSpPr>
        <p:spPr>
          <a:xfrm>
            <a:off x="6823074" y="4080202"/>
            <a:ext cx="5109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90% </a:t>
            </a:r>
            <a:r>
              <a:rPr lang="en-US" sz="2000" dirty="0">
                <a:latin typeface="Georgia" panose="02040502050405020303" pitchFamily="18" charset="0"/>
              </a:rPr>
              <a:t>probability of dropping out of university at this stage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49D676B-0F7B-D449-4B62-4FD180AEBD3E}"/>
              </a:ext>
            </a:extLst>
          </p:cNvPr>
          <p:cNvSpPr txBox="1"/>
          <p:nvPr/>
        </p:nvSpPr>
        <p:spPr>
          <a:xfrm>
            <a:off x="3421787" y="5158456"/>
            <a:ext cx="51092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This means that if a student is in such a dramatic situation, there is no realistic chance of overcoming it</a:t>
            </a:r>
          </a:p>
        </p:txBody>
      </p:sp>
      <p:pic>
        <p:nvPicPr>
          <p:cNvPr id="26" name="Elemento grafico 25" descr="Zombi contorno">
            <a:extLst>
              <a:ext uri="{FF2B5EF4-FFF2-40B4-BE49-F238E27FC236}">
                <a16:creationId xmlns:a16="http://schemas.microsoft.com/office/drawing/2014/main" id="{28013B6E-FDA9-2C57-8A1A-69B42F01F04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96496" y="5325054"/>
            <a:ext cx="914400" cy="914400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DC1B6475-F87A-4A5E-96D2-9094301C5A3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421285" y="3484317"/>
            <a:ext cx="7494810" cy="135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200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-100092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APPLICATION OF M.L. ALGORITHMS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777179" y="802071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latin typeface="Georgia" panose="02040502050405020303" pitchFamily="18" charset="0"/>
              </a:rPr>
              <a:t>«</a:t>
            </a:r>
            <a:r>
              <a:rPr lang="it-IT" sz="2800" dirty="0" err="1">
                <a:latin typeface="Georgia" panose="02040502050405020303" pitchFamily="18" charset="0"/>
              </a:rPr>
              <a:t>Pre-Enrollment</a:t>
            </a:r>
            <a:r>
              <a:rPr lang="it-IT" sz="2800" dirty="0">
                <a:latin typeface="Georgia" panose="02040502050405020303" pitchFamily="18" charset="0"/>
              </a:rPr>
              <a:t>» </a:t>
            </a:r>
            <a:r>
              <a:rPr lang="it-IT" sz="2800" dirty="0" err="1">
                <a:latin typeface="Georgia" panose="02040502050405020303" pitchFamily="18" charset="0"/>
              </a:rPr>
              <a:t>Variable</a:t>
            </a:r>
            <a:r>
              <a:rPr lang="it-IT" sz="2800" dirty="0">
                <a:latin typeface="Georgia" panose="02040502050405020303" pitchFamily="18" charset="0"/>
              </a:rPr>
              <a:t> </a:t>
            </a:r>
            <a:r>
              <a:rPr lang="it-IT" sz="2800" dirty="0" err="1">
                <a:latin typeface="Georgia" panose="02040502050405020303" pitchFamily="18" charset="0"/>
              </a:rPr>
              <a:t>Importance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62A77ECD-3B1A-B5A7-D41A-38F7EFC14869}"/>
              </a:ext>
            </a:extLst>
          </p:cNvPr>
          <p:cNvSpPr txBox="1"/>
          <p:nvPr/>
        </p:nvSpPr>
        <p:spPr>
          <a:xfrm>
            <a:off x="3421787" y="1472249"/>
            <a:ext cx="5109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Georgia" panose="02040502050405020303" pitchFamily="18" charset="0"/>
              </a:rPr>
              <a:t>DROPOUT RATE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806561-0232-3E67-DE9F-7AF8359678B8}"/>
              </a:ext>
            </a:extLst>
          </p:cNvPr>
          <p:cNvCxnSpPr>
            <a:cxnSpLocks/>
          </p:cNvCxnSpPr>
          <p:nvPr/>
        </p:nvCxnSpPr>
        <p:spPr>
          <a:xfrm>
            <a:off x="3029993" y="2291035"/>
            <a:ext cx="0" cy="3746337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">
            <a:extLst>
              <a:ext uri="{FF2B5EF4-FFF2-40B4-BE49-F238E27FC236}">
                <a16:creationId xmlns:a16="http://schemas.microsoft.com/office/drawing/2014/main" id="{157AE752-F8FA-EDCA-79D7-5D8C59979830}"/>
              </a:ext>
            </a:extLst>
          </p:cNvPr>
          <p:cNvSpPr txBox="1"/>
          <p:nvPr/>
        </p:nvSpPr>
        <p:spPr>
          <a:xfrm>
            <a:off x="-967898" y="2144502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Pre-enrollment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FD54734B-C90C-842E-7E54-0E9F800A9493}"/>
              </a:ext>
            </a:extLst>
          </p:cNvPr>
          <p:cNvSpPr txBox="1"/>
          <p:nvPr/>
        </p:nvSpPr>
        <p:spPr>
          <a:xfrm>
            <a:off x="4635500" y="2121210"/>
            <a:ext cx="51092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eorgia" panose="02040502050405020303" pitchFamily="18" charset="0"/>
              </a:rPr>
              <a:t>First year of university</a:t>
            </a:r>
          </a:p>
        </p:txBody>
      </p:sp>
      <p:pic>
        <p:nvPicPr>
          <p:cNvPr id="15" name="Elemento grafico 14" descr="Scolaro contorno">
            <a:extLst>
              <a:ext uri="{FF2B5EF4-FFF2-40B4-BE49-F238E27FC236}">
                <a16:creationId xmlns:a16="http://schemas.microsoft.com/office/drawing/2014/main" id="{318DA021-4D18-DA41-4845-9895D679B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7898" y="3750830"/>
            <a:ext cx="914400" cy="914400"/>
          </a:xfrm>
          <a:prstGeom prst="rect">
            <a:avLst/>
          </a:prstGeom>
        </p:spPr>
      </p:pic>
      <p:pic>
        <p:nvPicPr>
          <p:cNvPr id="22" name="Elemento grafico 21" descr="Avviso contorno">
            <a:extLst>
              <a:ext uri="{FF2B5EF4-FFF2-40B4-BE49-F238E27FC236}">
                <a16:creationId xmlns:a16="http://schemas.microsoft.com/office/drawing/2014/main" id="{F90C966A-5A85-EDE8-B1E3-50B90FA191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62007" y="2710303"/>
            <a:ext cx="718697" cy="718697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C0D346A0-AF94-D111-5ABD-568E57E05D36}"/>
              </a:ext>
            </a:extLst>
          </p:cNvPr>
          <p:cNvSpPr txBox="1"/>
          <p:nvPr/>
        </p:nvSpPr>
        <p:spPr>
          <a:xfrm>
            <a:off x="3053950" y="3017022"/>
            <a:ext cx="6244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The following table summarizes the entire analysis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629C80F-1DBA-014E-2824-CDBB16009C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7915" y="3534974"/>
            <a:ext cx="7494810" cy="1359772"/>
          </a:xfrm>
          <a:prstGeom prst="rect">
            <a:avLst/>
          </a:prstGeom>
        </p:spPr>
      </p:pic>
      <p:pic>
        <p:nvPicPr>
          <p:cNvPr id="17" name="Elemento grafico 16" descr="Zombi contorno">
            <a:extLst>
              <a:ext uri="{FF2B5EF4-FFF2-40B4-BE49-F238E27FC236}">
                <a16:creationId xmlns:a16="http://schemas.microsoft.com/office/drawing/2014/main" id="{C7EA74EA-2672-34BE-664D-100E524229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23390" y="2582875"/>
            <a:ext cx="914400" cy="914400"/>
          </a:xfrm>
          <a:prstGeom prst="rect">
            <a:avLst/>
          </a:prstGeom>
        </p:spPr>
      </p:pic>
      <p:sp>
        <p:nvSpPr>
          <p:cNvPr id="20" name="TextBox 1">
            <a:extLst>
              <a:ext uri="{FF2B5EF4-FFF2-40B4-BE49-F238E27FC236}">
                <a16:creationId xmlns:a16="http://schemas.microsoft.com/office/drawing/2014/main" id="{B4BF4C6F-7CA2-6689-716D-AA740A2CD1A6}"/>
              </a:ext>
            </a:extLst>
          </p:cNvPr>
          <p:cNvSpPr txBox="1"/>
          <p:nvPr/>
        </p:nvSpPr>
        <p:spPr>
          <a:xfrm>
            <a:off x="12097228" y="5200513"/>
            <a:ext cx="63586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Until now we saw that student’s </a:t>
            </a:r>
            <a:r>
              <a:rPr lang="en-US" b="1" dirty="0">
                <a:latin typeface="Georgia" panose="02040502050405020303" pitchFamily="18" charset="0"/>
              </a:rPr>
              <a:t>financial status plays a significant role </a:t>
            </a:r>
            <a:r>
              <a:rPr lang="en-US" dirty="0">
                <a:latin typeface="Georgia" panose="02040502050405020303" pitchFamily="18" charset="0"/>
              </a:rPr>
              <a:t>in the likelihood of success at university</a:t>
            </a:r>
          </a:p>
        </p:txBody>
      </p:sp>
    </p:spTree>
    <p:extLst>
      <p:ext uri="{BB962C8B-B14F-4D97-AF65-F5344CB8AC3E}">
        <p14:creationId xmlns:p14="http://schemas.microsoft.com/office/powerpoint/2010/main" val="2140330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2C0F0-E3CC-755F-4F26-E3DFE540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1FEBE23E-0487-521C-2B45-1424A8762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85" y="-110005"/>
            <a:ext cx="10796239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CONCLUSION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64A56-1C74-BC1E-2730-14BA5CF65F6D}"/>
              </a:ext>
            </a:extLst>
          </p:cNvPr>
          <p:cNvSpPr txBox="1"/>
          <p:nvPr/>
        </p:nvSpPr>
        <p:spPr>
          <a:xfrm>
            <a:off x="1167370" y="813437"/>
            <a:ext cx="91258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</a:rPr>
              <a:t>A Matter of Luck!</a:t>
            </a:r>
            <a:endParaRPr lang="it-IT" sz="2800" dirty="0">
              <a:latin typeface="Georgia" panose="02040502050405020303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9ABFB53-1CF9-3A29-1BE8-E71B283EAFE4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0BAB60E-56F3-F5F5-0B9F-A2576E357A72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2040CF-DD42-8DE5-B15A-3A5F874B806A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0BA22C-27BC-87FE-4C94-D0CB05D69E61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CE3FB27-B717-D6DF-9685-07763A7A1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21565465-6F17-A3D4-A458-825FD40BFDA9}"/>
              </a:ext>
            </a:extLst>
          </p:cNvPr>
          <p:cNvSpPr txBox="1"/>
          <p:nvPr/>
        </p:nvSpPr>
        <p:spPr>
          <a:xfrm>
            <a:off x="2196060" y="1704956"/>
            <a:ext cx="71850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Our main finding was that student’s </a:t>
            </a:r>
            <a:r>
              <a:rPr lang="en-US" sz="2000" b="1" dirty="0">
                <a:latin typeface="Georgia" panose="02040502050405020303" pitchFamily="18" charset="0"/>
              </a:rPr>
              <a:t>financial status plays a significant role </a:t>
            </a:r>
            <a:r>
              <a:rPr lang="en-US" sz="2000" dirty="0">
                <a:latin typeface="Georgia" panose="02040502050405020303" pitchFamily="18" charset="0"/>
              </a:rPr>
              <a:t>in the likelihood of success at university.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863E63A5-6604-40B9-CC30-CD7175C5C388}"/>
              </a:ext>
            </a:extLst>
          </p:cNvPr>
          <p:cNvSpPr txBox="1"/>
          <p:nvPr/>
        </p:nvSpPr>
        <p:spPr>
          <a:xfrm>
            <a:off x="1121076" y="4533039"/>
            <a:ext cx="9949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Educational Data Mining (EDM ) can help to change the game by creating </a:t>
            </a:r>
            <a:r>
              <a:rPr lang="en-US" sz="2000" b="1" dirty="0">
                <a:latin typeface="Georgia" panose="02040502050405020303" pitchFamily="18" charset="0"/>
              </a:rPr>
              <a:t>early stage support programs for everybody</a:t>
            </a:r>
            <a:r>
              <a:rPr lang="en-US" sz="2000" dirty="0">
                <a:latin typeface="Georgia" panose="02040502050405020303" pitchFamily="18" charset="0"/>
              </a:rPr>
              <a:t> in order to allow less lucky students to improve significantly their performances and making meritocracy real!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9A9B4C4E-6A05-54F5-092A-18618D53C73F}"/>
              </a:ext>
            </a:extLst>
          </p:cNvPr>
          <p:cNvSpPr txBox="1"/>
          <p:nvPr/>
        </p:nvSpPr>
        <p:spPr>
          <a:xfrm>
            <a:off x="1308100" y="3464599"/>
            <a:ext cx="9949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Georgia" panose="02040502050405020303" pitchFamily="18" charset="0"/>
              </a:rPr>
              <a:t>If such a decisive factor for academic success is primarily determined by luck, it raises many questions about the concept of </a:t>
            </a:r>
            <a:r>
              <a:rPr lang="en-US" sz="2000" b="1" dirty="0">
                <a:latin typeface="Georgia" panose="02040502050405020303" pitchFamily="18" charset="0"/>
              </a:rPr>
              <a:t>meritocracy in higher education.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88D26685-AC0D-CDFF-9648-87DE3D24E3AA}"/>
              </a:ext>
            </a:extLst>
          </p:cNvPr>
          <p:cNvSpPr txBox="1"/>
          <p:nvPr/>
        </p:nvSpPr>
        <p:spPr>
          <a:xfrm>
            <a:off x="2279406" y="2730952"/>
            <a:ext cx="99498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eorgia" panose="02040502050405020303" pitchFamily="18" charset="0"/>
              </a:rPr>
              <a:t>Financial status is out of a student’s control: is a matter of </a:t>
            </a:r>
            <a:r>
              <a:rPr lang="en-US" sz="2000" b="1" dirty="0">
                <a:latin typeface="Georgia" panose="02040502050405020303" pitchFamily="18" charset="0"/>
              </a:rPr>
              <a:t>luck!</a:t>
            </a:r>
          </a:p>
        </p:txBody>
      </p:sp>
      <p:pic>
        <p:nvPicPr>
          <p:cNvPr id="3" name="Elemento grafico 2" descr="Quadrifoglio contorno">
            <a:extLst>
              <a:ext uri="{FF2B5EF4-FFF2-40B4-BE49-F238E27FC236}">
                <a16:creationId xmlns:a16="http://schemas.microsoft.com/office/drawing/2014/main" id="{EC160DD1-4662-B48D-CC44-25197192F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10653" y="2412842"/>
            <a:ext cx="914400" cy="914400"/>
          </a:xfrm>
          <a:prstGeom prst="rect">
            <a:avLst/>
          </a:prstGeom>
        </p:spPr>
      </p:pic>
      <p:sp>
        <p:nvSpPr>
          <p:cNvPr id="5" name="TextBox 23">
            <a:extLst>
              <a:ext uri="{FF2B5EF4-FFF2-40B4-BE49-F238E27FC236}">
                <a16:creationId xmlns:a16="http://schemas.microsoft.com/office/drawing/2014/main" id="{631DB1FF-BBE8-16AD-C7F1-AD182D99BB98}"/>
              </a:ext>
            </a:extLst>
          </p:cNvPr>
          <p:cNvSpPr txBox="1"/>
          <p:nvPr/>
        </p:nvSpPr>
        <p:spPr>
          <a:xfrm>
            <a:off x="11600597" y="1978494"/>
            <a:ext cx="122040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0" dirty="0">
                <a:latin typeface="Georgia" panose="02040502050405020303" pitchFamily="18" charset="0"/>
              </a:rPr>
              <a:t>THANK YOU FOR </a:t>
            </a:r>
          </a:p>
          <a:p>
            <a:pPr algn="ctr"/>
            <a:r>
              <a:rPr lang="it-IT" sz="8000" dirty="0">
                <a:latin typeface="Georgia" panose="02040502050405020303" pitchFamily="18" charset="0"/>
              </a:rPr>
              <a:t>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535664640"/>
      </p:ext>
    </p:extLst>
  </p:cSld>
  <p:clrMapOvr>
    <a:masterClrMapping/>
  </p:clrMapOvr>
  <p:transition spd="slow">
    <p:push dir="u"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AE452-2A30-B8A8-741F-3D540F95A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5E59B4BF-32C4-4296-577D-002864FB9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D08955C-D2CE-D422-D3B0-5F17BC9A4A3D}"/>
              </a:ext>
            </a:extLst>
          </p:cNvPr>
          <p:cNvSpPr txBox="1"/>
          <p:nvPr/>
        </p:nvSpPr>
        <p:spPr>
          <a:xfrm>
            <a:off x="-12018" y="2151727"/>
            <a:ext cx="122040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8000" dirty="0">
                <a:latin typeface="Georgia" panose="02040502050405020303" pitchFamily="18" charset="0"/>
              </a:rPr>
              <a:t>THANK YOU FOR </a:t>
            </a:r>
          </a:p>
          <a:p>
            <a:pPr algn="ctr"/>
            <a:r>
              <a:rPr lang="it-IT" sz="8000" dirty="0">
                <a:latin typeface="Georgia" panose="02040502050405020303" pitchFamily="18" charset="0"/>
              </a:rPr>
              <a:t>YOUR ATTENTION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01CACA3-7204-07F0-A591-54D826D1859E}"/>
              </a:ext>
            </a:extLst>
          </p:cNvPr>
          <p:cNvCxnSpPr>
            <a:cxnSpLocks/>
          </p:cNvCxnSpPr>
          <p:nvPr/>
        </p:nvCxnSpPr>
        <p:spPr>
          <a:xfrm>
            <a:off x="-1196341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8FFD01-E5E1-1E5D-93AF-2F225CDD2541}"/>
              </a:ext>
            </a:extLst>
          </p:cNvPr>
          <p:cNvCxnSpPr>
            <a:cxnSpLocks/>
          </p:cNvCxnSpPr>
          <p:nvPr/>
        </p:nvCxnSpPr>
        <p:spPr>
          <a:xfrm>
            <a:off x="-627043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95FE1A-33C3-1E3F-ABC0-661F22CBD2D8}"/>
              </a:ext>
            </a:extLst>
          </p:cNvPr>
          <p:cNvCxnSpPr>
            <a:cxnSpLocks/>
          </p:cNvCxnSpPr>
          <p:nvPr/>
        </p:nvCxnSpPr>
        <p:spPr>
          <a:xfrm>
            <a:off x="-911692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BB9D2B-429C-A345-B5D1-536DD14261B8}"/>
              </a:ext>
            </a:extLst>
          </p:cNvPr>
          <p:cNvCxnSpPr>
            <a:cxnSpLocks/>
          </p:cNvCxnSpPr>
          <p:nvPr/>
        </p:nvCxnSpPr>
        <p:spPr>
          <a:xfrm>
            <a:off x="-342393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Graphic 29" descr="List outline">
            <a:extLst>
              <a:ext uri="{FF2B5EF4-FFF2-40B4-BE49-F238E27FC236}">
                <a16:creationId xmlns:a16="http://schemas.microsoft.com/office/drawing/2014/main" id="{92D99495-17EB-BF10-4151-BC103B3B6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016616" y="3486931"/>
            <a:ext cx="914400" cy="914400"/>
          </a:xfrm>
          <a:prstGeom prst="rect">
            <a:avLst/>
          </a:prstGeom>
        </p:spPr>
      </p:pic>
      <p:pic>
        <p:nvPicPr>
          <p:cNvPr id="31" name="Graphic 30" descr="Teacher outline">
            <a:extLst>
              <a:ext uri="{FF2B5EF4-FFF2-40B4-BE49-F238E27FC236}">
                <a16:creationId xmlns:a16="http://schemas.microsoft.com/office/drawing/2014/main" id="{049812BC-BA88-C016-F789-4E98C04E5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2016616" y="4744403"/>
            <a:ext cx="914400" cy="914400"/>
          </a:xfrm>
          <a:prstGeom prst="rect">
            <a:avLst/>
          </a:prstGeom>
        </p:spPr>
      </p:pic>
      <p:pic>
        <p:nvPicPr>
          <p:cNvPr id="32" name="Graphic 31" descr="Ui Ux outline">
            <a:extLst>
              <a:ext uri="{FF2B5EF4-FFF2-40B4-BE49-F238E27FC236}">
                <a16:creationId xmlns:a16="http://schemas.microsoft.com/office/drawing/2014/main" id="{B66B627E-2018-E713-12E9-BBFCD462B2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2016616" y="2159793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7D45FC6-9226-9B22-A074-D39E7BBCD4B1}"/>
              </a:ext>
            </a:extLst>
          </p:cNvPr>
          <p:cNvSpPr txBox="1"/>
          <p:nvPr/>
        </p:nvSpPr>
        <p:spPr>
          <a:xfrm>
            <a:off x="-10366602" y="2289643"/>
            <a:ext cx="8918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UI 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customization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Streamlit’s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limited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flexibility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for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complex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layouts or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customized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components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9492AA-6FC8-9799-4B4D-7121A56FF29A}"/>
              </a:ext>
            </a:extLst>
          </p:cNvPr>
          <p:cNvSpPr txBox="1"/>
          <p:nvPr/>
        </p:nvSpPr>
        <p:spPr>
          <a:xfrm>
            <a:off x="-10366602" y="4878437"/>
            <a:ext cx="9157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User training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Initial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training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needed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for non-technical users to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utilize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advanced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functionalities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61FB59-BD36-3796-B8B4-603C7B3374E4}"/>
              </a:ext>
            </a:extLst>
          </p:cNvPr>
          <p:cNvSpPr txBox="1"/>
          <p:nvPr/>
        </p:nvSpPr>
        <p:spPr>
          <a:xfrm>
            <a:off x="-10366602" y="3618873"/>
            <a:ext cx="8918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Documentation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Tutorials and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guides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could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ease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user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onboarding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understanding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70311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4480-599D-1256-F097-FAE30CF3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E685E7-7023-0161-BA55-FB52E275B507}"/>
              </a:ext>
            </a:extLst>
          </p:cNvPr>
          <p:cNvSpPr txBox="1"/>
          <p:nvPr/>
        </p:nvSpPr>
        <p:spPr>
          <a:xfrm>
            <a:off x="721333" y="768923"/>
            <a:ext cx="1768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Georgia" panose="02040502050405020303" pitchFamily="18" charset="0"/>
              </a:rPr>
              <a:t>dataset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D1E353-8CEF-B53B-5D90-9328CE14881D}"/>
              </a:ext>
            </a:extLst>
          </p:cNvPr>
          <p:cNvCxnSpPr>
            <a:cxnSpLocks/>
          </p:cNvCxnSpPr>
          <p:nvPr/>
        </p:nvCxnSpPr>
        <p:spPr>
          <a:xfrm>
            <a:off x="1138496" y="4976698"/>
            <a:ext cx="0" cy="46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74EF14-66C8-9B5A-E0EC-25851E33014B}"/>
              </a:ext>
            </a:extLst>
          </p:cNvPr>
          <p:cNvCxnSpPr>
            <a:cxnSpLocks/>
          </p:cNvCxnSpPr>
          <p:nvPr/>
        </p:nvCxnSpPr>
        <p:spPr>
          <a:xfrm flipV="1">
            <a:off x="1121182" y="2479408"/>
            <a:ext cx="906634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D1B2497-F585-6310-BE2D-4AE29B63E202}"/>
              </a:ext>
            </a:extLst>
          </p:cNvPr>
          <p:cNvSpPr txBox="1"/>
          <p:nvPr/>
        </p:nvSpPr>
        <p:spPr>
          <a:xfrm>
            <a:off x="2481629" y="2230847"/>
            <a:ext cx="176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Demografic</a:t>
            </a:r>
            <a:r>
              <a:rPr lang="it-IT" sz="1100" dirty="0">
                <a:latin typeface="Georgia" panose="02040502050405020303" pitchFamily="18" charset="0"/>
              </a:rPr>
              <a:t> 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6287DB-F277-8EFD-AB41-1BE13AE5E6C7}"/>
              </a:ext>
            </a:extLst>
          </p:cNvPr>
          <p:cNvCxnSpPr>
            <a:cxnSpLocks/>
          </p:cNvCxnSpPr>
          <p:nvPr/>
        </p:nvCxnSpPr>
        <p:spPr>
          <a:xfrm>
            <a:off x="1121142" y="3159279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6462A0-5BB4-D39F-FF83-74E4A1CA9924}"/>
              </a:ext>
            </a:extLst>
          </p:cNvPr>
          <p:cNvSpPr txBox="1"/>
          <p:nvPr/>
        </p:nvSpPr>
        <p:spPr>
          <a:xfrm>
            <a:off x="2453467" y="2943312"/>
            <a:ext cx="256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Socio-economic</a:t>
            </a:r>
            <a:r>
              <a:rPr lang="it-IT" dirty="0">
                <a:latin typeface="Georgia" panose="02040502050405020303" pitchFamily="18" charset="0"/>
              </a:rPr>
              <a:t> status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B9328A-19E0-3163-8948-606D8DF5FFAA}"/>
              </a:ext>
            </a:extLst>
          </p:cNvPr>
          <p:cNvCxnSpPr>
            <a:cxnSpLocks/>
          </p:cNvCxnSpPr>
          <p:nvPr/>
        </p:nvCxnSpPr>
        <p:spPr>
          <a:xfrm>
            <a:off x="1136075" y="3978269"/>
            <a:ext cx="8917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427FCE-1425-8AC2-DEFB-94F91991839F}"/>
              </a:ext>
            </a:extLst>
          </p:cNvPr>
          <p:cNvCxnSpPr>
            <a:cxnSpLocks/>
          </p:cNvCxnSpPr>
          <p:nvPr/>
        </p:nvCxnSpPr>
        <p:spPr>
          <a:xfrm>
            <a:off x="1136075" y="473934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1958BF6-614B-59D1-BC3E-D7B1C577961B}"/>
              </a:ext>
            </a:extLst>
          </p:cNvPr>
          <p:cNvCxnSpPr>
            <a:cxnSpLocks/>
          </p:cNvCxnSpPr>
          <p:nvPr/>
        </p:nvCxnSpPr>
        <p:spPr>
          <a:xfrm>
            <a:off x="1129031" y="5444001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Soldi volanti con riempimento a tinta unita">
            <a:extLst>
              <a:ext uri="{FF2B5EF4-FFF2-40B4-BE49-F238E27FC236}">
                <a16:creationId xmlns:a16="http://schemas.microsoft.com/office/drawing/2014/main" id="{2AE147A2-2445-A8AC-61F8-66D79E002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02826" y="2888687"/>
            <a:ext cx="415635" cy="41563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CA764F5-A739-F900-B404-1574E07A58CA}"/>
              </a:ext>
            </a:extLst>
          </p:cNvPr>
          <p:cNvSpPr txBox="1"/>
          <p:nvPr/>
        </p:nvSpPr>
        <p:spPr>
          <a:xfrm>
            <a:off x="2504155" y="3802154"/>
            <a:ext cx="2204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Family background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DF399B-B0DE-D29D-11E0-ED8C2F2F9D29}"/>
              </a:ext>
            </a:extLst>
          </p:cNvPr>
          <p:cNvSpPr txBox="1"/>
          <p:nvPr/>
        </p:nvSpPr>
        <p:spPr>
          <a:xfrm>
            <a:off x="2570359" y="4516546"/>
            <a:ext cx="2782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Academic</a:t>
            </a:r>
            <a:r>
              <a:rPr lang="it-IT" dirty="0">
                <a:latin typeface="Georgia" panose="02040502050405020303" pitchFamily="18" charset="0"/>
              </a:rPr>
              <a:t> performance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57D21F-E74C-3541-0858-266060986CCE}"/>
              </a:ext>
            </a:extLst>
          </p:cNvPr>
          <p:cNvSpPr txBox="1"/>
          <p:nvPr/>
        </p:nvSpPr>
        <p:spPr>
          <a:xfrm>
            <a:off x="2525759" y="5245708"/>
            <a:ext cx="235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Academic</a:t>
            </a:r>
            <a:r>
              <a:rPr lang="it-IT" dirty="0">
                <a:latin typeface="Georgia" panose="02040502050405020303" pitchFamily="18" charset="0"/>
              </a:rPr>
              <a:t> pathway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A50807-167D-A180-3981-1C34F362501F}"/>
              </a:ext>
            </a:extLst>
          </p:cNvPr>
          <p:cNvSpPr txBox="1"/>
          <p:nvPr/>
        </p:nvSpPr>
        <p:spPr>
          <a:xfrm>
            <a:off x="2444756" y="5830874"/>
            <a:ext cx="375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latin typeface="Georgia" panose="02040502050405020303" pitchFamily="18" charset="0"/>
              </a:rPr>
              <a:t>Regional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Macroeconomic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context</a:t>
            </a:r>
            <a:endParaRPr lang="it-IT" dirty="0">
              <a:latin typeface="Georgia" panose="02040502050405020303" pitchFamily="18" charset="0"/>
            </a:endParaRPr>
          </a:p>
        </p:txBody>
      </p:sp>
      <p:pic>
        <p:nvPicPr>
          <p:cNvPr id="36" name="Graphic 35" descr="Document outline">
            <a:extLst>
              <a:ext uri="{FF2B5EF4-FFF2-40B4-BE49-F238E27FC236}">
                <a16:creationId xmlns:a16="http://schemas.microsoft.com/office/drawing/2014/main" id="{9D8F87AE-2FFD-4053-CA18-CC49BBCCD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3541" y="4297187"/>
            <a:ext cx="569225" cy="569225"/>
          </a:xfrm>
          <a:prstGeom prst="rect">
            <a:avLst/>
          </a:prstGeom>
        </p:spPr>
      </p:pic>
      <p:pic>
        <p:nvPicPr>
          <p:cNvPr id="37" name="Graphic 36" descr="Utente con riempimento a tinta unita">
            <a:extLst>
              <a:ext uri="{FF2B5EF4-FFF2-40B4-BE49-F238E27FC236}">
                <a16:creationId xmlns:a16="http://schemas.microsoft.com/office/drawing/2014/main" id="{B1F2A652-5AA7-8AD2-5105-029DF9756D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065278" y="2155940"/>
            <a:ext cx="401062" cy="401062"/>
          </a:xfrm>
          <a:prstGeom prst="rect">
            <a:avLst/>
          </a:prstGeom>
        </p:spPr>
      </p:pic>
      <p:pic>
        <p:nvPicPr>
          <p:cNvPr id="38" name="Graphic 37" descr="Clipboard Mixed outline">
            <a:extLst>
              <a:ext uri="{FF2B5EF4-FFF2-40B4-BE49-F238E27FC236}">
                <a16:creationId xmlns:a16="http://schemas.microsoft.com/office/drawing/2014/main" id="{667F047B-621D-6446-DF86-3F5AB7EC8D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51007" y="5040663"/>
            <a:ext cx="531412" cy="53141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E2E5620C-BDBA-2C08-C89B-2BB18133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0092"/>
            <a:ext cx="10515600" cy="1325563"/>
          </a:xfrm>
        </p:spPr>
        <p:txBody>
          <a:bodyPr/>
          <a:lstStyle/>
          <a:p>
            <a:pPr algn="ctr"/>
            <a:r>
              <a:rPr lang="it-IT" dirty="0">
                <a:latin typeface="Georgia" panose="02040502050405020303" pitchFamily="18" charset="0"/>
              </a:rPr>
              <a:t>DATASET AND PREPROCESSING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41D1D8-3481-F98D-D08B-D762770DEA6E}"/>
              </a:ext>
            </a:extLst>
          </p:cNvPr>
          <p:cNvSpPr txBox="1"/>
          <p:nvPr/>
        </p:nvSpPr>
        <p:spPr>
          <a:xfrm>
            <a:off x="1777179" y="802071"/>
            <a:ext cx="863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eorgia" panose="02040502050405020303" pitchFamily="18" charset="0"/>
                <a:cs typeface="Times New Roman" panose="02020603050405020304" pitchFamily="18" charset="0"/>
              </a:rPr>
              <a:t>Features overview</a:t>
            </a:r>
            <a:endParaRPr lang="it-IT" sz="280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C6B87A2-05CF-17C9-5ECF-2F2CFA1B9647}"/>
              </a:ext>
            </a:extLst>
          </p:cNvPr>
          <p:cNvCxnSpPr>
            <a:cxnSpLocks/>
          </p:cNvCxnSpPr>
          <p:nvPr/>
        </p:nvCxnSpPr>
        <p:spPr>
          <a:xfrm>
            <a:off x="83820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C5D5E2F-88B6-B31F-C31C-4CCA223DDF9E}"/>
              </a:ext>
            </a:extLst>
          </p:cNvPr>
          <p:cNvCxnSpPr>
            <a:cxnSpLocks/>
          </p:cNvCxnSpPr>
          <p:nvPr/>
        </p:nvCxnSpPr>
        <p:spPr>
          <a:xfrm>
            <a:off x="6531186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A7E24BF-38B2-FAE9-282D-5EB64BF1E893}"/>
              </a:ext>
            </a:extLst>
          </p:cNvPr>
          <p:cNvCxnSpPr>
            <a:cxnSpLocks/>
          </p:cNvCxnSpPr>
          <p:nvPr/>
        </p:nvCxnSpPr>
        <p:spPr>
          <a:xfrm>
            <a:off x="3684693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C24B300-0F90-BC77-AA98-50BC19C86736}"/>
              </a:ext>
            </a:extLst>
          </p:cNvPr>
          <p:cNvCxnSpPr>
            <a:cxnSpLocks/>
          </p:cNvCxnSpPr>
          <p:nvPr/>
        </p:nvCxnSpPr>
        <p:spPr>
          <a:xfrm>
            <a:off x="9377680" y="6416040"/>
            <a:ext cx="1976120" cy="0"/>
          </a:xfrm>
          <a:prstGeom prst="line">
            <a:avLst/>
          </a:prstGeom>
          <a:ln w="38100">
            <a:solidFill>
              <a:schemeClr val="accent1">
                <a:lumMod val="50000"/>
                <a:alpha val="42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A91E298-9CC4-31E8-DE8E-EAD5383A646B}"/>
              </a:ext>
            </a:extLst>
          </p:cNvPr>
          <p:cNvSpPr txBox="1"/>
          <p:nvPr/>
        </p:nvSpPr>
        <p:spPr>
          <a:xfrm>
            <a:off x="4997730" y="1358692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Georgia" panose="02040502050405020303" pitchFamily="18" charset="0"/>
              </a:rPr>
              <a:t>Gender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0C811F7-8382-4F90-7DAC-1C710089487A}"/>
              </a:ext>
            </a:extLst>
          </p:cNvPr>
          <p:cNvSpPr txBox="1"/>
          <p:nvPr/>
        </p:nvSpPr>
        <p:spPr>
          <a:xfrm>
            <a:off x="4997729" y="1651165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 err="1">
                <a:latin typeface="Georgia" panose="02040502050405020303" pitchFamily="18" charset="0"/>
              </a:rPr>
              <a:t>Nationality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C1A086-4C2C-BEA7-C804-25B1C8903FF0}"/>
              </a:ext>
            </a:extLst>
          </p:cNvPr>
          <p:cNvSpPr txBox="1"/>
          <p:nvPr/>
        </p:nvSpPr>
        <p:spPr>
          <a:xfrm>
            <a:off x="4997728" y="1955056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>
                <a:latin typeface="Georgia" panose="02040502050405020303" pitchFamily="18" charset="0"/>
              </a:rPr>
              <a:t>Age </a:t>
            </a:r>
            <a:r>
              <a:rPr lang="it-IT" sz="1400" dirty="0" err="1">
                <a:latin typeface="Georgia" panose="02040502050405020303" pitchFamily="18" charset="0"/>
              </a:rPr>
              <a:t>at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enrollment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660E775-7A1A-B791-4C55-182893AD19A3}"/>
              </a:ext>
            </a:extLst>
          </p:cNvPr>
          <p:cNvSpPr txBox="1"/>
          <p:nvPr/>
        </p:nvSpPr>
        <p:spPr>
          <a:xfrm>
            <a:off x="8380484" y="2161354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5. </a:t>
            </a:r>
            <a:r>
              <a:rPr lang="it-IT" sz="1400" dirty="0" err="1">
                <a:latin typeface="Georgia" panose="02040502050405020303" pitchFamily="18" charset="0"/>
              </a:rPr>
              <a:t>Tuition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fees</a:t>
            </a:r>
            <a:r>
              <a:rPr lang="it-IT" sz="1400" dirty="0">
                <a:latin typeface="Georgia" panose="02040502050405020303" pitchFamily="18" charset="0"/>
              </a:rPr>
              <a:t> up-to-date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E6BC242-2D9D-45E3-35B5-47534C51D3D7}"/>
              </a:ext>
            </a:extLst>
          </p:cNvPr>
          <p:cNvSpPr txBox="1"/>
          <p:nvPr/>
        </p:nvSpPr>
        <p:spPr>
          <a:xfrm>
            <a:off x="8363142" y="1873118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4. </a:t>
            </a:r>
            <a:r>
              <a:rPr lang="it-IT" sz="1400" dirty="0" err="1">
                <a:latin typeface="Georgia" panose="02040502050405020303" pitchFamily="18" charset="0"/>
              </a:rPr>
              <a:t>Debtor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F387E6-FEA0-65D0-6ADD-565B98A11ECB}"/>
              </a:ext>
            </a:extLst>
          </p:cNvPr>
          <p:cNvSpPr txBox="1"/>
          <p:nvPr/>
        </p:nvSpPr>
        <p:spPr>
          <a:xfrm>
            <a:off x="8380484" y="2502614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6. </a:t>
            </a:r>
            <a:r>
              <a:rPr lang="it-IT" sz="1400" dirty="0" err="1">
                <a:latin typeface="Georgia" panose="02040502050405020303" pitchFamily="18" charset="0"/>
              </a:rPr>
              <a:t>Scholarship</a:t>
            </a:r>
            <a:r>
              <a:rPr lang="it-IT" sz="1400" dirty="0">
                <a:latin typeface="Georgia" panose="02040502050405020303" pitchFamily="18" charset="0"/>
              </a:rPr>
              <a:t> holder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08C9AF-3FC8-43EC-4303-41C9C36196FF}"/>
              </a:ext>
            </a:extLst>
          </p:cNvPr>
          <p:cNvSpPr txBox="1"/>
          <p:nvPr/>
        </p:nvSpPr>
        <p:spPr>
          <a:xfrm>
            <a:off x="5635452" y="3229458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8. </a:t>
            </a:r>
            <a:r>
              <a:rPr lang="it-IT" sz="1400" dirty="0" err="1">
                <a:latin typeface="Georgia" panose="02040502050405020303" pitchFamily="18" charset="0"/>
              </a:rPr>
              <a:t>Father’s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qualification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6E60BD-7099-DB24-4316-AF98FE61A9CA}"/>
              </a:ext>
            </a:extLst>
          </p:cNvPr>
          <p:cNvSpPr txBox="1"/>
          <p:nvPr/>
        </p:nvSpPr>
        <p:spPr>
          <a:xfrm>
            <a:off x="5635452" y="3531026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9. </a:t>
            </a:r>
            <a:r>
              <a:rPr lang="it-IT" sz="1400" dirty="0" err="1">
                <a:latin typeface="Georgia" panose="02040502050405020303" pitchFamily="18" charset="0"/>
              </a:rPr>
              <a:t>Mother’s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qualification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pic>
        <p:nvPicPr>
          <p:cNvPr id="4" name="Picture 3" descr="A logo of a religious group&#10;&#10;Description automatically generated with medium confidence">
            <a:extLst>
              <a:ext uri="{FF2B5EF4-FFF2-40B4-BE49-F238E27FC236}">
                <a16:creationId xmlns:a16="http://schemas.microsoft.com/office/drawing/2014/main" id="{925B60E1-6C2E-7952-548B-4A9C566A6AB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3050" y="155183"/>
            <a:ext cx="1122856" cy="1122856"/>
          </a:xfrm>
          <a:prstGeom prst="rect">
            <a:avLst/>
          </a:prstGeom>
        </p:spPr>
      </p:pic>
      <p:pic>
        <p:nvPicPr>
          <p:cNvPr id="5" name="Elemento grafico 4" descr="Calendario mensile con riempimento a tinta unita">
            <a:extLst>
              <a:ext uri="{FF2B5EF4-FFF2-40B4-BE49-F238E27FC236}">
                <a16:creationId xmlns:a16="http://schemas.microsoft.com/office/drawing/2014/main" id="{1051ABB6-51E3-8FD8-7829-FD5C7705E9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849" y="1100322"/>
            <a:ext cx="891975" cy="891975"/>
          </a:xfrm>
          <a:prstGeom prst="rect">
            <a:avLst/>
          </a:prstGeom>
        </p:spPr>
      </p:pic>
      <p:cxnSp>
        <p:nvCxnSpPr>
          <p:cNvPr id="60" name="Straight Connector 12">
            <a:extLst>
              <a:ext uri="{FF2B5EF4-FFF2-40B4-BE49-F238E27FC236}">
                <a16:creationId xmlns:a16="http://schemas.microsoft.com/office/drawing/2014/main" id="{FDDB654D-8C46-A7FD-19F1-F12A59091893}"/>
              </a:ext>
            </a:extLst>
          </p:cNvPr>
          <p:cNvCxnSpPr>
            <a:cxnSpLocks/>
          </p:cNvCxnSpPr>
          <p:nvPr/>
        </p:nvCxnSpPr>
        <p:spPr>
          <a:xfrm>
            <a:off x="1121142" y="2056331"/>
            <a:ext cx="0" cy="4319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12">
            <a:extLst>
              <a:ext uri="{FF2B5EF4-FFF2-40B4-BE49-F238E27FC236}">
                <a16:creationId xmlns:a16="http://schemas.microsoft.com/office/drawing/2014/main" id="{E26A9354-0835-C3AE-5DBA-D92118A997C1}"/>
              </a:ext>
            </a:extLst>
          </p:cNvPr>
          <p:cNvCxnSpPr>
            <a:cxnSpLocks/>
          </p:cNvCxnSpPr>
          <p:nvPr/>
        </p:nvCxnSpPr>
        <p:spPr>
          <a:xfrm>
            <a:off x="1121142" y="2711215"/>
            <a:ext cx="2602" cy="4480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12">
            <a:extLst>
              <a:ext uri="{FF2B5EF4-FFF2-40B4-BE49-F238E27FC236}">
                <a16:creationId xmlns:a16="http://schemas.microsoft.com/office/drawing/2014/main" id="{6613CA49-07BD-C0E4-B63F-BE8B4BEA5E7F}"/>
              </a:ext>
            </a:extLst>
          </p:cNvPr>
          <p:cNvCxnSpPr>
            <a:cxnSpLocks/>
          </p:cNvCxnSpPr>
          <p:nvPr/>
        </p:nvCxnSpPr>
        <p:spPr>
          <a:xfrm>
            <a:off x="1121142" y="3462504"/>
            <a:ext cx="7889" cy="515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7">
            <a:extLst>
              <a:ext uri="{FF2B5EF4-FFF2-40B4-BE49-F238E27FC236}">
                <a16:creationId xmlns:a16="http://schemas.microsoft.com/office/drawing/2014/main" id="{C4BD0AA4-0E08-8846-2ED7-A31503B15E46}"/>
              </a:ext>
            </a:extLst>
          </p:cNvPr>
          <p:cNvCxnSpPr>
            <a:cxnSpLocks/>
          </p:cNvCxnSpPr>
          <p:nvPr/>
        </p:nvCxnSpPr>
        <p:spPr>
          <a:xfrm flipH="1">
            <a:off x="1138255" y="4260698"/>
            <a:ext cx="4581" cy="465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12">
            <a:extLst>
              <a:ext uri="{FF2B5EF4-FFF2-40B4-BE49-F238E27FC236}">
                <a16:creationId xmlns:a16="http://schemas.microsoft.com/office/drawing/2014/main" id="{0D1F6431-C9B5-6E04-F23F-2AAC9039294A}"/>
              </a:ext>
            </a:extLst>
          </p:cNvPr>
          <p:cNvCxnSpPr>
            <a:cxnSpLocks/>
          </p:cNvCxnSpPr>
          <p:nvPr/>
        </p:nvCxnSpPr>
        <p:spPr>
          <a:xfrm>
            <a:off x="1142836" y="5637689"/>
            <a:ext cx="0" cy="46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24">
            <a:extLst>
              <a:ext uri="{FF2B5EF4-FFF2-40B4-BE49-F238E27FC236}">
                <a16:creationId xmlns:a16="http://schemas.microsoft.com/office/drawing/2014/main" id="{4DE6BBD3-7C72-997F-D625-1FEB9921286B}"/>
              </a:ext>
            </a:extLst>
          </p:cNvPr>
          <p:cNvCxnSpPr>
            <a:cxnSpLocks/>
          </p:cNvCxnSpPr>
          <p:nvPr/>
        </p:nvCxnSpPr>
        <p:spPr>
          <a:xfrm>
            <a:off x="1152105" y="6095250"/>
            <a:ext cx="9066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" name="Elemento grafico 102" descr="Gruppo con riempimento a tinta unita">
            <a:extLst>
              <a:ext uri="{FF2B5EF4-FFF2-40B4-BE49-F238E27FC236}">
                <a16:creationId xmlns:a16="http://schemas.microsoft.com/office/drawing/2014/main" id="{B5D3EEA7-579A-A9AD-7F94-EBD6905D085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66511" y="3677641"/>
            <a:ext cx="459248" cy="459248"/>
          </a:xfrm>
          <a:prstGeom prst="rect">
            <a:avLst/>
          </a:prstGeom>
        </p:spPr>
      </p:pic>
      <p:cxnSp>
        <p:nvCxnSpPr>
          <p:cNvPr id="104" name="Straight Connector 12">
            <a:extLst>
              <a:ext uri="{FF2B5EF4-FFF2-40B4-BE49-F238E27FC236}">
                <a16:creationId xmlns:a16="http://schemas.microsoft.com/office/drawing/2014/main" id="{83BCA0F9-B956-4970-13AE-E689E17A1A14}"/>
              </a:ext>
            </a:extLst>
          </p:cNvPr>
          <p:cNvCxnSpPr>
            <a:cxnSpLocks/>
          </p:cNvCxnSpPr>
          <p:nvPr/>
        </p:nvCxnSpPr>
        <p:spPr>
          <a:xfrm>
            <a:off x="3961855" y="1546309"/>
            <a:ext cx="0" cy="9199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5">
            <a:extLst>
              <a:ext uri="{FF2B5EF4-FFF2-40B4-BE49-F238E27FC236}">
                <a16:creationId xmlns:a16="http://schemas.microsoft.com/office/drawing/2014/main" id="{5C422CD7-EEF0-0ABA-7822-B87ADEEBE03E}"/>
              </a:ext>
            </a:extLst>
          </p:cNvPr>
          <p:cNvCxnSpPr>
            <a:cxnSpLocks/>
          </p:cNvCxnSpPr>
          <p:nvPr/>
        </p:nvCxnSpPr>
        <p:spPr>
          <a:xfrm>
            <a:off x="3961855" y="1541382"/>
            <a:ext cx="918865" cy="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5">
            <a:extLst>
              <a:ext uri="{FF2B5EF4-FFF2-40B4-BE49-F238E27FC236}">
                <a16:creationId xmlns:a16="http://schemas.microsoft.com/office/drawing/2014/main" id="{1C9972B2-3343-99D6-8413-9CA560739C97}"/>
              </a:ext>
            </a:extLst>
          </p:cNvPr>
          <p:cNvCxnSpPr>
            <a:cxnSpLocks/>
          </p:cNvCxnSpPr>
          <p:nvPr/>
        </p:nvCxnSpPr>
        <p:spPr>
          <a:xfrm>
            <a:off x="3961855" y="1541920"/>
            <a:ext cx="9188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5">
            <a:extLst>
              <a:ext uri="{FF2B5EF4-FFF2-40B4-BE49-F238E27FC236}">
                <a16:creationId xmlns:a16="http://schemas.microsoft.com/office/drawing/2014/main" id="{85185356-57A8-7E9C-70FC-687E16F276B6}"/>
              </a:ext>
            </a:extLst>
          </p:cNvPr>
          <p:cNvCxnSpPr>
            <a:cxnSpLocks/>
          </p:cNvCxnSpPr>
          <p:nvPr/>
        </p:nvCxnSpPr>
        <p:spPr>
          <a:xfrm>
            <a:off x="5207496" y="4255241"/>
            <a:ext cx="31191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5">
            <a:extLst>
              <a:ext uri="{FF2B5EF4-FFF2-40B4-BE49-F238E27FC236}">
                <a16:creationId xmlns:a16="http://schemas.microsoft.com/office/drawing/2014/main" id="{3CC4D0BE-94A7-5D9A-2B6A-9C140FA9AECC}"/>
              </a:ext>
            </a:extLst>
          </p:cNvPr>
          <p:cNvCxnSpPr>
            <a:cxnSpLocks/>
          </p:cNvCxnSpPr>
          <p:nvPr/>
        </p:nvCxnSpPr>
        <p:spPr>
          <a:xfrm flipV="1">
            <a:off x="4702999" y="3435880"/>
            <a:ext cx="906634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2">
            <a:extLst>
              <a:ext uri="{FF2B5EF4-FFF2-40B4-BE49-F238E27FC236}">
                <a16:creationId xmlns:a16="http://schemas.microsoft.com/office/drawing/2014/main" id="{A31317CC-8F73-61F1-D9EA-151D0899190E}"/>
              </a:ext>
            </a:extLst>
          </p:cNvPr>
          <p:cNvCxnSpPr>
            <a:cxnSpLocks/>
          </p:cNvCxnSpPr>
          <p:nvPr/>
        </p:nvCxnSpPr>
        <p:spPr>
          <a:xfrm>
            <a:off x="4891061" y="2466212"/>
            <a:ext cx="0" cy="7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5">
            <a:extLst>
              <a:ext uri="{FF2B5EF4-FFF2-40B4-BE49-F238E27FC236}">
                <a16:creationId xmlns:a16="http://schemas.microsoft.com/office/drawing/2014/main" id="{2CC25F01-7580-2EE3-D2F6-B7A30CAC68BC}"/>
              </a:ext>
            </a:extLst>
          </p:cNvPr>
          <p:cNvCxnSpPr>
            <a:cxnSpLocks/>
          </p:cNvCxnSpPr>
          <p:nvPr/>
        </p:nvCxnSpPr>
        <p:spPr>
          <a:xfrm>
            <a:off x="4880720" y="2467990"/>
            <a:ext cx="3445946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2">
            <a:extLst>
              <a:ext uri="{FF2B5EF4-FFF2-40B4-BE49-F238E27FC236}">
                <a16:creationId xmlns:a16="http://schemas.microsoft.com/office/drawing/2014/main" id="{433C47A5-90C6-A553-41DD-D32C51B9103B}"/>
              </a:ext>
            </a:extLst>
          </p:cNvPr>
          <p:cNvCxnSpPr>
            <a:cxnSpLocks/>
          </p:cNvCxnSpPr>
          <p:nvPr/>
        </p:nvCxnSpPr>
        <p:spPr>
          <a:xfrm>
            <a:off x="4697557" y="3432058"/>
            <a:ext cx="10885" cy="6513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">
            <a:extLst>
              <a:ext uri="{FF2B5EF4-FFF2-40B4-BE49-F238E27FC236}">
                <a16:creationId xmlns:a16="http://schemas.microsoft.com/office/drawing/2014/main" id="{A180F097-8A89-6A54-B31D-4CF041664142}"/>
              </a:ext>
            </a:extLst>
          </p:cNvPr>
          <p:cNvCxnSpPr>
            <a:cxnSpLocks/>
          </p:cNvCxnSpPr>
          <p:nvPr/>
        </p:nvCxnSpPr>
        <p:spPr>
          <a:xfrm>
            <a:off x="5207496" y="4266175"/>
            <a:ext cx="0" cy="49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78">
            <a:extLst>
              <a:ext uri="{FF2B5EF4-FFF2-40B4-BE49-F238E27FC236}">
                <a16:creationId xmlns:a16="http://schemas.microsoft.com/office/drawing/2014/main" id="{EFFD5CF7-9B7F-3457-5596-0CB374D1AE30}"/>
              </a:ext>
            </a:extLst>
          </p:cNvPr>
          <p:cNvSpPr txBox="1"/>
          <p:nvPr/>
        </p:nvSpPr>
        <p:spPr>
          <a:xfrm>
            <a:off x="8507306" y="3809184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11. First </a:t>
            </a:r>
            <a:r>
              <a:rPr lang="it-IT" sz="1400" dirty="0" err="1">
                <a:latin typeface="Georgia" panose="02040502050405020303" pitchFamily="18" charset="0"/>
              </a:rPr>
              <a:t>semester</a:t>
            </a:r>
            <a:r>
              <a:rPr lang="it-IT" sz="1400" dirty="0">
                <a:latin typeface="Georgia" panose="02040502050405020303" pitchFamily="18" charset="0"/>
              </a:rPr>
              <a:t> grade</a:t>
            </a:r>
          </a:p>
        </p:txBody>
      </p:sp>
      <p:sp>
        <p:nvSpPr>
          <p:cNvPr id="124" name="TextBox 78">
            <a:extLst>
              <a:ext uri="{FF2B5EF4-FFF2-40B4-BE49-F238E27FC236}">
                <a16:creationId xmlns:a16="http://schemas.microsoft.com/office/drawing/2014/main" id="{4F23D406-1672-2F57-3BF6-187B7C2FC40D}"/>
              </a:ext>
            </a:extLst>
          </p:cNvPr>
          <p:cNvSpPr txBox="1"/>
          <p:nvPr/>
        </p:nvSpPr>
        <p:spPr>
          <a:xfrm>
            <a:off x="8507306" y="4080734"/>
            <a:ext cx="3443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12. Total </a:t>
            </a:r>
            <a:r>
              <a:rPr lang="it-IT" sz="1400" dirty="0" err="1">
                <a:latin typeface="Georgia" panose="02040502050405020303" pitchFamily="18" charset="0"/>
              </a:rPr>
              <a:t>number</a:t>
            </a:r>
            <a:r>
              <a:rPr lang="it-IT" sz="1400" dirty="0">
                <a:latin typeface="Georgia" panose="02040502050405020303" pitchFamily="18" charset="0"/>
              </a:rPr>
              <a:t> of </a:t>
            </a:r>
            <a:r>
              <a:rPr lang="it-IT" sz="1400" dirty="0" err="1">
                <a:latin typeface="Georgia" panose="02040502050405020303" pitchFamily="18" charset="0"/>
              </a:rPr>
              <a:t>curr</a:t>
            </a:r>
            <a:r>
              <a:rPr lang="it-IT" sz="1400" dirty="0">
                <a:latin typeface="Georgia" panose="02040502050405020303" pitchFamily="18" charset="0"/>
              </a:rPr>
              <a:t>. </a:t>
            </a:r>
            <a:r>
              <a:rPr lang="it-IT" sz="1400" dirty="0" err="1">
                <a:latin typeface="Georgia" panose="02040502050405020303" pitchFamily="18" charset="0"/>
              </a:rPr>
              <a:t>units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approved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25" name="TextBox 78">
            <a:extLst>
              <a:ext uri="{FF2B5EF4-FFF2-40B4-BE49-F238E27FC236}">
                <a16:creationId xmlns:a16="http://schemas.microsoft.com/office/drawing/2014/main" id="{87474C26-4869-B6B1-680C-954A3FD79CFC}"/>
              </a:ext>
            </a:extLst>
          </p:cNvPr>
          <p:cNvSpPr txBox="1"/>
          <p:nvPr/>
        </p:nvSpPr>
        <p:spPr>
          <a:xfrm>
            <a:off x="8507306" y="4366885"/>
            <a:ext cx="3423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13. Total </a:t>
            </a:r>
            <a:r>
              <a:rPr lang="it-IT" sz="1400" dirty="0" err="1">
                <a:latin typeface="Georgia" panose="02040502050405020303" pitchFamily="18" charset="0"/>
              </a:rPr>
              <a:t>number</a:t>
            </a:r>
            <a:r>
              <a:rPr lang="it-IT" sz="1400" dirty="0">
                <a:latin typeface="Georgia" panose="02040502050405020303" pitchFamily="18" charset="0"/>
              </a:rPr>
              <a:t> of </a:t>
            </a:r>
            <a:r>
              <a:rPr lang="it-IT" sz="1400" dirty="0" err="1">
                <a:latin typeface="Georgia" panose="02040502050405020303" pitchFamily="18" charset="0"/>
              </a:rPr>
              <a:t>curr</a:t>
            </a:r>
            <a:r>
              <a:rPr lang="it-IT" sz="1400" dirty="0">
                <a:latin typeface="Georgia" panose="02040502050405020303" pitchFamily="18" charset="0"/>
              </a:rPr>
              <a:t>. </a:t>
            </a:r>
            <a:r>
              <a:rPr lang="it-IT" sz="1400" dirty="0" err="1">
                <a:latin typeface="Georgia" panose="02040502050405020303" pitchFamily="18" charset="0"/>
              </a:rPr>
              <a:t>units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enrolled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126" name="Straight Connector 12">
            <a:extLst>
              <a:ext uri="{FF2B5EF4-FFF2-40B4-BE49-F238E27FC236}">
                <a16:creationId xmlns:a16="http://schemas.microsoft.com/office/drawing/2014/main" id="{D77FCB72-5056-104C-4C39-6D2AA7387560}"/>
              </a:ext>
            </a:extLst>
          </p:cNvPr>
          <p:cNvCxnSpPr>
            <a:cxnSpLocks/>
          </p:cNvCxnSpPr>
          <p:nvPr/>
        </p:nvCxnSpPr>
        <p:spPr>
          <a:xfrm>
            <a:off x="4708442" y="5047103"/>
            <a:ext cx="0" cy="4911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">
            <a:extLst>
              <a:ext uri="{FF2B5EF4-FFF2-40B4-BE49-F238E27FC236}">
                <a16:creationId xmlns:a16="http://schemas.microsoft.com/office/drawing/2014/main" id="{A05976D9-211C-0FE3-7C60-305AF4A9EEC3}"/>
              </a:ext>
            </a:extLst>
          </p:cNvPr>
          <p:cNvCxnSpPr>
            <a:cxnSpLocks/>
          </p:cNvCxnSpPr>
          <p:nvPr/>
        </p:nvCxnSpPr>
        <p:spPr>
          <a:xfrm>
            <a:off x="6095999" y="5725886"/>
            <a:ext cx="0" cy="4029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5">
            <a:extLst>
              <a:ext uri="{FF2B5EF4-FFF2-40B4-BE49-F238E27FC236}">
                <a16:creationId xmlns:a16="http://schemas.microsoft.com/office/drawing/2014/main" id="{66750729-04BB-BA98-A1A6-5C91E157DE56}"/>
              </a:ext>
            </a:extLst>
          </p:cNvPr>
          <p:cNvCxnSpPr>
            <a:cxnSpLocks/>
          </p:cNvCxnSpPr>
          <p:nvPr/>
        </p:nvCxnSpPr>
        <p:spPr>
          <a:xfrm flipV="1">
            <a:off x="4693740" y="5023932"/>
            <a:ext cx="906634" cy="8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78">
            <a:extLst>
              <a:ext uri="{FF2B5EF4-FFF2-40B4-BE49-F238E27FC236}">
                <a16:creationId xmlns:a16="http://schemas.microsoft.com/office/drawing/2014/main" id="{0315AAA3-A2D8-97EE-EAED-E845C0AAC0D5}"/>
              </a:ext>
            </a:extLst>
          </p:cNvPr>
          <p:cNvSpPr txBox="1"/>
          <p:nvPr/>
        </p:nvSpPr>
        <p:spPr>
          <a:xfrm>
            <a:off x="5660812" y="4832842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15. Course</a:t>
            </a:r>
          </a:p>
        </p:txBody>
      </p:sp>
      <p:sp>
        <p:nvSpPr>
          <p:cNvPr id="132" name="TextBox 78">
            <a:extLst>
              <a:ext uri="{FF2B5EF4-FFF2-40B4-BE49-F238E27FC236}">
                <a16:creationId xmlns:a16="http://schemas.microsoft.com/office/drawing/2014/main" id="{F4124C0C-3844-A742-D864-81B1521E5154}"/>
              </a:ext>
            </a:extLst>
          </p:cNvPr>
          <p:cNvSpPr txBox="1"/>
          <p:nvPr/>
        </p:nvSpPr>
        <p:spPr>
          <a:xfrm>
            <a:off x="5635453" y="5125503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16. </a:t>
            </a:r>
            <a:r>
              <a:rPr lang="it-IT" sz="1400" dirty="0" err="1">
                <a:latin typeface="Georgia" panose="02040502050405020303" pitchFamily="18" charset="0"/>
              </a:rPr>
              <a:t>Attendance</a:t>
            </a:r>
            <a:endParaRPr lang="it-IT" sz="1400" dirty="0">
              <a:latin typeface="Georgia" panose="02040502050405020303" pitchFamily="18" charset="0"/>
            </a:endParaRPr>
          </a:p>
        </p:txBody>
      </p:sp>
      <p:cxnSp>
        <p:nvCxnSpPr>
          <p:cNvPr id="133" name="Straight Connector 15">
            <a:extLst>
              <a:ext uri="{FF2B5EF4-FFF2-40B4-BE49-F238E27FC236}">
                <a16:creationId xmlns:a16="http://schemas.microsoft.com/office/drawing/2014/main" id="{A24B8209-58DC-1420-E7F2-D10041B05E9A}"/>
              </a:ext>
            </a:extLst>
          </p:cNvPr>
          <p:cNvCxnSpPr>
            <a:cxnSpLocks/>
          </p:cNvCxnSpPr>
          <p:nvPr/>
        </p:nvCxnSpPr>
        <p:spPr>
          <a:xfrm>
            <a:off x="6095999" y="5735698"/>
            <a:ext cx="31191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78">
            <a:extLst>
              <a:ext uri="{FF2B5EF4-FFF2-40B4-BE49-F238E27FC236}">
                <a16:creationId xmlns:a16="http://schemas.microsoft.com/office/drawing/2014/main" id="{E3E8DE39-81F5-6B87-7C88-232A6D28A67E}"/>
              </a:ext>
            </a:extLst>
          </p:cNvPr>
          <p:cNvSpPr txBox="1"/>
          <p:nvPr/>
        </p:nvSpPr>
        <p:spPr>
          <a:xfrm>
            <a:off x="9189810" y="5376747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18. </a:t>
            </a:r>
            <a:r>
              <a:rPr lang="it-IT" sz="1400" dirty="0" err="1">
                <a:latin typeface="Georgia" panose="02040502050405020303" pitchFamily="18" charset="0"/>
              </a:rPr>
              <a:t>Unemployment</a:t>
            </a:r>
            <a:r>
              <a:rPr lang="it-IT" sz="1400" dirty="0">
                <a:latin typeface="Georgia" panose="02040502050405020303" pitchFamily="18" charset="0"/>
              </a:rPr>
              <a:t> rate</a:t>
            </a:r>
          </a:p>
        </p:txBody>
      </p:sp>
      <p:sp>
        <p:nvSpPr>
          <p:cNvPr id="135" name="TextBox 78">
            <a:extLst>
              <a:ext uri="{FF2B5EF4-FFF2-40B4-BE49-F238E27FC236}">
                <a16:creationId xmlns:a16="http://schemas.microsoft.com/office/drawing/2014/main" id="{7281B292-F5C9-CA57-BC88-87BB5B0E5C16}"/>
              </a:ext>
            </a:extLst>
          </p:cNvPr>
          <p:cNvSpPr txBox="1"/>
          <p:nvPr/>
        </p:nvSpPr>
        <p:spPr>
          <a:xfrm>
            <a:off x="9185984" y="5647174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19. </a:t>
            </a:r>
            <a:r>
              <a:rPr lang="it-IT" sz="1400" dirty="0" err="1">
                <a:latin typeface="Georgia" panose="02040502050405020303" pitchFamily="18" charset="0"/>
              </a:rPr>
              <a:t>Inflation</a:t>
            </a:r>
            <a:r>
              <a:rPr lang="it-IT" sz="1400" dirty="0">
                <a:latin typeface="Georgia" panose="02040502050405020303" pitchFamily="18" charset="0"/>
              </a:rPr>
              <a:t> rate</a:t>
            </a:r>
          </a:p>
        </p:txBody>
      </p:sp>
      <p:sp>
        <p:nvSpPr>
          <p:cNvPr id="136" name="TextBox 78">
            <a:extLst>
              <a:ext uri="{FF2B5EF4-FFF2-40B4-BE49-F238E27FC236}">
                <a16:creationId xmlns:a16="http://schemas.microsoft.com/office/drawing/2014/main" id="{1F8C3C61-3771-3E85-9799-10D139E942E7}"/>
              </a:ext>
            </a:extLst>
          </p:cNvPr>
          <p:cNvSpPr txBox="1"/>
          <p:nvPr/>
        </p:nvSpPr>
        <p:spPr>
          <a:xfrm>
            <a:off x="9218685" y="5922655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20. GDP</a:t>
            </a:r>
          </a:p>
        </p:txBody>
      </p:sp>
      <p:sp>
        <p:nvSpPr>
          <p:cNvPr id="138" name="TextBox 78">
            <a:extLst>
              <a:ext uri="{FF2B5EF4-FFF2-40B4-BE49-F238E27FC236}">
                <a16:creationId xmlns:a16="http://schemas.microsoft.com/office/drawing/2014/main" id="{2BB07A0F-2ADB-F03F-4410-742DE18246CA}"/>
              </a:ext>
            </a:extLst>
          </p:cNvPr>
          <p:cNvSpPr txBox="1"/>
          <p:nvPr/>
        </p:nvSpPr>
        <p:spPr>
          <a:xfrm>
            <a:off x="5635453" y="5399861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17. Application mode</a:t>
            </a:r>
          </a:p>
        </p:txBody>
      </p:sp>
      <p:sp>
        <p:nvSpPr>
          <p:cNvPr id="142" name="TextBox 78">
            <a:extLst>
              <a:ext uri="{FF2B5EF4-FFF2-40B4-BE49-F238E27FC236}">
                <a16:creationId xmlns:a16="http://schemas.microsoft.com/office/drawing/2014/main" id="{E78A1686-4EEC-2D89-61CF-6C05401CDF25}"/>
              </a:ext>
            </a:extLst>
          </p:cNvPr>
          <p:cNvSpPr txBox="1"/>
          <p:nvPr/>
        </p:nvSpPr>
        <p:spPr>
          <a:xfrm>
            <a:off x="5643523" y="3799873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10. </a:t>
            </a:r>
            <a:r>
              <a:rPr lang="it-IT" sz="1400" dirty="0" err="1">
                <a:latin typeface="Georgia" panose="02040502050405020303" pitchFamily="18" charset="0"/>
              </a:rPr>
              <a:t>Father’s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occupation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45" name="TextBox 79">
            <a:extLst>
              <a:ext uri="{FF2B5EF4-FFF2-40B4-BE49-F238E27FC236}">
                <a16:creationId xmlns:a16="http://schemas.microsoft.com/office/drawing/2014/main" id="{E9538EF8-88BC-1F52-D97C-953FFD80DC35}"/>
              </a:ext>
            </a:extLst>
          </p:cNvPr>
          <p:cNvSpPr txBox="1"/>
          <p:nvPr/>
        </p:nvSpPr>
        <p:spPr>
          <a:xfrm>
            <a:off x="8398430" y="2808252"/>
            <a:ext cx="2973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7. </a:t>
            </a:r>
            <a:r>
              <a:rPr lang="it-IT" sz="1400" dirty="0" err="1">
                <a:latin typeface="Georgia" panose="02040502050405020303" pitchFamily="18" charset="0"/>
              </a:rPr>
              <a:t>Displaced</a:t>
            </a:r>
            <a:endParaRPr lang="it-IT" sz="1400" dirty="0">
              <a:latin typeface="Georgia" panose="02040502050405020303" pitchFamily="18" charset="0"/>
            </a:endParaRPr>
          </a:p>
        </p:txBody>
      </p:sp>
      <p:sp>
        <p:nvSpPr>
          <p:cNvPr id="146" name="TextBox 78">
            <a:extLst>
              <a:ext uri="{FF2B5EF4-FFF2-40B4-BE49-F238E27FC236}">
                <a16:creationId xmlns:a16="http://schemas.microsoft.com/office/drawing/2014/main" id="{D008CD88-06F0-0E70-FFD2-096D2A6D3068}"/>
              </a:ext>
            </a:extLst>
          </p:cNvPr>
          <p:cNvSpPr txBox="1"/>
          <p:nvPr/>
        </p:nvSpPr>
        <p:spPr>
          <a:xfrm>
            <a:off x="8527305" y="4616809"/>
            <a:ext cx="3423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14. Second </a:t>
            </a:r>
            <a:r>
              <a:rPr lang="it-IT" sz="1400" dirty="0" err="1">
                <a:latin typeface="Georgia" panose="02040502050405020303" pitchFamily="18" charset="0"/>
              </a:rPr>
              <a:t>semester</a:t>
            </a:r>
            <a:r>
              <a:rPr lang="it-IT" sz="1400" dirty="0">
                <a:latin typeface="Georgia" panose="02040502050405020303" pitchFamily="18" charset="0"/>
              </a:rPr>
              <a:t> grade</a:t>
            </a:r>
          </a:p>
        </p:txBody>
      </p:sp>
      <p:pic>
        <p:nvPicPr>
          <p:cNvPr id="150" name="Elemento grafico 149" descr="Fabbrica con riempimento a tinta unita">
            <a:extLst>
              <a:ext uri="{FF2B5EF4-FFF2-40B4-BE49-F238E27FC236}">
                <a16:creationId xmlns:a16="http://schemas.microsoft.com/office/drawing/2014/main" id="{B41ED10F-8D88-0F40-0395-C68CA9D714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65278" y="5727404"/>
            <a:ext cx="467304" cy="46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9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37475</TotalTime>
  <Words>8166</Words>
  <Application>Microsoft Office PowerPoint</Application>
  <PresentationFormat>Widescreen</PresentationFormat>
  <Paragraphs>1494</Paragraphs>
  <Slides>126</Slides>
  <Notes>42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126</vt:i4>
      </vt:variant>
    </vt:vector>
  </HeadingPairs>
  <TitlesOfParts>
    <vt:vector size="132" baseType="lpstr">
      <vt:lpstr>Aptos</vt:lpstr>
      <vt:lpstr>Aptos Display</vt:lpstr>
      <vt:lpstr>Arial</vt:lpstr>
      <vt:lpstr>Georgia</vt:lpstr>
      <vt:lpstr>Superscript</vt:lpstr>
      <vt:lpstr>Office Theme</vt:lpstr>
      <vt:lpstr>AGENDA</vt:lpstr>
      <vt:lpstr>AGENDA</vt:lpstr>
      <vt:lpstr>INTRODUCTION</vt:lpstr>
      <vt:lpstr>INTRODUCTION</vt:lpstr>
      <vt:lpstr>APPLICATION OF M.L. ALGORITHMS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APPLICATION OF M.L. ALGORITHMS</vt:lpstr>
      <vt:lpstr>DASHBOARD</vt:lpstr>
      <vt:lpstr>DASHBOARD</vt:lpstr>
      <vt:lpstr>DASHBOARD</vt:lpstr>
      <vt:lpstr>APPLICATION OF M.L. ALGORITHMS</vt:lpstr>
      <vt:lpstr>Presentazione standard di PowerPoint</vt:lpstr>
      <vt:lpstr>APPLICATION OF M.L. ALGORITHMS</vt:lpstr>
      <vt:lpstr>APPLICATION OF M.L. ALGORITHM,</vt:lpstr>
      <vt:lpstr>APPLICATION OF M.L. ALGORITHMS</vt:lpstr>
      <vt:lpstr>PREDICTION</vt:lpstr>
      <vt:lpstr>PREDICTION</vt:lpstr>
      <vt:lpstr>PREDICTION</vt:lpstr>
      <vt:lpstr>PREDICTION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DATASET AND PREPROCESSING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APPLICATION OF M.L. ALGORITHMS</vt:lpstr>
      <vt:lpstr>CONCLUSION</vt:lpstr>
      <vt:lpstr>Presentazione standard di PowerPoint</vt:lpstr>
      <vt:lpstr>DATASET AND PREPROCESSING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alessandro scarpato</dc:creator>
  <cp:lastModifiedBy>Lorenzo Bonatti</cp:lastModifiedBy>
  <cp:revision>4</cp:revision>
  <dcterms:created xsi:type="dcterms:W3CDTF">2024-12-09T16:11:36Z</dcterms:created>
  <dcterms:modified xsi:type="dcterms:W3CDTF">2025-02-15T12:01:52Z</dcterms:modified>
</cp:coreProperties>
</file>